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76" r:id="rId5"/>
    <p:sldId id="257" r:id="rId6"/>
    <p:sldId id="258" r:id="rId7"/>
    <p:sldId id="279" r:id="rId8"/>
    <p:sldId id="263" r:id="rId9"/>
    <p:sldId id="264" r:id="rId10"/>
    <p:sldId id="265" r:id="rId11"/>
    <p:sldId id="267" r:id="rId12"/>
    <p:sldId id="266" r:id="rId13"/>
    <p:sldId id="272" r:id="rId14"/>
    <p:sldId id="273" r:id="rId15"/>
    <p:sldId id="274" r:id="rId16"/>
    <p:sldId id="275" r:id="rId17"/>
    <p:sldId id="277" r:id="rId18"/>
    <p:sldId id="278" r:id="rId19"/>
  </p:sldIdLst>
  <p:sldSz cx="7559675" cy="10691813"/>
  <p:notesSz cx="11557000" cy="16383000"/>
  <p:defaultTextStyle>
    <a:defPPr>
      <a:defRPr kern="0"/>
    </a:defPPr>
  </p:defaultTextStyle>
  <p:extLst>
    <p:ext uri="{EFAFB233-063F-42B5-8137-9DF3F51BA10A}">
      <p15:sldGuideLst xmlns:p15="http://schemas.microsoft.com/office/powerpoint/2012/main">
        <p15:guide id="1" orient="horz" pos="1880" userDrawn="1">
          <p15:clr>
            <a:srgbClr val="A4A3A4"/>
          </p15:clr>
        </p15:guide>
        <p15:guide id="2" pos="14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6FD6B-DF5A-43FD-1D90-26D24598B34E}" v="6" dt="2025-07-14T06:21:16.04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4703"/>
  </p:normalViewPr>
  <p:slideViewPr>
    <p:cSldViewPr snapToGrid="0">
      <p:cViewPr varScale="1">
        <p:scale>
          <a:sx n="68" d="100"/>
          <a:sy n="68" d="100"/>
        </p:scale>
        <p:origin x="3780" y="66"/>
      </p:cViewPr>
      <p:guideLst>
        <p:guide orient="horz" pos="1880"/>
        <p:guide pos="141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008563" cy="820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546850" y="0"/>
            <a:ext cx="5006975" cy="820738"/>
          </a:xfrm>
          <a:prstGeom prst="rect">
            <a:avLst/>
          </a:prstGeom>
        </p:spPr>
        <p:txBody>
          <a:bodyPr vert="horz" lIns="91440" tIns="45720" rIns="91440" bIns="45720" rtlCol="0"/>
          <a:lstStyle>
            <a:lvl1pPr algn="r">
              <a:defRPr sz="1200"/>
            </a:lvl1pPr>
          </a:lstStyle>
          <a:p>
            <a:fld id="{84DE1DDD-5AC4-C246-A6B4-0BE241E66C4E}" type="datetimeFigureOut">
              <a:rPr lang="en-US" smtClean="0"/>
              <a:t>8/26/2025</a:t>
            </a:fld>
            <a:endParaRPr lang="en-US"/>
          </a:p>
        </p:txBody>
      </p:sp>
      <p:sp>
        <p:nvSpPr>
          <p:cNvPr id="4" name="Slide Image Placeholder 3"/>
          <p:cNvSpPr>
            <a:spLocks noGrp="1" noRot="1" noChangeAspect="1"/>
          </p:cNvSpPr>
          <p:nvPr>
            <p:ph type="sldImg" idx="2"/>
          </p:nvPr>
        </p:nvSpPr>
        <p:spPr>
          <a:xfrm>
            <a:off x="3824288" y="2047875"/>
            <a:ext cx="3908425" cy="55292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155700" y="7885113"/>
            <a:ext cx="9245600" cy="645001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5562263"/>
            <a:ext cx="5008563" cy="820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546850" y="15562263"/>
            <a:ext cx="5006975" cy="820737"/>
          </a:xfrm>
          <a:prstGeom prst="rect">
            <a:avLst/>
          </a:prstGeom>
        </p:spPr>
        <p:txBody>
          <a:bodyPr vert="horz" lIns="91440" tIns="45720" rIns="91440" bIns="45720" rtlCol="0" anchor="b"/>
          <a:lstStyle>
            <a:lvl1pPr algn="r">
              <a:defRPr sz="1200"/>
            </a:lvl1pPr>
          </a:lstStyle>
          <a:p>
            <a:fld id="{83CCDE6C-BEE0-404A-944D-68D30FAC40A7}" type="slidenum">
              <a:rPr lang="en-US" smtClean="0"/>
              <a:t>‹#›</a:t>
            </a:fld>
            <a:endParaRPr lang="en-US"/>
          </a:p>
        </p:txBody>
      </p:sp>
    </p:spTree>
    <p:extLst>
      <p:ext uri="{BB962C8B-B14F-4D97-AF65-F5344CB8AC3E}">
        <p14:creationId xmlns:p14="http://schemas.microsoft.com/office/powerpoint/2010/main" val="312445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CCDE6C-BEE0-404A-944D-68D30FAC40A7}" type="slidenum">
              <a:rPr lang="en-US" smtClean="0"/>
              <a:t>9</a:t>
            </a:fld>
            <a:endParaRPr lang="en-US"/>
          </a:p>
        </p:txBody>
      </p:sp>
    </p:spTree>
    <p:extLst>
      <p:ext uri="{BB962C8B-B14F-4D97-AF65-F5344CB8AC3E}">
        <p14:creationId xmlns:p14="http://schemas.microsoft.com/office/powerpoint/2010/main" val="3978684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CCDE6C-BEE0-404A-944D-68D30FAC40A7}" type="slidenum">
              <a:rPr lang="en-US" smtClean="0"/>
              <a:t>14</a:t>
            </a:fld>
            <a:endParaRPr lang="en-US"/>
          </a:p>
        </p:txBody>
      </p:sp>
    </p:spTree>
    <p:extLst>
      <p:ext uri="{BB962C8B-B14F-4D97-AF65-F5344CB8AC3E}">
        <p14:creationId xmlns:p14="http://schemas.microsoft.com/office/powerpoint/2010/main" val="960181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6976" y="3314464"/>
            <a:ext cx="6425724" cy="607539"/>
          </a:xfrm>
          <a:prstGeom prst="rect">
            <a:avLst/>
          </a:prstGeom>
        </p:spPr>
        <p:txBody>
          <a:bodyPr wrap="square" lIns="0" tIns="0" rIns="0" bIns="0">
            <a:spAutoFit/>
          </a:bodyPr>
          <a:lstStyle>
            <a:lvl1pPr>
              <a:defRPr sz="3948" b="1"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133952" y="5987417"/>
            <a:ext cx="5291773"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p:txBody>
          <a:bodyPr lIns="0" tIns="0" rIns="0" bIns="0"/>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079052" y="8949383"/>
            <a:ext cx="1985453" cy="607539"/>
          </a:xfrm>
        </p:spPr>
        <p:txBody>
          <a:bodyPr lIns="0" tIns="0" rIns="0" bIns="0"/>
          <a:lstStyle>
            <a:lvl1pPr>
              <a:defRPr sz="3948" b="1"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p:txBody>
          <a:bodyPr lIns="0" tIns="0" rIns="0" bIns="0"/>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79052" y="8949383"/>
            <a:ext cx="1985453" cy="607539"/>
          </a:xfrm>
        </p:spPr>
        <p:txBody>
          <a:bodyPr lIns="0" tIns="0" rIns="0" bIns="0"/>
          <a:lstStyle>
            <a:lvl1pPr>
              <a:defRPr sz="3948" b="1" i="0">
                <a:solidFill>
                  <a:schemeClr val="bg1"/>
                </a:solidFill>
                <a:latin typeface="Trebuchet MS"/>
                <a:cs typeface="Trebuchet MS"/>
              </a:defRPr>
            </a:lvl1pPr>
          </a:lstStyle>
          <a:p>
            <a:endParaRPr/>
          </a:p>
        </p:txBody>
      </p:sp>
      <p:sp>
        <p:nvSpPr>
          <p:cNvPr id="3" name="Holder 3"/>
          <p:cNvSpPr>
            <a:spLocks noGrp="1"/>
          </p:cNvSpPr>
          <p:nvPr>
            <p:ph sz="half" idx="2"/>
          </p:nvPr>
        </p:nvSpPr>
        <p:spPr>
          <a:xfrm>
            <a:off x="377985" y="2459119"/>
            <a:ext cx="328845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3234" y="2459119"/>
            <a:ext cx="3288459"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7" name="Holder 7"/>
          <p:cNvSpPr>
            <a:spLocks noGrp="1"/>
          </p:cNvSpPr>
          <p:nvPr>
            <p:ph type="sldNum" sz="quarter" idx="7"/>
          </p:nvPr>
        </p:nvSpPr>
        <p:spPr/>
        <p:txBody>
          <a:bodyPr lIns="0" tIns="0" rIns="0" bIns="0"/>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0"/>
            <a:ext cx="7559675" cy="8751122"/>
          </a:xfrm>
          <a:prstGeom prst="rect">
            <a:avLst/>
          </a:prstGeom>
        </p:spPr>
      </p:pic>
      <p:sp>
        <p:nvSpPr>
          <p:cNvPr id="17" name="bg object 17"/>
          <p:cNvSpPr/>
          <p:nvPr/>
        </p:nvSpPr>
        <p:spPr>
          <a:xfrm>
            <a:off x="1" y="8026286"/>
            <a:ext cx="7559675" cy="2665908"/>
          </a:xfrm>
          <a:custGeom>
            <a:avLst/>
            <a:gdLst/>
            <a:ahLst/>
            <a:cxnLst/>
            <a:rect l="l" t="t" r="r" b="b"/>
            <a:pathLst>
              <a:path w="11557000" h="4084955">
                <a:moveTo>
                  <a:pt x="11557000" y="0"/>
                </a:moveTo>
                <a:lnTo>
                  <a:pt x="0" y="0"/>
                </a:lnTo>
                <a:lnTo>
                  <a:pt x="0" y="4084370"/>
                </a:lnTo>
                <a:lnTo>
                  <a:pt x="11557000" y="4084370"/>
                </a:lnTo>
                <a:lnTo>
                  <a:pt x="11557000" y="0"/>
                </a:lnTo>
                <a:close/>
              </a:path>
            </a:pathLst>
          </a:custGeom>
          <a:solidFill>
            <a:srgbClr val="FF0000"/>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1583440" y="3928054"/>
            <a:ext cx="4392121" cy="1541610"/>
          </a:xfrm>
          <a:prstGeom prst="rect">
            <a:avLst/>
          </a:prstGeom>
        </p:spPr>
      </p:pic>
      <p:sp>
        <p:nvSpPr>
          <p:cNvPr id="2" name="Holder 2"/>
          <p:cNvSpPr>
            <a:spLocks noGrp="1"/>
          </p:cNvSpPr>
          <p:nvPr>
            <p:ph type="title"/>
          </p:nvPr>
        </p:nvSpPr>
        <p:spPr>
          <a:xfrm>
            <a:off x="3079052" y="8949383"/>
            <a:ext cx="1985453" cy="607539"/>
          </a:xfrm>
        </p:spPr>
        <p:txBody>
          <a:bodyPr lIns="0" tIns="0" rIns="0" bIns="0"/>
          <a:lstStyle>
            <a:lvl1pPr>
              <a:defRPr sz="3948" b="1"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5" name="Holder 5"/>
          <p:cNvSpPr>
            <a:spLocks noGrp="1"/>
          </p:cNvSpPr>
          <p:nvPr>
            <p:ph type="sldNum" sz="quarter" idx="7"/>
          </p:nvPr>
        </p:nvSpPr>
        <p:spPr/>
        <p:txBody>
          <a:bodyPr lIns="0" tIns="0" rIns="0" bIns="0"/>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4" name="Holder 4"/>
          <p:cNvSpPr>
            <a:spLocks noGrp="1"/>
          </p:cNvSpPr>
          <p:nvPr>
            <p:ph type="sldNum" sz="quarter" idx="7"/>
          </p:nvPr>
        </p:nvSpPr>
        <p:spPr/>
        <p:txBody>
          <a:bodyPr lIns="0" tIns="0" rIns="0" bIns="0"/>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79052" y="8949381"/>
            <a:ext cx="1985453" cy="931024"/>
          </a:xfrm>
          <a:prstGeom prst="rect">
            <a:avLst/>
          </a:prstGeom>
        </p:spPr>
        <p:txBody>
          <a:bodyPr wrap="square" lIns="0" tIns="0" rIns="0" bIns="0">
            <a:spAutoFit/>
          </a:bodyPr>
          <a:lstStyle>
            <a:lvl1pPr>
              <a:defRPr sz="6050" b="1"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377984" y="2459119"/>
            <a:ext cx="6803708"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62651" y="10244454"/>
            <a:ext cx="703770" cy="100477"/>
          </a:xfrm>
          <a:prstGeom prst="rect">
            <a:avLst/>
          </a:prstGeom>
        </p:spPr>
        <p:txBody>
          <a:bodyPr wrap="square" lIns="0" tIns="0" rIns="0" bIns="0">
            <a:spAutoFit/>
          </a:bodyPr>
          <a:lstStyle>
            <a:lvl1pPr>
              <a:defRPr sz="653" b="0" i="0">
                <a:solidFill>
                  <a:srgbClr val="FF0000"/>
                </a:solidFill>
                <a:latin typeface="Trebuchet MS"/>
                <a:cs typeface="Trebuchet MS"/>
              </a:defRPr>
            </a:lvl1pPr>
          </a:lstStyle>
          <a:p>
            <a:pPr marL="8288">
              <a:spcBef>
                <a:spcPts val="23"/>
              </a:spcBef>
            </a:pPr>
            <a:r>
              <a:rPr lang="en-AU" spc="-7"/>
              <a:t>13KUGA.COM.AU</a:t>
            </a:r>
          </a:p>
        </p:txBody>
      </p:sp>
      <p:sp>
        <p:nvSpPr>
          <p:cNvPr id="5" name="Holder 5"/>
          <p:cNvSpPr>
            <a:spLocks noGrp="1"/>
          </p:cNvSpPr>
          <p:nvPr>
            <p:ph type="dt" sz="half" idx="6"/>
          </p:nvPr>
        </p:nvSpPr>
        <p:spPr>
          <a:xfrm>
            <a:off x="377985" y="9943388"/>
            <a:ext cx="173872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a:xfrm>
            <a:off x="3714396" y="10261423"/>
            <a:ext cx="139148" cy="100477"/>
          </a:xfrm>
          <a:prstGeom prst="rect">
            <a:avLst/>
          </a:prstGeom>
        </p:spPr>
        <p:txBody>
          <a:bodyPr wrap="square" lIns="0" tIns="0" rIns="0" bIns="0">
            <a:spAutoFit/>
          </a:bodyPr>
          <a:lstStyle>
            <a:lvl1pPr>
              <a:defRPr sz="653" b="0" i="0">
                <a:solidFill>
                  <a:srgbClr val="FF0000"/>
                </a:solidFill>
                <a:latin typeface="Trebuchet MS"/>
                <a:cs typeface="Trebuchet MS"/>
              </a:defRPr>
            </a:lvl1pPr>
          </a:lstStyle>
          <a:p>
            <a:pPr marL="25278">
              <a:spcBef>
                <a:spcPts val="23"/>
              </a:spcBef>
            </a:pPr>
            <a:fld id="{81D60167-4931-47E6-BA6A-407CBD079E47}" type="slidenum">
              <a:rPr lang="en-AU" spc="-16" smtClean="0"/>
              <a:pPr marL="25278">
                <a:spcBef>
                  <a:spcPts val="23"/>
                </a:spcBef>
              </a:pPr>
              <a:t>‹#›</a:t>
            </a:fld>
            <a:endParaRPr lang="en-AU" spc="-16"/>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98369">
        <a:defRPr>
          <a:latin typeface="+mn-lt"/>
          <a:ea typeface="+mn-ea"/>
          <a:cs typeface="+mn-cs"/>
        </a:defRPr>
      </a:lvl2pPr>
      <a:lvl3pPr marL="596737">
        <a:defRPr>
          <a:latin typeface="+mn-lt"/>
          <a:ea typeface="+mn-ea"/>
          <a:cs typeface="+mn-cs"/>
        </a:defRPr>
      </a:lvl3pPr>
      <a:lvl4pPr marL="895106">
        <a:defRPr>
          <a:latin typeface="+mn-lt"/>
          <a:ea typeface="+mn-ea"/>
          <a:cs typeface="+mn-cs"/>
        </a:defRPr>
      </a:lvl4pPr>
      <a:lvl5pPr marL="1193475">
        <a:defRPr>
          <a:latin typeface="+mn-lt"/>
          <a:ea typeface="+mn-ea"/>
          <a:cs typeface="+mn-cs"/>
        </a:defRPr>
      </a:lvl5pPr>
      <a:lvl6pPr marL="1491844">
        <a:defRPr>
          <a:latin typeface="+mn-lt"/>
          <a:ea typeface="+mn-ea"/>
          <a:cs typeface="+mn-cs"/>
        </a:defRPr>
      </a:lvl6pPr>
      <a:lvl7pPr marL="1790212">
        <a:defRPr>
          <a:latin typeface="+mn-lt"/>
          <a:ea typeface="+mn-ea"/>
          <a:cs typeface="+mn-cs"/>
        </a:defRPr>
      </a:lvl7pPr>
      <a:lvl8pPr marL="2088581">
        <a:defRPr>
          <a:latin typeface="+mn-lt"/>
          <a:ea typeface="+mn-ea"/>
          <a:cs typeface="+mn-cs"/>
        </a:defRPr>
      </a:lvl8pPr>
      <a:lvl9pPr marL="2386950">
        <a:defRPr>
          <a:latin typeface="+mn-lt"/>
          <a:ea typeface="+mn-ea"/>
          <a:cs typeface="+mn-cs"/>
        </a:defRPr>
      </a:lvl9pPr>
    </p:bodyStyle>
    <p:otherStyle>
      <a:lvl1pPr marL="0">
        <a:defRPr>
          <a:latin typeface="+mn-lt"/>
          <a:ea typeface="+mn-ea"/>
          <a:cs typeface="+mn-cs"/>
        </a:defRPr>
      </a:lvl1pPr>
      <a:lvl2pPr marL="298369">
        <a:defRPr>
          <a:latin typeface="+mn-lt"/>
          <a:ea typeface="+mn-ea"/>
          <a:cs typeface="+mn-cs"/>
        </a:defRPr>
      </a:lvl2pPr>
      <a:lvl3pPr marL="596737">
        <a:defRPr>
          <a:latin typeface="+mn-lt"/>
          <a:ea typeface="+mn-ea"/>
          <a:cs typeface="+mn-cs"/>
        </a:defRPr>
      </a:lvl3pPr>
      <a:lvl4pPr marL="895106">
        <a:defRPr>
          <a:latin typeface="+mn-lt"/>
          <a:ea typeface="+mn-ea"/>
          <a:cs typeface="+mn-cs"/>
        </a:defRPr>
      </a:lvl4pPr>
      <a:lvl5pPr marL="1193475">
        <a:defRPr>
          <a:latin typeface="+mn-lt"/>
          <a:ea typeface="+mn-ea"/>
          <a:cs typeface="+mn-cs"/>
        </a:defRPr>
      </a:lvl5pPr>
      <a:lvl6pPr marL="1491844">
        <a:defRPr>
          <a:latin typeface="+mn-lt"/>
          <a:ea typeface="+mn-ea"/>
          <a:cs typeface="+mn-cs"/>
        </a:defRPr>
      </a:lvl6pPr>
      <a:lvl7pPr marL="1790212">
        <a:defRPr>
          <a:latin typeface="+mn-lt"/>
          <a:ea typeface="+mn-ea"/>
          <a:cs typeface="+mn-cs"/>
        </a:defRPr>
      </a:lvl7pPr>
      <a:lvl8pPr marL="2088581">
        <a:defRPr>
          <a:latin typeface="+mn-lt"/>
          <a:ea typeface="+mn-ea"/>
          <a:cs typeface="+mn-cs"/>
        </a:defRPr>
      </a:lvl8pPr>
      <a:lvl9pPr marL="238695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jp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6.jp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6.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94" y="-1"/>
            <a:ext cx="7542286" cy="10691813"/>
            <a:chOff x="0" y="0"/>
            <a:chExt cx="11557000" cy="16383000"/>
          </a:xfrm>
        </p:grpSpPr>
        <p:pic>
          <p:nvPicPr>
            <p:cNvPr id="3" name="object 3"/>
            <p:cNvPicPr/>
            <p:nvPr/>
          </p:nvPicPr>
          <p:blipFill>
            <a:blip r:embed="rId2" cstate="print"/>
            <a:stretch>
              <a:fillRect/>
            </a:stretch>
          </p:blipFill>
          <p:spPr>
            <a:xfrm>
              <a:off x="0" y="0"/>
              <a:ext cx="11557000" cy="9607816"/>
            </a:xfrm>
            <a:prstGeom prst="rect">
              <a:avLst/>
            </a:prstGeom>
          </p:spPr>
        </p:pic>
        <p:sp>
          <p:nvSpPr>
            <p:cNvPr id="4" name="object 4"/>
            <p:cNvSpPr/>
            <p:nvPr/>
          </p:nvSpPr>
          <p:spPr>
            <a:xfrm>
              <a:off x="0" y="6523367"/>
              <a:ext cx="11557000" cy="9859645"/>
            </a:xfrm>
            <a:custGeom>
              <a:avLst/>
              <a:gdLst/>
              <a:ahLst/>
              <a:cxnLst/>
              <a:rect l="l" t="t" r="r" b="b"/>
              <a:pathLst>
                <a:path w="11557000" h="9859644">
                  <a:moveTo>
                    <a:pt x="0" y="0"/>
                  </a:moveTo>
                  <a:lnTo>
                    <a:pt x="0" y="9859632"/>
                  </a:lnTo>
                  <a:lnTo>
                    <a:pt x="11557000" y="9859632"/>
                  </a:lnTo>
                  <a:lnTo>
                    <a:pt x="11557000" y="3989895"/>
                  </a:lnTo>
                  <a:lnTo>
                    <a:pt x="0" y="0"/>
                  </a:lnTo>
                  <a:close/>
                </a:path>
              </a:pathLst>
            </a:custGeom>
            <a:solidFill>
              <a:srgbClr val="FF0000"/>
            </a:solidFill>
          </p:spPr>
          <p:txBody>
            <a:bodyPr wrap="square" lIns="0" tIns="0" rIns="0" bIns="0" rtlCol="0"/>
            <a:lstStyle/>
            <a:p>
              <a:endParaRPr/>
            </a:p>
          </p:txBody>
        </p:sp>
        <p:sp>
          <p:nvSpPr>
            <p:cNvPr id="5" name="object 5"/>
            <p:cNvSpPr/>
            <p:nvPr/>
          </p:nvSpPr>
          <p:spPr>
            <a:xfrm>
              <a:off x="9026" y="6522987"/>
              <a:ext cx="11548110" cy="3987165"/>
            </a:xfrm>
            <a:custGeom>
              <a:avLst/>
              <a:gdLst/>
              <a:ahLst/>
              <a:cxnLst/>
              <a:rect l="l" t="t" r="r" b="b"/>
              <a:pathLst>
                <a:path w="11548110" h="3987165">
                  <a:moveTo>
                    <a:pt x="0" y="0"/>
                  </a:moveTo>
                  <a:lnTo>
                    <a:pt x="11547974" y="3986779"/>
                  </a:lnTo>
                  <a:lnTo>
                    <a:pt x="11547974" y="2864356"/>
                  </a:lnTo>
                  <a:lnTo>
                    <a:pt x="9734679" y="2417509"/>
                  </a:lnTo>
                  <a:lnTo>
                    <a:pt x="5755346" y="1430169"/>
                  </a:lnTo>
                  <a:lnTo>
                    <a:pt x="1796042" y="446472"/>
                  </a:lnTo>
                  <a:lnTo>
                    <a:pt x="0" y="0"/>
                  </a:lnTo>
                  <a:close/>
                </a:path>
              </a:pathLst>
            </a:custGeom>
            <a:solidFill>
              <a:srgbClr val="505050"/>
            </a:solidFill>
          </p:spPr>
          <p:txBody>
            <a:bodyPr wrap="square" lIns="0" tIns="0" rIns="0" bIns="0" rtlCol="0"/>
            <a:lstStyle/>
            <a:p>
              <a:endParaRPr/>
            </a:p>
          </p:txBody>
        </p:sp>
      </p:grpSp>
      <p:sp>
        <p:nvSpPr>
          <p:cNvPr id="6" name="object 6"/>
          <p:cNvSpPr txBox="1"/>
          <p:nvPr/>
        </p:nvSpPr>
        <p:spPr>
          <a:xfrm>
            <a:off x="471162" y="5581380"/>
            <a:ext cx="5279398" cy="1419012"/>
          </a:xfrm>
          <a:prstGeom prst="rect">
            <a:avLst/>
          </a:prstGeom>
        </p:spPr>
        <p:txBody>
          <a:bodyPr vert="horz" wrap="square" lIns="0" tIns="8288" rIns="0" bIns="0" rtlCol="0">
            <a:spAutoFit/>
          </a:bodyPr>
          <a:lstStyle/>
          <a:p>
            <a:pPr marL="8288" marR="3315">
              <a:spcBef>
                <a:spcPts val="65"/>
              </a:spcBef>
            </a:pPr>
            <a:endParaRPr lang="en-AU" sz="3000" b="1" dirty="0">
              <a:solidFill>
                <a:schemeClr val="bg1"/>
              </a:solidFill>
              <a:latin typeface="Suisse Intl" panose="020B0504000000000000" pitchFamily="34" charset="-78"/>
              <a:cs typeface="Suisse Intl" panose="020B0504000000000000" pitchFamily="34" charset="-78"/>
            </a:endParaRPr>
          </a:p>
          <a:p>
            <a:pPr marL="8288" marR="3315">
              <a:spcBef>
                <a:spcPts val="65"/>
              </a:spcBef>
            </a:pPr>
            <a:r>
              <a:rPr lang="en-AU" sz="3000" b="1" dirty="0">
                <a:solidFill>
                  <a:schemeClr val="bg1"/>
                </a:solidFill>
                <a:latin typeface="Suisse Intl" panose="020B0504000000000000" pitchFamily="34" charset="-78"/>
                <a:cs typeface="Suisse Intl" panose="020B0504000000000000" pitchFamily="34" charset="-78"/>
              </a:rPr>
              <a:t>2,000.0 kWp </a:t>
            </a:r>
            <a:r>
              <a:rPr sz="3000" b="1" dirty="0">
                <a:solidFill>
                  <a:schemeClr val="bg1"/>
                </a:solidFill>
                <a:latin typeface="Suisse Intl" panose="020B0504000000000000" pitchFamily="34" charset="-78"/>
                <a:cs typeface="Suisse Intl" panose="020B0504000000000000" pitchFamily="34" charset="-78"/>
              </a:rPr>
              <a:t>SOLA</a:t>
            </a:r>
            <a:r>
              <a:rPr lang="en-AU" sz="3000" b="1" dirty="0">
                <a:solidFill>
                  <a:schemeClr val="bg1"/>
                </a:solidFill>
                <a:latin typeface="Suisse Intl" panose="020B0504000000000000" pitchFamily="34" charset="-78"/>
                <a:cs typeface="Suisse Intl" panose="020B0504000000000000" pitchFamily="34" charset="-78"/>
              </a:rPr>
              <a:t>R</a:t>
            </a:r>
          </a:p>
          <a:p>
            <a:pPr marL="8288" marR="3315">
              <a:spcBef>
                <a:spcPts val="65"/>
              </a:spcBef>
            </a:pPr>
            <a:r>
              <a:rPr sz="3000" b="1" dirty="0">
                <a:solidFill>
                  <a:srgbClr val="FFFFFF"/>
                </a:solidFill>
                <a:latin typeface="Suisse Intl" panose="020B0504000000000000" pitchFamily="34" charset="-78"/>
                <a:cs typeface="Suisse Intl" panose="020B0504000000000000" pitchFamily="34" charset="-78"/>
              </a:rPr>
              <a:t>PROPOSAL</a:t>
            </a:r>
            <a:endParaRPr sz="3000" dirty="0">
              <a:latin typeface="Suisse Intl" panose="020B0504000000000000" pitchFamily="34" charset="-78"/>
              <a:cs typeface="Suisse Intl" panose="020B0504000000000000" pitchFamily="34" charset="-78"/>
            </a:endParaRPr>
          </a:p>
        </p:txBody>
      </p:sp>
      <p:sp>
        <p:nvSpPr>
          <p:cNvPr id="8" name="object 8"/>
          <p:cNvSpPr/>
          <p:nvPr/>
        </p:nvSpPr>
        <p:spPr>
          <a:xfrm>
            <a:off x="505258" y="7124769"/>
            <a:ext cx="6818310" cy="3242769"/>
          </a:xfrm>
          <a:custGeom>
            <a:avLst/>
            <a:gdLst/>
            <a:ahLst/>
            <a:cxnLst/>
            <a:rect l="l" t="t" r="r" b="b"/>
            <a:pathLst>
              <a:path w="10447655" h="4968875">
                <a:moveTo>
                  <a:pt x="2438412" y="0"/>
                </a:moveTo>
                <a:lnTo>
                  <a:pt x="0" y="0"/>
                </a:lnTo>
                <a:lnTo>
                  <a:pt x="0" y="107772"/>
                </a:lnTo>
                <a:lnTo>
                  <a:pt x="2438412" y="107772"/>
                </a:lnTo>
                <a:lnTo>
                  <a:pt x="2438412" y="0"/>
                </a:lnTo>
                <a:close/>
              </a:path>
              <a:path w="10447655" h="4968875">
                <a:moveTo>
                  <a:pt x="10447426" y="3296386"/>
                </a:moveTo>
                <a:lnTo>
                  <a:pt x="6691223" y="3296386"/>
                </a:lnTo>
                <a:lnTo>
                  <a:pt x="6082538" y="4968760"/>
                </a:lnTo>
                <a:lnTo>
                  <a:pt x="9838728" y="4968760"/>
                </a:lnTo>
                <a:lnTo>
                  <a:pt x="10447426" y="3296386"/>
                </a:lnTo>
                <a:close/>
              </a:path>
            </a:pathLst>
          </a:custGeom>
          <a:solidFill>
            <a:srgbClr val="FFFFFF"/>
          </a:solidFill>
        </p:spPr>
        <p:txBody>
          <a:bodyPr wrap="square" lIns="0" tIns="0" rIns="0" bIns="0" rtlCol="0"/>
          <a:lstStyle/>
          <a:p>
            <a:endParaRPr/>
          </a:p>
        </p:txBody>
      </p:sp>
      <p:pic>
        <p:nvPicPr>
          <p:cNvPr id="9" name="object 9"/>
          <p:cNvPicPr/>
          <p:nvPr/>
        </p:nvPicPr>
        <p:blipFill>
          <a:blip r:embed="rId3" cstate="print"/>
          <a:stretch>
            <a:fillRect/>
          </a:stretch>
        </p:blipFill>
        <p:spPr>
          <a:xfrm>
            <a:off x="4951934" y="9520150"/>
            <a:ext cx="1872584" cy="643995"/>
          </a:xfrm>
          <a:prstGeom prst="rect">
            <a:avLst/>
          </a:prstGeom>
        </p:spPr>
      </p:pic>
      <p:sp>
        <p:nvSpPr>
          <p:cNvPr id="10" name="object 10"/>
          <p:cNvSpPr txBox="1"/>
          <p:nvPr/>
        </p:nvSpPr>
        <p:spPr>
          <a:xfrm>
            <a:off x="496959" y="7491717"/>
            <a:ext cx="1758879" cy="193035"/>
          </a:xfrm>
          <a:prstGeom prst="rect">
            <a:avLst/>
          </a:prstGeom>
        </p:spPr>
        <p:txBody>
          <a:bodyPr vert="horz" wrap="square" lIns="0" tIns="8288" rIns="0" bIns="0" rtlCol="0">
            <a:spAutoFit/>
          </a:bodyPr>
          <a:lstStyle/>
          <a:p>
            <a:pPr marL="8288">
              <a:spcBef>
                <a:spcPts val="65"/>
              </a:spcBef>
            </a:pPr>
            <a:r>
              <a:rPr sz="1200" b="1">
                <a:solidFill>
                  <a:srgbClr val="FFFFFF"/>
                </a:solidFill>
                <a:latin typeface="Suisse Intl" panose="020B0504000000000000" pitchFamily="34" charset="-78"/>
                <a:cs typeface="Suisse Intl" panose="020B0504000000000000" pitchFamily="34" charset="-78"/>
              </a:rPr>
              <a:t>CUSTOMISED FOR</a:t>
            </a:r>
            <a:endParaRPr sz="1200">
              <a:latin typeface="Suisse Intl" panose="020B0504000000000000" pitchFamily="34" charset="-78"/>
              <a:cs typeface="Suisse Intl" panose="020B0504000000000000" pitchFamily="34" charset="-78"/>
            </a:endParaRPr>
          </a:p>
        </p:txBody>
      </p:sp>
      <p:sp>
        <p:nvSpPr>
          <p:cNvPr id="11" name="object 11"/>
          <p:cNvSpPr txBox="1"/>
          <p:nvPr/>
        </p:nvSpPr>
        <p:spPr>
          <a:xfrm>
            <a:off x="496960" y="7795016"/>
            <a:ext cx="4121079" cy="415147"/>
          </a:xfrm>
          <a:prstGeom prst="rect">
            <a:avLst/>
          </a:prstGeom>
        </p:spPr>
        <p:txBody>
          <a:bodyPr vert="horz" wrap="square" lIns="0" tIns="8288" rIns="0" bIns="0" rtlCol="0">
            <a:spAutoFit/>
          </a:bodyPr>
          <a:lstStyle/>
          <a:p>
            <a:pPr marL="8288" marR="1097748">
              <a:lnSpc>
                <a:spcPct val="115700"/>
              </a:lnSpc>
              <a:spcBef>
                <a:spcPts val="65"/>
              </a:spcBef>
            </a:pPr>
            <a:r>
              <a:rPr lang="en-AU" sz="1200" dirty="0">
                <a:solidFill>
                  <a:schemeClr val="bg1"/>
                </a:solidFill>
                <a:latin typeface="Suisse Intl" panose="020B0504000000000000" pitchFamily="34" charset="-78"/>
                <a:cs typeface="Suisse Intl" panose="020B0504000000000000" pitchFamily="34" charset="-78"/>
              </a:rPr>
              <a:t>Etex Australia Pty Ltd</a:t>
            </a:r>
            <a:endParaRPr sz="1200" dirty="0">
              <a:solidFill>
                <a:schemeClr val="bg1"/>
              </a:solidFill>
              <a:latin typeface="Suisse Intl" panose="020B0504000000000000" pitchFamily="34" charset="-78"/>
              <a:cs typeface="Suisse Intl" panose="020B0504000000000000" pitchFamily="34" charset="-78"/>
            </a:endParaRPr>
          </a:p>
          <a:p>
            <a:pPr marL="8288" marR="63818">
              <a:lnSpc>
                <a:spcPct val="115700"/>
              </a:lnSpc>
            </a:pPr>
            <a:r>
              <a:rPr lang="en-AU" sz="1200" dirty="0">
                <a:solidFill>
                  <a:schemeClr val="bg1"/>
                </a:solidFill>
                <a:latin typeface="Suisse Intl" panose="020B0504000000000000" pitchFamily="34" charset="-78"/>
                <a:cs typeface="Suisse Intl" panose="020B0504000000000000" pitchFamily="34" charset="-78"/>
              </a:rPr>
              <a:t>290 Bushmead Road, HAZELMERE, WA 6055, Australia</a:t>
            </a:r>
            <a:endParaRPr sz="1200" dirty="0">
              <a:solidFill>
                <a:schemeClr val="bg1"/>
              </a:solidFill>
              <a:latin typeface="Suisse Intl" panose="020B0504000000000000" pitchFamily="34" charset="-78"/>
              <a:cs typeface="Suisse Intl" panose="020B0504000000000000" pitchFamily="34" charset="-78"/>
            </a:endParaRPr>
          </a:p>
        </p:txBody>
      </p:sp>
      <p:sp>
        <p:nvSpPr>
          <p:cNvPr id="13" name="object 13"/>
          <p:cNvSpPr txBox="1"/>
          <p:nvPr/>
        </p:nvSpPr>
        <p:spPr>
          <a:xfrm>
            <a:off x="4544147" y="7493651"/>
            <a:ext cx="1521690" cy="193035"/>
          </a:xfrm>
          <a:prstGeom prst="rect">
            <a:avLst/>
          </a:prstGeom>
        </p:spPr>
        <p:txBody>
          <a:bodyPr vert="horz" wrap="square" lIns="0" tIns="8288" rIns="0" bIns="0" rtlCol="0">
            <a:spAutoFit/>
          </a:bodyPr>
          <a:lstStyle/>
          <a:p>
            <a:pPr marL="8288">
              <a:spcBef>
                <a:spcPts val="65"/>
              </a:spcBef>
            </a:pPr>
            <a:r>
              <a:rPr sz="1200" b="1">
                <a:solidFill>
                  <a:srgbClr val="FFFFFF"/>
                </a:solidFill>
                <a:latin typeface="Suisse Intl" panose="020B0504000000000000" pitchFamily="34" charset="-78"/>
                <a:cs typeface="Suisse Intl" panose="020B0504000000000000" pitchFamily="34" charset="-78"/>
              </a:rPr>
              <a:t>PREPARED BY</a:t>
            </a:r>
            <a:endParaRPr sz="1200">
              <a:latin typeface="Suisse Intl" panose="020B0504000000000000" pitchFamily="34" charset="-78"/>
              <a:cs typeface="Suisse Intl" panose="020B0504000000000000" pitchFamily="34" charset="-78"/>
            </a:endParaRPr>
          </a:p>
        </p:txBody>
      </p:sp>
      <p:sp>
        <p:nvSpPr>
          <p:cNvPr id="14" name="object 14"/>
          <p:cNvSpPr txBox="1"/>
          <p:nvPr/>
        </p:nvSpPr>
        <p:spPr>
          <a:xfrm>
            <a:off x="4544148" y="7825147"/>
            <a:ext cx="1958252" cy="390525"/>
          </a:xfrm>
          <a:prstGeom prst="rect">
            <a:avLst/>
          </a:prstGeom>
        </p:spPr>
        <p:txBody>
          <a:bodyPr vert="horz" wrap="square" lIns="0" tIns="8288" rIns="0" bIns="0" rtlCol="0">
            <a:spAutoFit/>
          </a:bodyPr>
          <a:lstStyle/>
          <a:p>
            <a:pPr marL="8288" marR="3315">
              <a:spcBef>
                <a:spcPts val="65"/>
              </a:spcBef>
            </a:pPr>
            <a:r>
              <a:rPr lang="en-AU" sz="1200" dirty="0">
                <a:solidFill>
                  <a:schemeClr val="bg1"/>
                </a:solidFill>
                <a:latin typeface="Suisse Intl" panose="020B0504000000000000" pitchFamily="34" charset="-78"/>
                <a:cs typeface="Suisse Intl" panose="020B0504000000000000" pitchFamily="34" charset="-78"/>
              </a:rPr>
              <a:t>Clement Doudet</a:t>
            </a:r>
          </a:p>
          <a:p>
            <a:pPr marL="8288" marR="3315">
              <a:spcBef>
                <a:spcPts val="65"/>
              </a:spcBef>
            </a:pPr>
            <a:r>
              <a:rPr lang="en-AU" sz="1200" dirty="0">
                <a:solidFill>
                  <a:schemeClr val="bg1"/>
                </a:solidFill>
                <a:latin typeface="Suisse Intl" panose="020B0504000000000000" pitchFamily="34" charset="-78"/>
                <a:cs typeface="Suisse Intl" panose="020B0504000000000000" pitchFamily="34" charset="-78"/>
              </a:rPr>
              <a:t>+61410569860</a:t>
            </a:r>
          </a:p>
        </p:txBody>
      </p:sp>
      <p:sp>
        <p:nvSpPr>
          <p:cNvPr id="7" name="object 12">
            <a:extLst>
              <a:ext uri="{FF2B5EF4-FFF2-40B4-BE49-F238E27FC236}">
                <a16:creationId xmlns:a16="http://schemas.microsoft.com/office/drawing/2014/main" id="{075D6315-6463-DE4F-6E95-A248BD013E4D}"/>
              </a:ext>
            </a:extLst>
          </p:cNvPr>
          <p:cNvSpPr txBox="1"/>
          <p:nvPr/>
        </p:nvSpPr>
        <p:spPr>
          <a:xfrm>
            <a:off x="496964" y="8835744"/>
            <a:ext cx="2063675" cy="544413"/>
          </a:xfrm>
          <a:prstGeom prst="rect">
            <a:avLst/>
          </a:prstGeom>
        </p:spPr>
        <p:txBody>
          <a:bodyPr vert="horz" wrap="square" lIns="0" tIns="8288" rIns="0" bIns="0" rtlCol="0">
            <a:spAutoFit/>
          </a:bodyPr>
          <a:lstStyle/>
          <a:p>
            <a:pPr marL="8288">
              <a:spcBef>
                <a:spcPts val="65"/>
              </a:spcBef>
            </a:pPr>
            <a:r>
              <a:rPr sz="1200" b="1" dirty="0">
                <a:solidFill>
                  <a:srgbClr val="FFFFFF"/>
                </a:solidFill>
                <a:latin typeface="Suisse Intl" panose="020B0504000000000000" pitchFamily="34" charset="-78"/>
                <a:cs typeface="Suisse Intl" panose="020B0504000000000000" pitchFamily="34" charset="-78"/>
              </a:rPr>
              <a:t>DATE PREPARED</a:t>
            </a:r>
            <a:endParaRPr sz="1200" dirty="0">
              <a:latin typeface="Suisse Intl" panose="020B0504000000000000" pitchFamily="34" charset="-78"/>
              <a:cs typeface="Suisse Intl" panose="020B0504000000000000" pitchFamily="34" charset="-78"/>
            </a:endParaRPr>
          </a:p>
          <a:p>
            <a:pPr marL="8288">
              <a:spcBef>
                <a:spcPts val="1279"/>
              </a:spcBef>
            </a:pPr>
            <a:r>
              <a:rPr lang="en-AU" sz="1200" dirty="0">
                <a:solidFill>
                  <a:schemeClr val="bg1"/>
                </a:solidFill>
                <a:latin typeface="Suisse Intl" panose="020B0504000000000000" pitchFamily="34" charset="-78"/>
                <a:cs typeface="Suisse Intl" panose="020B0504000000000000" pitchFamily="34" charset="-78"/>
              </a:rPr>
              <a:t>26/08/2025</a:t>
            </a:r>
            <a:endParaRPr sz="1200" dirty="0">
              <a:solidFill>
                <a:schemeClr val="bg1"/>
              </a:solidFill>
              <a:latin typeface="Suisse Intl" panose="020B0504000000000000" pitchFamily="34" charset="-78"/>
              <a:cs typeface="Suisse Intl" panose="020B0504000000000000" pitchFamily="34"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62AB831E-4D06-6B65-7F3D-8D395ABA2D47}"/>
              </a:ext>
            </a:extLst>
          </p:cNvPr>
          <p:cNvPicPr>
            <a:picLocks noChangeAspect="1"/>
          </p:cNvPicPr>
          <p:nvPr/>
        </p:nvPicPr>
        <p:blipFill>
          <a:blip r:embed="rId2"/>
          <a:stretch>
            <a:fillRect/>
          </a:stretch>
        </p:blipFill>
        <p:spPr>
          <a:xfrm>
            <a:off x="2" y="0"/>
            <a:ext cx="7559675" cy="10712998"/>
          </a:xfrm>
          <a:prstGeom prst="rect">
            <a:avLst/>
          </a:prstGeom>
        </p:spPr>
      </p:pic>
      <p:sp>
        <p:nvSpPr>
          <p:cNvPr id="2" name="object 2"/>
          <p:cNvSpPr txBox="1"/>
          <p:nvPr/>
        </p:nvSpPr>
        <p:spPr>
          <a:xfrm>
            <a:off x="598080" y="5282926"/>
            <a:ext cx="6338836" cy="4524542"/>
          </a:xfrm>
          <a:prstGeom prst="rect">
            <a:avLst/>
          </a:prstGeom>
        </p:spPr>
        <p:txBody>
          <a:bodyPr vert="horz" wrap="square" lIns="0" tIns="8288" rIns="0" bIns="0" rtlCol="0">
            <a:spAutoFit/>
          </a:bodyPr>
          <a:lstStyle/>
          <a:p>
            <a:pPr marL="8288" marR="3315">
              <a:lnSpc>
                <a:spcPct val="115700"/>
              </a:lnSpc>
              <a:spcBef>
                <a:spcPts val="65"/>
              </a:spcBef>
            </a:pPr>
            <a:r>
              <a:rPr sz="1200">
                <a:solidFill>
                  <a:srgbClr val="191919"/>
                </a:solidFill>
                <a:latin typeface="Suisse Intl" panose="020B0504000000000000" pitchFamily="34" charset="-78"/>
                <a:cs typeface="Suisse Intl" panose="020B0504000000000000" pitchFamily="34" charset="-78"/>
              </a:rPr>
              <a:t>In a world where rising energy costs and tightening margins are pressuring businesses, Kuga Energy is leading a revolution. Like the relentless cougar, we’ve spent years pushing the boundaries of energy innovation, business optimisation and vertical integration to deliver unmatched value to our clients.</a:t>
            </a:r>
            <a:endParaRPr sz="1200">
              <a:latin typeface="Suisse Intl" panose="020B0504000000000000" pitchFamily="34" charset="-78"/>
              <a:cs typeface="Suisse Intl" panose="020B0504000000000000" pitchFamily="34" charset="-78"/>
            </a:endParaRPr>
          </a:p>
          <a:p>
            <a:pPr>
              <a:spcBef>
                <a:spcPts val="267"/>
              </a:spcBef>
            </a:pPr>
            <a:endParaRPr sz="1200">
              <a:latin typeface="Suisse Intl" panose="020B0504000000000000" pitchFamily="34" charset="-78"/>
              <a:cs typeface="Suisse Intl" panose="020B0504000000000000" pitchFamily="34" charset="-78"/>
            </a:endParaRPr>
          </a:p>
          <a:p>
            <a:pPr marL="8288" marR="87024">
              <a:lnSpc>
                <a:spcPct val="115799"/>
              </a:lnSpc>
            </a:pPr>
            <a:r>
              <a:rPr sz="1200">
                <a:solidFill>
                  <a:srgbClr val="191919"/>
                </a:solidFill>
                <a:latin typeface="Suisse Intl" panose="020B0504000000000000" pitchFamily="34" charset="-78"/>
                <a:cs typeface="Suisse Intl" panose="020B0504000000000000" pitchFamily="34" charset="-78"/>
              </a:rPr>
              <a:t>Driven by a passion for renewable energy, our team is committed to making a real impact on the businesses we work with everyday. This fierce pursuit of performance and exceptional service has fueled Kuga’s growth into one of Australia’s largest independently owned commercial energy companies.</a:t>
            </a:r>
            <a:endParaRPr sz="1200">
              <a:latin typeface="Suisse Intl" panose="020B0504000000000000" pitchFamily="34" charset="-78"/>
              <a:cs typeface="Suisse Intl" panose="020B0504000000000000" pitchFamily="34" charset="-78"/>
            </a:endParaRPr>
          </a:p>
          <a:p>
            <a:pPr>
              <a:spcBef>
                <a:spcPts val="267"/>
              </a:spcBef>
            </a:pPr>
            <a:endParaRPr sz="1200">
              <a:latin typeface="Suisse Intl" panose="020B0504000000000000" pitchFamily="34" charset="-78"/>
              <a:cs typeface="Suisse Intl" panose="020B0504000000000000" pitchFamily="34" charset="-78"/>
            </a:endParaRPr>
          </a:p>
          <a:p>
            <a:pPr marL="8288" marR="63403" algn="just">
              <a:lnSpc>
                <a:spcPct val="115700"/>
              </a:lnSpc>
            </a:pPr>
            <a:r>
              <a:rPr sz="1200">
                <a:solidFill>
                  <a:srgbClr val="191919"/>
                </a:solidFill>
                <a:latin typeface="Suisse Intl" panose="020B0504000000000000" pitchFamily="34" charset="-78"/>
                <a:cs typeface="Suisse Intl" panose="020B0504000000000000" pitchFamily="34" charset="-78"/>
              </a:rPr>
              <a:t>With a strong presence across Australia, New Zealand, Philippine's and China, we perfected our value proposition, streamlining every aspect of our operations to deliver powerful results every time.</a:t>
            </a:r>
            <a:endParaRPr sz="1200">
              <a:latin typeface="Suisse Intl" panose="020B0504000000000000" pitchFamily="34" charset="-78"/>
              <a:cs typeface="Suisse Intl" panose="020B0504000000000000" pitchFamily="34" charset="-78"/>
            </a:endParaRPr>
          </a:p>
          <a:p>
            <a:pPr>
              <a:spcBef>
                <a:spcPts val="267"/>
              </a:spcBef>
            </a:pPr>
            <a:endParaRPr sz="1200">
              <a:latin typeface="Suisse Intl" panose="020B0504000000000000" pitchFamily="34" charset="-78"/>
              <a:cs typeface="Suisse Intl" panose="020B0504000000000000" pitchFamily="34" charset="-78"/>
            </a:endParaRPr>
          </a:p>
          <a:p>
            <a:pPr marL="8288" marR="39782">
              <a:lnSpc>
                <a:spcPct val="115700"/>
              </a:lnSpc>
            </a:pPr>
            <a:r>
              <a:rPr sz="1200">
                <a:solidFill>
                  <a:srgbClr val="191919"/>
                </a:solidFill>
                <a:latin typeface="Suisse Intl" panose="020B0504000000000000" pitchFamily="34" charset="-78"/>
                <a:cs typeface="Suisse Intl" panose="020B0504000000000000" pitchFamily="34" charset="-78"/>
              </a:rPr>
              <a:t>At Kuga Energy, we go beyond sustainability; we give businesses the power to take control of their energy future, embrace cutting edge technology, reduce costs and reinvest in their growth. Our commitment to energy innovation is a commitment to your success.</a:t>
            </a:r>
            <a:endParaRPr sz="1200">
              <a:latin typeface="Suisse Intl" panose="020B0504000000000000" pitchFamily="34" charset="-78"/>
              <a:cs typeface="Suisse Intl" panose="020B0504000000000000" pitchFamily="34" charset="-78"/>
            </a:endParaRPr>
          </a:p>
          <a:p>
            <a:pPr>
              <a:spcBef>
                <a:spcPts val="267"/>
              </a:spcBef>
            </a:pPr>
            <a:endParaRPr sz="1200">
              <a:latin typeface="Suisse Intl" panose="020B0504000000000000" pitchFamily="34" charset="-78"/>
              <a:cs typeface="Suisse Intl" panose="020B0504000000000000" pitchFamily="34" charset="-78"/>
            </a:endParaRPr>
          </a:p>
          <a:p>
            <a:pPr marL="8288" marR="79565">
              <a:lnSpc>
                <a:spcPct val="115700"/>
              </a:lnSpc>
            </a:pPr>
            <a:r>
              <a:rPr sz="1200">
                <a:solidFill>
                  <a:srgbClr val="191919"/>
                </a:solidFill>
                <a:latin typeface="Suisse Intl" panose="020B0504000000000000" pitchFamily="34" charset="-78"/>
                <a:cs typeface="Suisse Intl" panose="020B0504000000000000" pitchFamily="34" charset="-78"/>
              </a:rPr>
              <a:t>That’s why, in an era where market volatility is present with rising costs and energy transformation pressures, Kuga Energy ensures your business not only remains competitive but leads the pack.</a:t>
            </a:r>
            <a:endParaRPr sz="1200">
              <a:latin typeface="Suisse Intl" panose="020B0504000000000000" pitchFamily="34" charset="-78"/>
              <a:cs typeface="Suisse Intl" panose="020B0504000000000000" pitchFamily="34" charset="-78"/>
            </a:endParaRPr>
          </a:p>
        </p:txBody>
      </p:sp>
      <p:pic>
        <p:nvPicPr>
          <p:cNvPr id="3" name="object 3"/>
          <p:cNvPicPr/>
          <p:nvPr/>
        </p:nvPicPr>
        <p:blipFill>
          <a:blip r:embed="rId3" cstate="print"/>
          <a:stretch>
            <a:fillRect/>
          </a:stretch>
        </p:blipFill>
        <p:spPr>
          <a:xfrm>
            <a:off x="6286040" y="10185564"/>
            <a:ext cx="788774" cy="271025"/>
          </a:xfrm>
          <a:prstGeom prst="rect">
            <a:avLst/>
          </a:prstGeom>
        </p:spPr>
      </p:pic>
      <p:sp>
        <p:nvSpPr>
          <p:cNvPr id="36" name="object 36"/>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01</a:t>
            </a:r>
            <a:endParaRPr sz="653">
              <a:latin typeface="Suisse Intl" panose="020B0504000000000000" pitchFamily="34" charset="-78"/>
              <a:cs typeface="Suisse Intl" panose="020B0504000000000000" pitchFamily="34" charset="-78"/>
            </a:endParaRPr>
          </a:p>
        </p:txBody>
      </p:sp>
      <p:sp>
        <p:nvSpPr>
          <p:cNvPr id="37" name="object 6">
            <a:extLst>
              <a:ext uri="{FF2B5EF4-FFF2-40B4-BE49-F238E27FC236}">
                <a16:creationId xmlns:a16="http://schemas.microsoft.com/office/drawing/2014/main" id="{C17B1528-C654-DF4C-D94A-30C850DE2F3B}"/>
              </a:ext>
            </a:extLst>
          </p:cNvPr>
          <p:cNvSpPr txBox="1"/>
          <p:nvPr/>
        </p:nvSpPr>
        <p:spPr>
          <a:xfrm>
            <a:off x="2865437" y="4431506"/>
            <a:ext cx="1828800" cy="316146"/>
          </a:xfrm>
          <a:prstGeom prst="rect">
            <a:avLst/>
          </a:prstGeom>
        </p:spPr>
        <p:txBody>
          <a:bodyPr vert="horz" wrap="square" lIns="0" tIns="8288" rIns="0" bIns="0" rtlCol="0">
            <a:spAutoFit/>
          </a:bodyPr>
          <a:lstStyle/>
          <a:p>
            <a:pPr marL="8288" marR="3315" algn="ctr">
              <a:spcBef>
                <a:spcPts val="65"/>
              </a:spcBef>
            </a:pPr>
            <a:r>
              <a:rPr lang="en-AU" sz="2000" b="1">
                <a:solidFill>
                  <a:srgbClr val="FFFFFF"/>
                </a:solidFill>
                <a:latin typeface="Suisse Intl" panose="020B0504000000000000" pitchFamily="34" charset="-78"/>
                <a:cs typeface="Suisse Intl" panose="020B0504000000000000" pitchFamily="34" charset="-78"/>
              </a:rPr>
              <a:t>OUR STORY</a:t>
            </a:r>
            <a:endParaRPr sz="2000">
              <a:latin typeface="Suisse Intl" panose="020B0504000000000000" pitchFamily="34" charset="-78"/>
              <a:cs typeface="Suisse Intl" panose="020B0504000000000000" pitchFamily="34" charset="-78"/>
            </a:endParaRPr>
          </a:p>
        </p:txBody>
      </p:sp>
      <p:sp>
        <p:nvSpPr>
          <p:cNvPr id="4" name="object 22">
            <a:extLst>
              <a:ext uri="{FF2B5EF4-FFF2-40B4-BE49-F238E27FC236}">
                <a16:creationId xmlns:a16="http://schemas.microsoft.com/office/drawing/2014/main" id="{96022C40-1BBC-C02A-B196-0D9827089552}"/>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6781B683-76ED-CBC2-3896-AD23B9E7BB7F}"/>
              </a:ext>
            </a:extLst>
          </p:cNvPr>
          <p:cNvPicPr>
            <a:picLocks noChangeAspect="1"/>
          </p:cNvPicPr>
          <p:nvPr/>
        </p:nvPicPr>
        <p:blipFill>
          <a:blip r:embed="rId2"/>
          <a:stretch>
            <a:fillRect/>
          </a:stretch>
        </p:blipFill>
        <p:spPr>
          <a:xfrm>
            <a:off x="1" y="0"/>
            <a:ext cx="7559674" cy="10712997"/>
          </a:xfrm>
          <a:prstGeom prst="rect">
            <a:avLst/>
          </a:prstGeom>
        </p:spPr>
      </p:pic>
      <p:sp>
        <p:nvSpPr>
          <p:cNvPr id="46" name="object 6">
            <a:extLst>
              <a:ext uri="{FF2B5EF4-FFF2-40B4-BE49-F238E27FC236}">
                <a16:creationId xmlns:a16="http://schemas.microsoft.com/office/drawing/2014/main" id="{CD55297F-A46E-7515-A71C-D651C391F8B5}"/>
              </a:ext>
            </a:extLst>
          </p:cNvPr>
          <p:cNvSpPr txBox="1"/>
          <p:nvPr/>
        </p:nvSpPr>
        <p:spPr>
          <a:xfrm>
            <a:off x="99219" y="4431506"/>
            <a:ext cx="7361237" cy="316146"/>
          </a:xfrm>
          <a:prstGeom prst="rect">
            <a:avLst/>
          </a:prstGeom>
        </p:spPr>
        <p:txBody>
          <a:bodyPr vert="horz" wrap="square" lIns="0" tIns="8288" rIns="0" bIns="0" rtlCol="0">
            <a:spAutoFit/>
          </a:bodyPr>
          <a:lstStyle/>
          <a:p>
            <a:pPr marL="8288" marR="3315" algn="ctr">
              <a:spcBef>
                <a:spcPts val="65"/>
              </a:spcBef>
            </a:pPr>
            <a:r>
              <a:rPr lang="en-AU" sz="2000" b="1">
                <a:solidFill>
                  <a:srgbClr val="FFFFFF"/>
                </a:solidFill>
                <a:latin typeface="Suisse Intl" panose="020B0504000000000000" pitchFamily="34" charset="-78"/>
                <a:cs typeface="Suisse Intl" panose="020B0504000000000000" pitchFamily="34" charset="-78"/>
              </a:rPr>
              <a:t>YOUR GO-TO ENERGY PARTNER, WITH PROVEN RECORDS</a:t>
            </a:r>
            <a:endParaRPr sz="2000">
              <a:latin typeface="Suisse Intl" panose="020B0504000000000000" pitchFamily="34" charset="-78"/>
              <a:cs typeface="Suisse Intl" panose="020B0504000000000000" pitchFamily="34" charset="-78"/>
            </a:endParaRPr>
          </a:p>
        </p:txBody>
      </p:sp>
      <p:sp>
        <p:nvSpPr>
          <p:cNvPr id="85" name="object 4">
            <a:extLst>
              <a:ext uri="{FF2B5EF4-FFF2-40B4-BE49-F238E27FC236}">
                <a16:creationId xmlns:a16="http://schemas.microsoft.com/office/drawing/2014/main" id="{C6BD3EED-DC8F-EA35-B340-76C57B4EFD08}"/>
              </a:ext>
            </a:extLst>
          </p:cNvPr>
          <p:cNvSpPr txBox="1"/>
          <p:nvPr/>
        </p:nvSpPr>
        <p:spPr>
          <a:xfrm>
            <a:off x="1772904" y="5345906"/>
            <a:ext cx="2290101"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5000+ Commercial Projects!</a:t>
            </a:r>
            <a:endParaRPr sz="1200">
              <a:latin typeface="Suisse Intl" panose="020B0504000000000000" pitchFamily="34" charset="-78"/>
              <a:cs typeface="Suisse Intl" panose="020B0504000000000000" pitchFamily="34" charset="-78"/>
            </a:endParaRPr>
          </a:p>
        </p:txBody>
      </p:sp>
      <p:pic>
        <p:nvPicPr>
          <p:cNvPr id="86" name="object 6">
            <a:extLst>
              <a:ext uri="{FF2B5EF4-FFF2-40B4-BE49-F238E27FC236}">
                <a16:creationId xmlns:a16="http://schemas.microsoft.com/office/drawing/2014/main" id="{4544E376-9DAA-7730-284B-4C1EB9B22CF0}"/>
              </a:ext>
            </a:extLst>
          </p:cNvPr>
          <p:cNvPicPr/>
          <p:nvPr/>
        </p:nvPicPr>
        <p:blipFill>
          <a:blip r:embed="rId3" cstate="print"/>
          <a:stretch>
            <a:fillRect/>
          </a:stretch>
        </p:blipFill>
        <p:spPr>
          <a:xfrm>
            <a:off x="753384" y="4985161"/>
            <a:ext cx="1000553" cy="1002541"/>
          </a:xfrm>
          <a:prstGeom prst="rect">
            <a:avLst/>
          </a:prstGeom>
        </p:spPr>
      </p:pic>
      <p:sp>
        <p:nvSpPr>
          <p:cNvPr id="87" name="object 7">
            <a:extLst>
              <a:ext uri="{FF2B5EF4-FFF2-40B4-BE49-F238E27FC236}">
                <a16:creationId xmlns:a16="http://schemas.microsoft.com/office/drawing/2014/main" id="{4B7D7129-7886-E608-5338-5EE01EA6264C}"/>
              </a:ext>
            </a:extLst>
          </p:cNvPr>
          <p:cNvSpPr/>
          <p:nvPr/>
        </p:nvSpPr>
        <p:spPr>
          <a:xfrm>
            <a:off x="944261" y="5163067"/>
            <a:ext cx="558626" cy="558626"/>
          </a:xfrm>
          <a:custGeom>
            <a:avLst/>
            <a:gdLst/>
            <a:ahLst/>
            <a:cxnLst/>
            <a:rect l="l" t="t" r="r" b="b"/>
            <a:pathLst>
              <a:path w="855980" h="855979">
                <a:moveTo>
                  <a:pt x="855421" y="427710"/>
                </a:moveTo>
                <a:lnTo>
                  <a:pt x="852906" y="381114"/>
                </a:lnTo>
                <a:lnTo>
                  <a:pt x="845553" y="335965"/>
                </a:lnTo>
                <a:lnTo>
                  <a:pt x="833615" y="292519"/>
                </a:lnTo>
                <a:lnTo>
                  <a:pt x="817346" y="251066"/>
                </a:lnTo>
                <a:lnTo>
                  <a:pt x="797026" y="211836"/>
                </a:lnTo>
                <a:lnTo>
                  <a:pt x="772896" y="175120"/>
                </a:lnTo>
                <a:lnTo>
                  <a:pt x="745223" y="141147"/>
                </a:lnTo>
                <a:lnTo>
                  <a:pt x="714273" y="110197"/>
                </a:lnTo>
                <a:lnTo>
                  <a:pt x="680313" y="82524"/>
                </a:lnTo>
                <a:lnTo>
                  <a:pt x="643585" y="58394"/>
                </a:lnTo>
                <a:lnTo>
                  <a:pt x="604354" y="38074"/>
                </a:lnTo>
                <a:lnTo>
                  <a:pt x="562902" y="21805"/>
                </a:lnTo>
                <a:lnTo>
                  <a:pt x="519468" y="9867"/>
                </a:lnTo>
                <a:lnTo>
                  <a:pt x="474306" y="2514"/>
                </a:lnTo>
                <a:lnTo>
                  <a:pt x="427710" y="0"/>
                </a:lnTo>
                <a:lnTo>
                  <a:pt x="381101" y="2514"/>
                </a:lnTo>
                <a:lnTo>
                  <a:pt x="335953" y="9867"/>
                </a:lnTo>
                <a:lnTo>
                  <a:pt x="292519" y="21805"/>
                </a:lnTo>
                <a:lnTo>
                  <a:pt x="251053" y="38074"/>
                </a:lnTo>
                <a:lnTo>
                  <a:pt x="211836" y="58394"/>
                </a:lnTo>
                <a:lnTo>
                  <a:pt x="175107" y="82524"/>
                </a:lnTo>
                <a:lnTo>
                  <a:pt x="141135" y="110197"/>
                </a:lnTo>
                <a:lnTo>
                  <a:pt x="110185" y="141147"/>
                </a:lnTo>
                <a:lnTo>
                  <a:pt x="82524" y="175120"/>
                </a:lnTo>
                <a:lnTo>
                  <a:pt x="58394" y="211836"/>
                </a:lnTo>
                <a:lnTo>
                  <a:pt x="38061" y="251066"/>
                </a:lnTo>
                <a:lnTo>
                  <a:pt x="21805" y="292519"/>
                </a:lnTo>
                <a:lnTo>
                  <a:pt x="9867" y="335965"/>
                </a:lnTo>
                <a:lnTo>
                  <a:pt x="2501" y="381114"/>
                </a:lnTo>
                <a:lnTo>
                  <a:pt x="0" y="427710"/>
                </a:lnTo>
                <a:lnTo>
                  <a:pt x="2501" y="474319"/>
                </a:lnTo>
                <a:lnTo>
                  <a:pt x="9867" y="519468"/>
                </a:lnTo>
                <a:lnTo>
                  <a:pt x="21805" y="562902"/>
                </a:lnTo>
                <a:lnTo>
                  <a:pt x="38061" y="604367"/>
                </a:lnTo>
                <a:lnTo>
                  <a:pt x="58394" y="643585"/>
                </a:lnTo>
                <a:lnTo>
                  <a:pt x="82524" y="680313"/>
                </a:lnTo>
                <a:lnTo>
                  <a:pt x="110185" y="714286"/>
                </a:lnTo>
                <a:lnTo>
                  <a:pt x="141135" y="745236"/>
                </a:lnTo>
                <a:lnTo>
                  <a:pt x="175107" y="772909"/>
                </a:lnTo>
                <a:lnTo>
                  <a:pt x="211836" y="797026"/>
                </a:lnTo>
                <a:lnTo>
                  <a:pt x="251053" y="817359"/>
                </a:lnTo>
                <a:lnTo>
                  <a:pt x="292519" y="833615"/>
                </a:lnTo>
                <a:lnTo>
                  <a:pt x="335953" y="845566"/>
                </a:lnTo>
                <a:lnTo>
                  <a:pt x="381101" y="852919"/>
                </a:lnTo>
                <a:lnTo>
                  <a:pt x="427710" y="855421"/>
                </a:lnTo>
                <a:lnTo>
                  <a:pt x="474306" y="852919"/>
                </a:lnTo>
                <a:lnTo>
                  <a:pt x="519468" y="845566"/>
                </a:lnTo>
                <a:lnTo>
                  <a:pt x="562902" y="833615"/>
                </a:lnTo>
                <a:lnTo>
                  <a:pt x="604354" y="817359"/>
                </a:lnTo>
                <a:lnTo>
                  <a:pt x="643585" y="797026"/>
                </a:lnTo>
                <a:lnTo>
                  <a:pt x="680313" y="772909"/>
                </a:lnTo>
                <a:lnTo>
                  <a:pt x="714273" y="745236"/>
                </a:lnTo>
                <a:lnTo>
                  <a:pt x="745223" y="714286"/>
                </a:lnTo>
                <a:lnTo>
                  <a:pt x="772896" y="680313"/>
                </a:lnTo>
                <a:lnTo>
                  <a:pt x="797026" y="643585"/>
                </a:lnTo>
                <a:lnTo>
                  <a:pt x="817346" y="604367"/>
                </a:lnTo>
                <a:lnTo>
                  <a:pt x="833615" y="562902"/>
                </a:lnTo>
                <a:lnTo>
                  <a:pt x="845553" y="519468"/>
                </a:lnTo>
                <a:lnTo>
                  <a:pt x="852906" y="474319"/>
                </a:lnTo>
                <a:lnTo>
                  <a:pt x="855421" y="42771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88" name="object 8">
            <a:extLst>
              <a:ext uri="{FF2B5EF4-FFF2-40B4-BE49-F238E27FC236}">
                <a16:creationId xmlns:a16="http://schemas.microsoft.com/office/drawing/2014/main" id="{8745237D-E60F-5A3F-564E-BF793930D3CE}"/>
              </a:ext>
            </a:extLst>
          </p:cNvPr>
          <p:cNvSpPr/>
          <p:nvPr/>
        </p:nvSpPr>
        <p:spPr>
          <a:xfrm>
            <a:off x="970896" y="5189705"/>
            <a:ext cx="505167" cy="505167"/>
          </a:xfrm>
          <a:custGeom>
            <a:avLst/>
            <a:gdLst/>
            <a:ahLst/>
            <a:cxnLst/>
            <a:rect l="l" t="t" r="r" b="b"/>
            <a:pathLst>
              <a:path w="774064" h="774065">
                <a:moveTo>
                  <a:pt x="773798" y="386892"/>
                </a:moveTo>
                <a:lnTo>
                  <a:pt x="770783" y="435424"/>
                </a:lnTo>
                <a:lnTo>
                  <a:pt x="761982" y="482156"/>
                </a:lnTo>
                <a:lnTo>
                  <a:pt x="747756" y="526727"/>
                </a:lnTo>
                <a:lnTo>
                  <a:pt x="728468" y="568774"/>
                </a:lnTo>
                <a:lnTo>
                  <a:pt x="704480" y="607934"/>
                </a:lnTo>
                <a:lnTo>
                  <a:pt x="676156" y="643844"/>
                </a:lnTo>
                <a:lnTo>
                  <a:pt x="643857" y="676143"/>
                </a:lnTo>
                <a:lnTo>
                  <a:pt x="607946" y="704467"/>
                </a:lnTo>
                <a:lnTo>
                  <a:pt x="568786" y="728455"/>
                </a:lnTo>
                <a:lnTo>
                  <a:pt x="526740" y="747743"/>
                </a:lnTo>
                <a:lnTo>
                  <a:pt x="482169" y="761969"/>
                </a:lnTo>
                <a:lnTo>
                  <a:pt x="435437" y="770771"/>
                </a:lnTo>
                <a:lnTo>
                  <a:pt x="386905" y="773785"/>
                </a:lnTo>
                <a:lnTo>
                  <a:pt x="338373" y="770771"/>
                </a:lnTo>
                <a:lnTo>
                  <a:pt x="291640" y="761969"/>
                </a:lnTo>
                <a:lnTo>
                  <a:pt x="247069" y="747743"/>
                </a:lnTo>
                <a:lnTo>
                  <a:pt x="205021" y="728455"/>
                </a:lnTo>
                <a:lnTo>
                  <a:pt x="165860" y="704467"/>
                </a:lnTo>
                <a:lnTo>
                  <a:pt x="129947" y="676143"/>
                </a:lnTo>
                <a:lnTo>
                  <a:pt x="97647" y="643844"/>
                </a:lnTo>
                <a:lnTo>
                  <a:pt x="69321" y="607934"/>
                </a:lnTo>
                <a:lnTo>
                  <a:pt x="45332" y="568774"/>
                </a:lnTo>
                <a:lnTo>
                  <a:pt x="26043" y="526727"/>
                </a:lnTo>
                <a:lnTo>
                  <a:pt x="11816" y="482156"/>
                </a:lnTo>
                <a:lnTo>
                  <a:pt x="3014" y="435424"/>
                </a:lnTo>
                <a:lnTo>
                  <a:pt x="0" y="386892"/>
                </a:lnTo>
                <a:lnTo>
                  <a:pt x="3014" y="338361"/>
                </a:lnTo>
                <a:lnTo>
                  <a:pt x="11816" y="291628"/>
                </a:lnTo>
                <a:lnTo>
                  <a:pt x="26043" y="247058"/>
                </a:lnTo>
                <a:lnTo>
                  <a:pt x="45332" y="205011"/>
                </a:lnTo>
                <a:lnTo>
                  <a:pt x="69321" y="165851"/>
                </a:lnTo>
                <a:lnTo>
                  <a:pt x="97647" y="129940"/>
                </a:lnTo>
                <a:lnTo>
                  <a:pt x="129947" y="97642"/>
                </a:lnTo>
                <a:lnTo>
                  <a:pt x="165860" y="69317"/>
                </a:lnTo>
                <a:lnTo>
                  <a:pt x="205021" y="45330"/>
                </a:lnTo>
                <a:lnTo>
                  <a:pt x="247069" y="26041"/>
                </a:lnTo>
                <a:lnTo>
                  <a:pt x="291640" y="11815"/>
                </a:lnTo>
                <a:lnTo>
                  <a:pt x="338373" y="3014"/>
                </a:lnTo>
                <a:lnTo>
                  <a:pt x="386905" y="0"/>
                </a:lnTo>
                <a:lnTo>
                  <a:pt x="435437" y="3014"/>
                </a:lnTo>
                <a:lnTo>
                  <a:pt x="482169" y="11815"/>
                </a:lnTo>
                <a:lnTo>
                  <a:pt x="526740" y="26041"/>
                </a:lnTo>
                <a:lnTo>
                  <a:pt x="568786" y="45330"/>
                </a:lnTo>
                <a:lnTo>
                  <a:pt x="607946" y="69317"/>
                </a:lnTo>
                <a:lnTo>
                  <a:pt x="643857" y="97642"/>
                </a:lnTo>
                <a:lnTo>
                  <a:pt x="676156" y="129940"/>
                </a:lnTo>
                <a:lnTo>
                  <a:pt x="704480" y="165851"/>
                </a:lnTo>
                <a:lnTo>
                  <a:pt x="728468" y="205011"/>
                </a:lnTo>
                <a:lnTo>
                  <a:pt x="747756" y="247058"/>
                </a:lnTo>
                <a:lnTo>
                  <a:pt x="761982" y="291628"/>
                </a:lnTo>
                <a:lnTo>
                  <a:pt x="770783" y="338361"/>
                </a:lnTo>
                <a:lnTo>
                  <a:pt x="773798" y="386892"/>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89" name="object 9">
            <a:extLst>
              <a:ext uri="{FF2B5EF4-FFF2-40B4-BE49-F238E27FC236}">
                <a16:creationId xmlns:a16="http://schemas.microsoft.com/office/drawing/2014/main" id="{0664E4E1-F275-F8B8-05B7-DD4ADF257401}"/>
              </a:ext>
            </a:extLst>
          </p:cNvPr>
          <p:cNvSpPr/>
          <p:nvPr/>
        </p:nvSpPr>
        <p:spPr>
          <a:xfrm>
            <a:off x="1063509" y="5346792"/>
            <a:ext cx="297133" cy="231241"/>
          </a:xfrm>
          <a:custGeom>
            <a:avLst/>
            <a:gdLst/>
            <a:ahLst/>
            <a:cxnLst/>
            <a:rect l="l" t="t" r="r" b="b"/>
            <a:pathLst>
              <a:path w="455294" h="354329">
                <a:moveTo>
                  <a:pt x="228745" y="259143"/>
                </a:moveTo>
                <a:lnTo>
                  <a:pt x="211786" y="259143"/>
                </a:lnTo>
                <a:lnTo>
                  <a:pt x="202015" y="296062"/>
                </a:lnTo>
                <a:lnTo>
                  <a:pt x="183834" y="297021"/>
                </a:lnTo>
                <a:lnTo>
                  <a:pt x="144472" y="324497"/>
                </a:lnTo>
                <a:lnTo>
                  <a:pt x="137253" y="348234"/>
                </a:lnTo>
                <a:lnTo>
                  <a:pt x="141843" y="353161"/>
                </a:lnTo>
                <a:lnTo>
                  <a:pt x="344789" y="353860"/>
                </a:lnTo>
                <a:lnTo>
                  <a:pt x="352929" y="349917"/>
                </a:lnTo>
                <a:lnTo>
                  <a:pt x="352958" y="340129"/>
                </a:lnTo>
                <a:lnTo>
                  <a:pt x="351812" y="337019"/>
                </a:lnTo>
                <a:lnTo>
                  <a:pt x="157489" y="337019"/>
                </a:lnTo>
                <a:lnTo>
                  <a:pt x="160712" y="328426"/>
                </a:lnTo>
                <a:lnTo>
                  <a:pt x="166436" y="321459"/>
                </a:lnTo>
                <a:lnTo>
                  <a:pt x="174009" y="316363"/>
                </a:lnTo>
                <a:lnTo>
                  <a:pt x="182775" y="313385"/>
                </a:lnTo>
                <a:lnTo>
                  <a:pt x="229920" y="313385"/>
                </a:lnTo>
                <a:lnTo>
                  <a:pt x="275083" y="312329"/>
                </a:lnTo>
                <a:lnTo>
                  <a:pt x="338432" y="312329"/>
                </a:lnTo>
                <a:lnTo>
                  <a:pt x="330752" y="305539"/>
                </a:lnTo>
                <a:lnTo>
                  <a:pt x="321814" y="300520"/>
                </a:lnTo>
                <a:lnTo>
                  <a:pt x="312036" y="297599"/>
                </a:lnTo>
                <a:lnTo>
                  <a:pt x="307959" y="296887"/>
                </a:lnTo>
                <a:lnTo>
                  <a:pt x="289407" y="296887"/>
                </a:lnTo>
                <a:lnTo>
                  <a:pt x="289122" y="296506"/>
                </a:lnTo>
                <a:lnTo>
                  <a:pt x="218754" y="296506"/>
                </a:lnTo>
                <a:lnTo>
                  <a:pt x="228643" y="259524"/>
                </a:lnTo>
                <a:lnTo>
                  <a:pt x="228745" y="259143"/>
                </a:lnTo>
                <a:close/>
              </a:path>
              <a:path w="455294" h="354329">
                <a:moveTo>
                  <a:pt x="338431" y="312329"/>
                </a:moveTo>
                <a:lnTo>
                  <a:pt x="275083" y="312329"/>
                </a:lnTo>
                <a:lnTo>
                  <a:pt x="305266" y="313258"/>
                </a:lnTo>
                <a:lnTo>
                  <a:pt x="315012" y="315515"/>
                </a:lnTo>
                <a:lnTo>
                  <a:pt x="323443" y="320548"/>
                </a:lnTo>
                <a:lnTo>
                  <a:pt x="329746" y="327797"/>
                </a:lnTo>
                <a:lnTo>
                  <a:pt x="333384" y="337019"/>
                </a:lnTo>
                <a:lnTo>
                  <a:pt x="351812" y="337019"/>
                </a:lnTo>
                <a:lnTo>
                  <a:pt x="348939" y="329226"/>
                </a:lnTo>
                <a:lnTo>
                  <a:pt x="344421" y="320548"/>
                </a:lnTo>
                <a:lnTo>
                  <a:pt x="338431" y="312329"/>
                </a:lnTo>
                <a:close/>
              </a:path>
              <a:path w="455294" h="354329">
                <a:moveTo>
                  <a:pt x="229920" y="313385"/>
                </a:moveTo>
                <a:lnTo>
                  <a:pt x="182775" y="313385"/>
                </a:lnTo>
                <a:lnTo>
                  <a:pt x="213173" y="313835"/>
                </a:lnTo>
                <a:lnTo>
                  <a:pt x="229920" y="313385"/>
                </a:lnTo>
                <a:close/>
              </a:path>
              <a:path w="455294" h="354329">
                <a:moveTo>
                  <a:pt x="279086" y="259143"/>
                </a:moveTo>
                <a:lnTo>
                  <a:pt x="261416" y="259143"/>
                </a:lnTo>
                <a:lnTo>
                  <a:pt x="262353" y="259524"/>
                </a:lnTo>
                <a:lnTo>
                  <a:pt x="272002" y="296062"/>
                </a:lnTo>
                <a:lnTo>
                  <a:pt x="272119" y="296506"/>
                </a:lnTo>
                <a:lnTo>
                  <a:pt x="289122" y="296506"/>
                </a:lnTo>
                <a:lnTo>
                  <a:pt x="288401" y="295541"/>
                </a:lnTo>
                <a:lnTo>
                  <a:pt x="279184" y="259524"/>
                </a:lnTo>
                <a:lnTo>
                  <a:pt x="279086" y="259143"/>
                </a:lnTo>
                <a:close/>
              </a:path>
              <a:path w="455294" h="354329">
                <a:moveTo>
                  <a:pt x="83817" y="0"/>
                </a:moveTo>
                <a:lnTo>
                  <a:pt x="75866" y="723"/>
                </a:lnTo>
                <a:lnTo>
                  <a:pt x="76160" y="3606"/>
                </a:lnTo>
                <a:lnTo>
                  <a:pt x="76222" y="4216"/>
                </a:lnTo>
                <a:lnTo>
                  <a:pt x="74800" y="10744"/>
                </a:lnTo>
                <a:lnTo>
                  <a:pt x="65730" y="57590"/>
                </a:lnTo>
                <a:lnTo>
                  <a:pt x="58146" y="105149"/>
                </a:lnTo>
                <a:lnTo>
                  <a:pt x="51124" y="152982"/>
                </a:lnTo>
                <a:lnTo>
                  <a:pt x="43741" y="200654"/>
                </a:lnTo>
                <a:lnTo>
                  <a:pt x="35074" y="247726"/>
                </a:lnTo>
                <a:lnTo>
                  <a:pt x="33855" y="253695"/>
                </a:lnTo>
                <a:lnTo>
                  <a:pt x="36985" y="259524"/>
                </a:lnTo>
                <a:lnTo>
                  <a:pt x="0" y="259524"/>
                </a:lnTo>
                <a:lnTo>
                  <a:pt x="450847" y="259143"/>
                </a:lnTo>
                <a:lnTo>
                  <a:pt x="453641" y="257683"/>
                </a:lnTo>
                <a:lnTo>
                  <a:pt x="455177" y="254749"/>
                </a:lnTo>
                <a:lnTo>
                  <a:pt x="453288" y="243141"/>
                </a:lnTo>
                <a:lnTo>
                  <a:pt x="52740" y="243141"/>
                </a:lnTo>
                <a:lnTo>
                  <a:pt x="65579" y="166065"/>
                </a:lnTo>
                <a:lnTo>
                  <a:pt x="440746" y="166065"/>
                </a:lnTo>
                <a:lnTo>
                  <a:pt x="438011" y="149263"/>
                </a:lnTo>
                <a:lnTo>
                  <a:pt x="68551" y="149263"/>
                </a:lnTo>
                <a:lnTo>
                  <a:pt x="79918" y="86017"/>
                </a:lnTo>
                <a:lnTo>
                  <a:pt x="427719" y="86017"/>
                </a:lnTo>
                <a:lnTo>
                  <a:pt x="424985" y="69215"/>
                </a:lnTo>
                <a:lnTo>
                  <a:pt x="82381" y="69215"/>
                </a:lnTo>
                <a:lnTo>
                  <a:pt x="90294" y="16840"/>
                </a:lnTo>
                <a:lnTo>
                  <a:pt x="416462" y="16840"/>
                </a:lnTo>
                <a:lnTo>
                  <a:pt x="414408" y="4216"/>
                </a:lnTo>
                <a:lnTo>
                  <a:pt x="414309" y="3606"/>
                </a:lnTo>
                <a:lnTo>
                  <a:pt x="410410" y="584"/>
                </a:lnTo>
                <a:lnTo>
                  <a:pt x="83817" y="0"/>
                </a:lnTo>
                <a:close/>
              </a:path>
              <a:path w="455294" h="354329">
                <a:moveTo>
                  <a:pt x="140687" y="166065"/>
                </a:moveTo>
                <a:lnTo>
                  <a:pt x="123885" y="166065"/>
                </a:lnTo>
                <a:lnTo>
                  <a:pt x="116976" y="243141"/>
                </a:lnTo>
                <a:lnTo>
                  <a:pt x="132775" y="243141"/>
                </a:lnTo>
                <a:lnTo>
                  <a:pt x="140687" y="166065"/>
                </a:lnTo>
                <a:close/>
              </a:path>
              <a:path w="455294" h="354329">
                <a:moveTo>
                  <a:pt x="215795" y="166065"/>
                </a:moveTo>
                <a:lnTo>
                  <a:pt x="199983" y="166065"/>
                </a:lnTo>
                <a:lnTo>
                  <a:pt x="197012" y="243141"/>
                </a:lnTo>
                <a:lnTo>
                  <a:pt x="213814" y="243141"/>
                </a:lnTo>
                <a:lnTo>
                  <a:pt x="215795" y="166065"/>
                </a:lnTo>
                <a:close/>
              </a:path>
              <a:path w="455294" h="354329">
                <a:moveTo>
                  <a:pt x="290890" y="166065"/>
                </a:moveTo>
                <a:lnTo>
                  <a:pt x="275079" y="166065"/>
                </a:lnTo>
                <a:lnTo>
                  <a:pt x="277060" y="243141"/>
                </a:lnTo>
                <a:lnTo>
                  <a:pt x="293862" y="243141"/>
                </a:lnTo>
                <a:lnTo>
                  <a:pt x="290890" y="166065"/>
                </a:lnTo>
                <a:close/>
              </a:path>
              <a:path w="455294" h="354329">
                <a:moveTo>
                  <a:pt x="366988" y="166065"/>
                </a:moveTo>
                <a:lnTo>
                  <a:pt x="350186" y="166065"/>
                </a:lnTo>
                <a:lnTo>
                  <a:pt x="358086" y="243141"/>
                </a:lnTo>
                <a:lnTo>
                  <a:pt x="373897" y="243141"/>
                </a:lnTo>
                <a:lnTo>
                  <a:pt x="366988" y="166065"/>
                </a:lnTo>
                <a:close/>
              </a:path>
              <a:path w="455294" h="354329">
                <a:moveTo>
                  <a:pt x="440746" y="166065"/>
                </a:moveTo>
                <a:lnTo>
                  <a:pt x="425281" y="166065"/>
                </a:lnTo>
                <a:lnTo>
                  <a:pt x="438134" y="243141"/>
                </a:lnTo>
                <a:lnTo>
                  <a:pt x="453288" y="243141"/>
                </a:lnTo>
                <a:lnTo>
                  <a:pt x="440746" y="166065"/>
                </a:lnTo>
                <a:close/>
              </a:path>
              <a:path w="455294" h="354329">
                <a:moveTo>
                  <a:pt x="148587" y="86017"/>
                </a:moveTo>
                <a:lnTo>
                  <a:pt x="132775" y="86017"/>
                </a:lnTo>
                <a:lnTo>
                  <a:pt x="125866" y="149263"/>
                </a:lnTo>
                <a:lnTo>
                  <a:pt x="142668" y="149263"/>
                </a:lnTo>
                <a:lnTo>
                  <a:pt x="148587" y="86017"/>
                </a:lnTo>
                <a:close/>
              </a:path>
              <a:path w="455294" h="354329">
                <a:moveTo>
                  <a:pt x="218754" y="86017"/>
                </a:moveTo>
                <a:lnTo>
                  <a:pt x="201952" y="86017"/>
                </a:lnTo>
                <a:lnTo>
                  <a:pt x="199983" y="149263"/>
                </a:lnTo>
                <a:lnTo>
                  <a:pt x="216773" y="149263"/>
                </a:lnTo>
                <a:lnTo>
                  <a:pt x="218754" y="86017"/>
                </a:lnTo>
                <a:close/>
              </a:path>
              <a:path w="455294" h="354329">
                <a:moveTo>
                  <a:pt x="288922" y="86017"/>
                </a:moveTo>
                <a:lnTo>
                  <a:pt x="272119" y="86017"/>
                </a:lnTo>
                <a:lnTo>
                  <a:pt x="274088" y="149263"/>
                </a:lnTo>
                <a:lnTo>
                  <a:pt x="290890" y="149263"/>
                </a:lnTo>
                <a:lnTo>
                  <a:pt x="288922" y="86017"/>
                </a:lnTo>
                <a:close/>
              </a:path>
              <a:path w="455294" h="354329">
                <a:moveTo>
                  <a:pt x="358086" y="86017"/>
                </a:moveTo>
                <a:lnTo>
                  <a:pt x="342274" y="86017"/>
                </a:lnTo>
                <a:lnTo>
                  <a:pt x="348205" y="149263"/>
                </a:lnTo>
                <a:lnTo>
                  <a:pt x="365007" y="149263"/>
                </a:lnTo>
                <a:lnTo>
                  <a:pt x="358086" y="86017"/>
                </a:lnTo>
                <a:close/>
              </a:path>
              <a:path w="455294" h="354329">
                <a:moveTo>
                  <a:pt x="427719" y="86017"/>
                </a:moveTo>
                <a:lnTo>
                  <a:pt x="412442" y="86017"/>
                </a:lnTo>
                <a:lnTo>
                  <a:pt x="422322" y="149263"/>
                </a:lnTo>
                <a:lnTo>
                  <a:pt x="438011" y="149263"/>
                </a:lnTo>
                <a:lnTo>
                  <a:pt x="427719" y="86017"/>
                </a:lnTo>
                <a:close/>
              </a:path>
              <a:path w="455294" h="354329">
                <a:moveTo>
                  <a:pt x="155508" y="16840"/>
                </a:moveTo>
                <a:lnTo>
                  <a:pt x="139697" y="16840"/>
                </a:lnTo>
                <a:lnTo>
                  <a:pt x="133766" y="69215"/>
                </a:lnTo>
                <a:lnTo>
                  <a:pt x="150568" y="69215"/>
                </a:lnTo>
                <a:lnTo>
                  <a:pt x="155508" y="16840"/>
                </a:lnTo>
                <a:close/>
              </a:path>
              <a:path w="455294" h="354329">
                <a:moveTo>
                  <a:pt x="220735" y="16840"/>
                </a:moveTo>
                <a:lnTo>
                  <a:pt x="204924" y="16840"/>
                </a:lnTo>
                <a:lnTo>
                  <a:pt x="202943" y="69215"/>
                </a:lnTo>
                <a:lnTo>
                  <a:pt x="218754" y="69215"/>
                </a:lnTo>
                <a:lnTo>
                  <a:pt x="220735" y="16840"/>
                </a:lnTo>
                <a:close/>
              </a:path>
              <a:path w="455294" h="354329">
                <a:moveTo>
                  <a:pt x="285950" y="16840"/>
                </a:moveTo>
                <a:lnTo>
                  <a:pt x="270138" y="16840"/>
                </a:lnTo>
                <a:lnTo>
                  <a:pt x="272119" y="69215"/>
                </a:lnTo>
                <a:lnTo>
                  <a:pt x="287931" y="69215"/>
                </a:lnTo>
                <a:lnTo>
                  <a:pt x="285950" y="16840"/>
                </a:lnTo>
                <a:close/>
              </a:path>
              <a:path w="455294" h="354329">
                <a:moveTo>
                  <a:pt x="351177" y="16840"/>
                </a:moveTo>
                <a:lnTo>
                  <a:pt x="335365" y="16840"/>
                </a:lnTo>
                <a:lnTo>
                  <a:pt x="340306" y="69215"/>
                </a:lnTo>
                <a:lnTo>
                  <a:pt x="357095" y="69215"/>
                </a:lnTo>
                <a:lnTo>
                  <a:pt x="351177" y="16840"/>
                </a:lnTo>
                <a:close/>
              </a:path>
              <a:path w="455294" h="354329">
                <a:moveTo>
                  <a:pt x="416462" y="16840"/>
                </a:moveTo>
                <a:lnTo>
                  <a:pt x="400580" y="16840"/>
                </a:lnTo>
                <a:lnTo>
                  <a:pt x="409470" y="69215"/>
                </a:lnTo>
                <a:lnTo>
                  <a:pt x="424985" y="69215"/>
                </a:lnTo>
                <a:lnTo>
                  <a:pt x="416462" y="1684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90" name="object 10">
            <a:extLst>
              <a:ext uri="{FF2B5EF4-FFF2-40B4-BE49-F238E27FC236}">
                <a16:creationId xmlns:a16="http://schemas.microsoft.com/office/drawing/2014/main" id="{F97CE97C-7FA4-FA75-D3B6-D1C894837EC5}"/>
              </a:ext>
            </a:extLst>
          </p:cNvPr>
          <p:cNvSpPr txBox="1"/>
          <p:nvPr/>
        </p:nvSpPr>
        <p:spPr>
          <a:xfrm>
            <a:off x="1772903" y="8638121"/>
            <a:ext cx="2489997"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Global Access to Supply Chains</a:t>
            </a:r>
            <a:endParaRPr sz="1200">
              <a:latin typeface="Suisse Intl" panose="020B0504000000000000" pitchFamily="34" charset="-78"/>
              <a:cs typeface="Suisse Intl" panose="020B0504000000000000" pitchFamily="34" charset="-78"/>
            </a:endParaRPr>
          </a:p>
        </p:txBody>
      </p:sp>
      <p:grpSp>
        <p:nvGrpSpPr>
          <p:cNvPr id="91" name="object 11">
            <a:extLst>
              <a:ext uri="{FF2B5EF4-FFF2-40B4-BE49-F238E27FC236}">
                <a16:creationId xmlns:a16="http://schemas.microsoft.com/office/drawing/2014/main" id="{3B10DBC4-3B6E-E3E4-E4D6-5347E26FF658}"/>
              </a:ext>
            </a:extLst>
          </p:cNvPr>
          <p:cNvGrpSpPr/>
          <p:nvPr/>
        </p:nvGrpSpPr>
        <p:grpSpPr>
          <a:xfrm>
            <a:off x="753384" y="8277244"/>
            <a:ext cx="1000803" cy="1002875"/>
            <a:chOff x="1141083" y="12683172"/>
            <a:chExt cx="1533525" cy="1536700"/>
          </a:xfrm>
        </p:grpSpPr>
        <p:pic>
          <p:nvPicPr>
            <p:cNvPr id="92" name="object 12">
              <a:extLst>
                <a:ext uri="{FF2B5EF4-FFF2-40B4-BE49-F238E27FC236}">
                  <a16:creationId xmlns:a16="http://schemas.microsoft.com/office/drawing/2014/main" id="{D0B0F55D-53EB-494C-25F9-A704AA109B78}"/>
                </a:ext>
              </a:extLst>
            </p:cNvPr>
            <p:cNvPicPr/>
            <p:nvPr/>
          </p:nvPicPr>
          <p:blipFill>
            <a:blip r:embed="rId4" cstate="print"/>
            <a:stretch>
              <a:fillRect/>
            </a:stretch>
          </p:blipFill>
          <p:spPr>
            <a:xfrm>
              <a:off x="1141083" y="12683172"/>
              <a:ext cx="1533142" cy="1536188"/>
            </a:xfrm>
            <a:prstGeom prst="rect">
              <a:avLst/>
            </a:prstGeom>
          </p:spPr>
        </p:pic>
        <p:pic>
          <p:nvPicPr>
            <p:cNvPr id="93" name="object 13">
              <a:extLst>
                <a:ext uri="{FF2B5EF4-FFF2-40B4-BE49-F238E27FC236}">
                  <a16:creationId xmlns:a16="http://schemas.microsoft.com/office/drawing/2014/main" id="{E952C64E-7906-5BEA-77AC-1109B686D57A}"/>
                </a:ext>
              </a:extLst>
            </p:cNvPr>
            <p:cNvPicPr/>
            <p:nvPr/>
          </p:nvPicPr>
          <p:blipFill>
            <a:blip r:embed="rId5" cstate="print"/>
            <a:stretch>
              <a:fillRect/>
            </a:stretch>
          </p:blipFill>
          <p:spPr>
            <a:xfrm>
              <a:off x="1433567" y="12954269"/>
              <a:ext cx="855421" cy="855421"/>
            </a:xfrm>
            <a:prstGeom prst="rect">
              <a:avLst/>
            </a:prstGeom>
          </p:spPr>
        </p:pic>
      </p:grpSp>
      <p:sp>
        <p:nvSpPr>
          <p:cNvPr id="94" name="object 14">
            <a:extLst>
              <a:ext uri="{FF2B5EF4-FFF2-40B4-BE49-F238E27FC236}">
                <a16:creationId xmlns:a16="http://schemas.microsoft.com/office/drawing/2014/main" id="{2BF38DA4-2A7F-E7C9-DD76-A033B7969230}"/>
              </a:ext>
            </a:extLst>
          </p:cNvPr>
          <p:cNvSpPr txBox="1"/>
          <p:nvPr/>
        </p:nvSpPr>
        <p:spPr>
          <a:xfrm>
            <a:off x="1772903" y="6159670"/>
            <a:ext cx="4699368"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Top 5 Volume Retailer 3 Years in a Row in C&amp;I Market</a:t>
            </a:r>
            <a:endParaRPr sz="1200">
              <a:latin typeface="Suisse Intl" panose="020B0504000000000000" pitchFamily="34" charset="-78"/>
              <a:cs typeface="Suisse Intl" panose="020B0504000000000000" pitchFamily="34" charset="-78"/>
            </a:endParaRPr>
          </a:p>
        </p:txBody>
      </p:sp>
      <p:grpSp>
        <p:nvGrpSpPr>
          <p:cNvPr id="95" name="object 15">
            <a:extLst>
              <a:ext uri="{FF2B5EF4-FFF2-40B4-BE49-F238E27FC236}">
                <a16:creationId xmlns:a16="http://schemas.microsoft.com/office/drawing/2014/main" id="{F11B64AD-F630-2E0B-86A2-9EC43DB4480B}"/>
              </a:ext>
            </a:extLst>
          </p:cNvPr>
          <p:cNvGrpSpPr/>
          <p:nvPr/>
        </p:nvGrpSpPr>
        <p:grpSpPr>
          <a:xfrm>
            <a:off x="753384" y="5802712"/>
            <a:ext cx="1000803" cy="1002875"/>
            <a:chOff x="1141083" y="8891460"/>
            <a:chExt cx="1533525" cy="1536700"/>
          </a:xfrm>
        </p:grpSpPr>
        <p:pic>
          <p:nvPicPr>
            <p:cNvPr id="96" name="object 16">
              <a:extLst>
                <a:ext uri="{FF2B5EF4-FFF2-40B4-BE49-F238E27FC236}">
                  <a16:creationId xmlns:a16="http://schemas.microsoft.com/office/drawing/2014/main" id="{1BC16CFB-4949-2762-7CAD-2ACC29666B65}"/>
                </a:ext>
              </a:extLst>
            </p:cNvPr>
            <p:cNvPicPr/>
            <p:nvPr/>
          </p:nvPicPr>
          <p:blipFill>
            <a:blip r:embed="rId6" cstate="print"/>
            <a:stretch>
              <a:fillRect/>
            </a:stretch>
          </p:blipFill>
          <p:spPr>
            <a:xfrm>
              <a:off x="1141083" y="8891460"/>
              <a:ext cx="1533142" cy="1536188"/>
            </a:xfrm>
            <a:prstGeom prst="rect">
              <a:avLst/>
            </a:prstGeom>
          </p:spPr>
        </p:pic>
        <p:sp>
          <p:nvSpPr>
            <p:cNvPr id="97" name="object 17">
              <a:extLst>
                <a:ext uri="{FF2B5EF4-FFF2-40B4-BE49-F238E27FC236}">
                  <a16:creationId xmlns:a16="http://schemas.microsoft.com/office/drawing/2014/main" id="{15BE9F94-3738-DE7B-1E34-B58A3423418D}"/>
                </a:ext>
              </a:extLst>
            </p:cNvPr>
            <p:cNvSpPr/>
            <p:nvPr/>
          </p:nvSpPr>
          <p:spPr>
            <a:xfrm>
              <a:off x="1433563" y="9163659"/>
              <a:ext cx="855980" cy="855980"/>
            </a:xfrm>
            <a:custGeom>
              <a:avLst/>
              <a:gdLst/>
              <a:ahLst/>
              <a:cxnLst/>
              <a:rect l="l" t="t" r="r" b="b"/>
              <a:pathLst>
                <a:path w="855980" h="855979">
                  <a:moveTo>
                    <a:pt x="855421" y="427710"/>
                  </a:moveTo>
                  <a:lnTo>
                    <a:pt x="852906" y="381114"/>
                  </a:lnTo>
                  <a:lnTo>
                    <a:pt x="845553" y="335965"/>
                  </a:lnTo>
                  <a:lnTo>
                    <a:pt x="833615" y="292531"/>
                  </a:lnTo>
                  <a:lnTo>
                    <a:pt x="817346" y="251066"/>
                  </a:lnTo>
                  <a:lnTo>
                    <a:pt x="797026" y="211836"/>
                  </a:lnTo>
                  <a:lnTo>
                    <a:pt x="772896" y="175120"/>
                  </a:lnTo>
                  <a:lnTo>
                    <a:pt x="745223" y="141147"/>
                  </a:lnTo>
                  <a:lnTo>
                    <a:pt x="714273" y="110197"/>
                  </a:lnTo>
                  <a:lnTo>
                    <a:pt x="680313" y="82524"/>
                  </a:lnTo>
                  <a:lnTo>
                    <a:pt x="643585" y="58394"/>
                  </a:lnTo>
                  <a:lnTo>
                    <a:pt x="604354" y="38074"/>
                  </a:lnTo>
                  <a:lnTo>
                    <a:pt x="562902" y="21805"/>
                  </a:lnTo>
                  <a:lnTo>
                    <a:pt x="519468" y="9867"/>
                  </a:lnTo>
                  <a:lnTo>
                    <a:pt x="474306" y="2514"/>
                  </a:lnTo>
                  <a:lnTo>
                    <a:pt x="427710" y="0"/>
                  </a:lnTo>
                  <a:lnTo>
                    <a:pt x="381101" y="2514"/>
                  </a:lnTo>
                  <a:lnTo>
                    <a:pt x="335953" y="9867"/>
                  </a:lnTo>
                  <a:lnTo>
                    <a:pt x="292519" y="21805"/>
                  </a:lnTo>
                  <a:lnTo>
                    <a:pt x="251053" y="38074"/>
                  </a:lnTo>
                  <a:lnTo>
                    <a:pt x="211836" y="58394"/>
                  </a:lnTo>
                  <a:lnTo>
                    <a:pt x="175107" y="82524"/>
                  </a:lnTo>
                  <a:lnTo>
                    <a:pt x="141135" y="110197"/>
                  </a:lnTo>
                  <a:lnTo>
                    <a:pt x="110185" y="141147"/>
                  </a:lnTo>
                  <a:lnTo>
                    <a:pt x="82524" y="175120"/>
                  </a:lnTo>
                  <a:lnTo>
                    <a:pt x="58394" y="211836"/>
                  </a:lnTo>
                  <a:lnTo>
                    <a:pt x="38061" y="251066"/>
                  </a:lnTo>
                  <a:lnTo>
                    <a:pt x="21805" y="292531"/>
                  </a:lnTo>
                  <a:lnTo>
                    <a:pt x="9867" y="335965"/>
                  </a:lnTo>
                  <a:lnTo>
                    <a:pt x="2501" y="381114"/>
                  </a:lnTo>
                  <a:lnTo>
                    <a:pt x="0" y="427710"/>
                  </a:lnTo>
                  <a:lnTo>
                    <a:pt x="2501" y="474319"/>
                  </a:lnTo>
                  <a:lnTo>
                    <a:pt x="9867" y="519468"/>
                  </a:lnTo>
                  <a:lnTo>
                    <a:pt x="21805" y="562902"/>
                  </a:lnTo>
                  <a:lnTo>
                    <a:pt x="38061" y="604367"/>
                  </a:lnTo>
                  <a:lnTo>
                    <a:pt x="58394" y="643585"/>
                  </a:lnTo>
                  <a:lnTo>
                    <a:pt x="82524" y="680313"/>
                  </a:lnTo>
                  <a:lnTo>
                    <a:pt x="110185" y="714286"/>
                  </a:lnTo>
                  <a:lnTo>
                    <a:pt x="141135" y="745236"/>
                  </a:lnTo>
                  <a:lnTo>
                    <a:pt x="175107" y="772909"/>
                  </a:lnTo>
                  <a:lnTo>
                    <a:pt x="211836" y="797026"/>
                  </a:lnTo>
                  <a:lnTo>
                    <a:pt x="251053" y="817359"/>
                  </a:lnTo>
                  <a:lnTo>
                    <a:pt x="292519" y="833628"/>
                  </a:lnTo>
                  <a:lnTo>
                    <a:pt x="335953" y="845566"/>
                  </a:lnTo>
                  <a:lnTo>
                    <a:pt x="381101" y="852919"/>
                  </a:lnTo>
                  <a:lnTo>
                    <a:pt x="427710" y="855421"/>
                  </a:lnTo>
                  <a:lnTo>
                    <a:pt x="474306" y="852919"/>
                  </a:lnTo>
                  <a:lnTo>
                    <a:pt x="519468" y="845566"/>
                  </a:lnTo>
                  <a:lnTo>
                    <a:pt x="562902" y="833628"/>
                  </a:lnTo>
                  <a:lnTo>
                    <a:pt x="604354" y="817359"/>
                  </a:lnTo>
                  <a:lnTo>
                    <a:pt x="643585" y="797026"/>
                  </a:lnTo>
                  <a:lnTo>
                    <a:pt x="680313" y="772909"/>
                  </a:lnTo>
                  <a:lnTo>
                    <a:pt x="714273" y="745236"/>
                  </a:lnTo>
                  <a:lnTo>
                    <a:pt x="745223" y="714286"/>
                  </a:lnTo>
                  <a:lnTo>
                    <a:pt x="772896" y="680313"/>
                  </a:lnTo>
                  <a:lnTo>
                    <a:pt x="797026" y="643585"/>
                  </a:lnTo>
                  <a:lnTo>
                    <a:pt x="817346" y="604367"/>
                  </a:lnTo>
                  <a:lnTo>
                    <a:pt x="833615" y="562902"/>
                  </a:lnTo>
                  <a:lnTo>
                    <a:pt x="845553" y="519468"/>
                  </a:lnTo>
                  <a:lnTo>
                    <a:pt x="852906" y="474319"/>
                  </a:lnTo>
                  <a:lnTo>
                    <a:pt x="855421" y="42771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98" name="object 18">
              <a:extLst>
                <a:ext uri="{FF2B5EF4-FFF2-40B4-BE49-F238E27FC236}">
                  <a16:creationId xmlns:a16="http://schemas.microsoft.com/office/drawing/2014/main" id="{D03291F8-2BDA-1DAE-A264-C0ACF5864AC8}"/>
                </a:ext>
              </a:extLst>
            </p:cNvPr>
            <p:cNvSpPr/>
            <p:nvPr/>
          </p:nvSpPr>
          <p:spPr>
            <a:xfrm>
              <a:off x="1474376" y="9204477"/>
              <a:ext cx="774065" cy="774065"/>
            </a:xfrm>
            <a:custGeom>
              <a:avLst/>
              <a:gdLst/>
              <a:ahLst/>
              <a:cxnLst/>
              <a:rect l="l" t="t" r="r" b="b"/>
              <a:pathLst>
                <a:path w="774064" h="774065">
                  <a:moveTo>
                    <a:pt x="773798" y="386892"/>
                  </a:moveTo>
                  <a:lnTo>
                    <a:pt x="770783" y="435424"/>
                  </a:lnTo>
                  <a:lnTo>
                    <a:pt x="761982" y="482156"/>
                  </a:lnTo>
                  <a:lnTo>
                    <a:pt x="747756" y="526727"/>
                  </a:lnTo>
                  <a:lnTo>
                    <a:pt x="728468" y="568774"/>
                  </a:lnTo>
                  <a:lnTo>
                    <a:pt x="704480" y="607934"/>
                  </a:lnTo>
                  <a:lnTo>
                    <a:pt x="676156" y="643844"/>
                  </a:lnTo>
                  <a:lnTo>
                    <a:pt x="643857" y="676143"/>
                  </a:lnTo>
                  <a:lnTo>
                    <a:pt x="607946" y="704467"/>
                  </a:lnTo>
                  <a:lnTo>
                    <a:pt x="568786" y="728455"/>
                  </a:lnTo>
                  <a:lnTo>
                    <a:pt x="526740" y="747743"/>
                  </a:lnTo>
                  <a:lnTo>
                    <a:pt x="482169" y="761969"/>
                  </a:lnTo>
                  <a:lnTo>
                    <a:pt x="435437" y="770771"/>
                  </a:lnTo>
                  <a:lnTo>
                    <a:pt x="386905" y="773785"/>
                  </a:lnTo>
                  <a:lnTo>
                    <a:pt x="338373" y="770771"/>
                  </a:lnTo>
                  <a:lnTo>
                    <a:pt x="291640" y="761969"/>
                  </a:lnTo>
                  <a:lnTo>
                    <a:pt x="247069" y="747743"/>
                  </a:lnTo>
                  <a:lnTo>
                    <a:pt x="205021" y="728455"/>
                  </a:lnTo>
                  <a:lnTo>
                    <a:pt x="165860" y="704467"/>
                  </a:lnTo>
                  <a:lnTo>
                    <a:pt x="129947" y="676143"/>
                  </a:lnTo>
                  <a:lnTo>
                    <a:pt x="97647" y="643844"/>
                  </a:lnTo>
                  <a:lnTo>
                    <a:pt x="69321" y="607934"/>
                  </a:lnTo>
                  <a:lnTo>
                    <a:pt x="45332" y="568774"/>
                  </a:lnTo>
                  <a:lnTo>
                    <a:pt x="26043" y="526727"/>
                  </a:lnTo>
                  <a:lnTo>
                    <a:pt x="11816" y="482156"/>
                  </a:lnTo>
                  <a:lnTo>
                    <a:pt x="3014" y="435424"/>
                  </a:lnTo>
                  <a:lnTo>
                    <a:pt x="0" y="386892"/>
                  </a:lnTo>
                  <a:lnTo>
                    <a:pt x="3014" y="338361"/>
                  </a:lnTo>
                  <a:lnTo>
                    <a:pt x="11816" y="291628"/>
                  </a:lnTo>
                  <a:lnTo>
                    <a:pt x="26043" y="247058"/>
                  </a:lnTo>
                  <a:lnTo>
                    <a:pt x="45332" y="205011"/>
                  </a:lnTo>
                  <a:lnTo>
                    <a:pt x="69321" y="165851"/>
                  </a:lnTo>
                  <a:lnTo>
                    <a:pt x="97647" y="129940"/>
                  </a:lnTo>
                  <a:lnTo>
                    <a:pt x="129947" y="97642"/>
                  </a:lnTo>
                  <a:lnTo>
                    <a:pt x="165860" y="69317"/>
                  </a:lnTo>
                  <a:lnTo>
                    <a:pt x="205021" y="45330"/>
                  </a:lnTo>
                  <a:lnTo>
                    <a:pt x="247069" y="26041"/>
                  </a:lnTo>
                  <a:lnTo>
                    <a:pt x="291640" y="11815"/>
                  </a:lnTo>
                  <a:lnTo>
                    <a:pt x="338373" y="3014"/>
                  </a:lnTo>
                  <a:lnTo>
                    <a:pt x="386905" y="0"/>
                  </a:lnTo>
                  <a:lnTo>
                    <a:pt x="435437" y="3014"/>
                  </a:lnTo>
                  <a:lnTo>
                    <a:pt x="482169" y="11815"/>
                  </a:lnTo>
                  <a:lnTo>
                    <a:pt x="526740" y="26041"/>
                  </a:lnTo>
                  <a:lnTo>
                    <a:pt x="568786" y="45330"/>
                  </a:lnTo>
                  <a:lnTo>
                    <a:pt x="607946" y="69317"/>
                  </a:lnTo>
                  <a:lnTo>
                    <a:pt x="643857" y="97642"/>
                  </a:lnTo>
                  <a:lnTo>
                    <a:pt x="676156" y="129940"/>
                  </a:lnTo>
                  <a:lnTo>
                    <a:pt x="704480" y="165851"/>
                  </a:lnTo>
                  <a:lnTo>
                    <a:pt x="728468" y="205011"/>
                  </a:lnTo>
                  <a:lnTo>
                    <a:pt x="747756" y="247058"/>
                  </a:lnTo>
                  <a:lnTo>
                    <a:pt x="761982" y="291628"/>
                  </a:lnTo>
                  <a:lnTo>
                    <a:pt x="770783" y="338361"/>
                  </a:lnTo>
                  <a:lnTo>
                    <a:pt x="773798" y="386892"/>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99" name="object 19">
              <a:extLst>
                <a:ext uri="{FF2B5EF4-FFF2-40B4-BE49-F238E27FC236}">
                  <a16:creationId xmlns:a16="http://schemas.microsoft.com/office/drawing/2014/main" id="{1363DE3D-26AA-F367-16FE-F92CC45A4A02}"/>
                </a:ext>
              </a:extLst>
            </p:cNvPr>
            <p:cNvSpPr/>
            <p:nvPr/>
          </p:nvSpPr>
          <p:spPr>
            <a:xfrm>
              <a:off x="1688357" y="9328247"/>
              <a:ext cx="346075" cy="346075"/>
            </a:xfrm>
            <a:custGeom>
              <a:avLst/>
              <a:gdLst/>
              <a:ahLst/>
              <a:cxnLst/>
              <a:rect l="l" t="t" r="r" b="b"/>
              <a:pathLst>
                <a:path w="346075" h="346075">
                  <a:moveTo>
                    <a:pt x="322706" y="132778"/>
                  </a:moveTo>
                  <a:lnTo>
                    <a:pt x="322706" y="86436"/>
                  </a:lnTo>
                  <a:lnTo>
                    <a:pt x="282562" y="63246"/>
                  </a:lnTo>
                  <a:lnTo>
                    <a:pt x="259422" y="23164"/>
                  </a:lnTo>
                  <a:lnTo>
                    <a:pt x="213042" y="23164"/>
                  </a:lnTo>
                  <a:lnTo>
                    <a:pt x="172935" y="0"/>
                  </a:lnTo>
                  <a:lnTo>
                    <a:pt x="132867" y="23164"/>
                  </a:lnTo>
                  <a:lnTo>
                    <a:pt x="86486" y="23164"/>
                  </a:lnTo>
                  <a:lnTo>
                    <a:pt x="63322" y="63233"/>
                  </a:lnTo>
                  <a:lnTo>
                    <a:pt x="23164" y="86423"/>
                  </a:lnTo>
                  <a:lnTo>
                    <a:pt x="23164" y="132778"/>
                  </a:lnTo>
                  <a:lnTo>
                    <a:pt x="0" y="172935"/>
                  </a:lnTo>
                  <a:lnTo>
                    <a:pt x="23164" y="213067"/>
                  </a:lnTo>
                  <a:lnTo>
                    <a:pt x="23164" y="259372"/>
                  </a:lnTo>
                  <a:lnTo>
                    <a:pt x="63322" y="282549"/>
                  </a:lnTo>
                  <a:lnTo>
                    <a:pt x="86486" y="322643"/>
                  </a:lnTo>
                  <a:lnTo>
                    <a:pt x="132854" y="322643"/>
                  </a:lnTo>
                  <a:lnTo>
                    <a:pt x="172923" y="345808"/>
                  </a:lnTo>
                  <a:lnTo>
                    <a:pt x="213029" y="322643"/>
                  </a:lnTo>
                  <a:lnTo>
                    <a:pt x="259397" y="322643"/>
                  </a:lnTo>
                  <a:lnTo>
                    <a:pt x="282536" y="282549"/>
                  </a:lnTo>
                  <a:lnTo>
                    <a:pt x="322694" y="259372"/>
                  </a:lnTo>
                  <a:lnTo>
                    <a:pt x="322694" y="213080"/>
                  </a:lnTo>
                  <a:lnTo>
                    <a:pt x="345846" y="172935"/>
                  </a:lnTo>
                  <a:lnTo>
                    <a:pt x="322706" y="132778"/>
                  </a:lnTo>
                  <a:close/>
                </a:path>
              </a:pathLst>
            </a:custGeom>
            <a:ln w="20231">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100" name="object 20">
              <a:extLst>
                <a:ext uri="{FF2B5EF4-FFF2-40B4-BE49-F238E27FC236}">
                  <a16:creationId xmlns:a16="http://schemas.microsoft.com/office/drawing/2014/main" id="{519A6940-3359-E291-162B-08ABC06861C1}"/>
                </a:ext>
              </a:extLst>
            </p:cNvPr>
            <p:cNvPicPr/>
            <p:nvPr/>
          </p:nvPicPr>
          <p:blipFill>
            <a:blip r:embed="rId7" cstate="print"/>
            <a:stretch>
              <a:fillRect/>
            </a:stretch>
          </p:blipFill>
          <p:spPr>
            <a:xfrm>
              <a:off x="1770494" y="9652662"/>
              <a:ext cx="181559" cy="204571"/>
            </a:xfrm>
            <a:prstGeom prst="rect">
              <a:avLst/>
            </a:prstGeom>
          </p:spPr>
        </p:pic>
      </p:grpSp>
      <p:sp>
        <p:nvSpPr>
          <p:cNvPr id="101" name="object 21">
            <a:extLst>
              <a:ext uri="{FF2B5EF4-FFF2-40B4-BE49-F238E27FC236}">
                <a16:creationId xmlns:a16="http://schemas.microsoft.com/office/drawing/2014/main" id="{AB704CE0-484A-C4E6-7030-5DCB215312D4}"/>
              </a:ext>
            </a:extLst>
          </p:cNvPr>
          <p:cNvSpPr txBox="1"/>
          <p:nvPr/>
        </p:nvSpPr>
        <p:spPr>
          <a:xfrm>
            <a:off x="1183598" y="6123048"/>
            <a:ext cx="79567" cy="162257"/>
          </a:xfrm>
          <a:prstGeom prst="rect">
            <a:avLst/>
          </a:prstGeom>
        </p:spPr>
        <p:txBody>
          <a:bodyPr vert="horz" wrap="square" lIns="0" tIns="8288" rIns="0" bIns="0" rtlCol="0">
            <a:spAutoFit/>
          </a:bodyPr>
          <a:lstStyle/>
          <a:p>
            <a:pPr marL="8288">
              <a:lnSpc>
                <a:spcPts val="320"/>
              </a:lnSpc>
              <a:spcBef>
                <a:spcPts val="65"/>
              </a:spcBef>
            </a:pPr>
            <a:r>
              <a:rPr sz="326">
                <a:solidFill>
                  <a:srgbClr val="FF0000"/>
                </a:solidFill>
                <a:latin typeface="Suisse Intl" panose="020B0504000000000000" pitchFamily="34" charset="-78"/>
                <a:cs typeface="Suisse Intl" panose="020B0504000000000000" pitchFamily="34" charset="-78"/>
              </a:rPr>
              <a:t>top</a:t>
            </a:r>
            <a:endParaRPr sz="326">
              <a:latin typeface="Suisse Intl" panose="020B0504000000000000" pitchFamily="34" charset="-78"/>
              <a:cs typeface="Suisse Intl" panose="020B0504000000000000" pitchFamily="34" charset="-78"/>
            </a:endParaRPr>
          </a:p>
          <a:p>
            <a:pPr marL="8288">
              <a:lnSpc>
                <a:spcPts val="907"/>
              </a:lnSpc>
            </a:pPr>
            <a:r>
              <a:rPr sz="816">
                <a:solidFill>
                  <a:srgbClr val="FF0000"/>
                </a:solidFill>
                <a:latin typeface="Suisse Intl" panose="020B0504000000000000" pitchFamily="34" charset="-78"/>
                <a:cs typeface="Suisse Intl" panose="020B0504000000000000" pitchFamily="34" charset="-78"/>
              </a:rPr>
              <a:t>5</a:t>
            </a:r>
            <a:endParaRPr sz="816">
              <a:latin typeface="Suisse Intl" panose="020B0504000000000000" pitchFamily="34" charset="-78"/>
              <a:cs typeface="Suisse Intl" panose="020B0504000000000000" pitchFamily="34" charset="-78"/>
            </a:endParaRPr>
          </a:p>
        </p:txBody>
      </p:sp>
      <p:sp>
        <p:nvSpPr>
          <p:cNvPr id="102" name="object 22">
            <a:extLst>
              <a:ext uri="{FF2B5EF4-FFF2-40B4-BE49-F238E27FC236}">
                <a16:creationId xmlns:a16="http://schemas.microsoft.com/office/drawing/2014/main" id="{28D5DDBA-839E-09F7-0519-9AE3369AEFA1}"/>
              </a:ext>
            </a:extLst>
          </p:cNvPr>
          <p:cNvSpPr txBox="1"/>
          <p:nvPr/>
        </p:nvSpPr>
        <p:spPr>
          <a:xfrm>
            <a:off x="1772904" y="7826373"/>
            <a:ext cx="5996635"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Industry-Leading Safety, Environmental and Quality Management System</a:t>
            </a:r>
            <a:endParaRPr sz="1200">
              <a:latin typeface="Suisse Intl" panose="020B0504000000000000" pitchFamily="34" charset="-78"/>
              <a:cs typeface="Suisse Intl" panose="020B0504000000000000" pitchFamily="34" charset="-78"/>
            </a:endParaRPr>
          </a:p>
        </p:txBody>
      </p:sp>
      <p:grpSp>
        <p:nvGrpSpPr>
          <p:cNvPr id="103" name="object 23">
            <a:extLst>
              <a:ext uri="{FF2B5EF4-FFF2-40B4-BE49-F238E27FC236}">
                <a16:creationId xmlns:a16="http://schemas.microsoft.com/office/drawing/2014/main" id="{57EC57CE-0695-1470-5E89-896307D0C7B8}"/>
              </a:ext>
            </a:extLst>
          </p:cNvPr>
          <p:cNvGrpSpPr/>
          <p:nvPr/>
        </p:nvGrpSpPr>
        <p:grpSpPr>
          <a:xfrm>
            <a:off x="753384" y="7465661"/>
            <a:ext cx="1000803" cy="1002875"/>
            <a:chOff x="1141083" y="11439588"/>
            <a:chExt cx="1533525" cy="1536700"/>
          </a:xfrm>
        </p:grpSpPr>
        <p:pic>
          <p:nvPicPr>
            <p:cNvPr id="104" name="object 24">
              <a:extLst>
                <a:ext uri="{FF2B5EF4-FFF2-40B4-BE49-F238E27FC236}">
                  <a16:creationId xmlns:a16="http://schemas.microsoft.com/office/drawing/2014/main" id="{72C31143-100C-C3CD-603F-DA15CC0AF2EC}"/>
                </a:ext>
              </a:extLst>
            </p:cNvPr>
            <p:cNvPicPr/>
            <p:nvPr/>
          </p:nvPicPr>
          <p:blipFill>
            <a:blip r:embed="rId6" cstate="print"/>
            <a:stretch>
              <a:fillRect/>
            </a:stretch>
          </p:blipFill>
          <p:spPr>
            <a:xfrm>
              <a:off x="1141083" y="11439588"/>
              <a:ext cx="1533142" cy="1536188"/>
            </a:xfrm>
            <a:prstGeom prst="rect">
              <a:avLst/>
            </a:prstGeom>
          </p:spPr>
        </p:pic>
        <p:sp>
          <p:nvSpPr>
            <p:cNvPr id="105" name="object 25">
              <a:extLst>
                <a:ext uri="{FF2B5EF4-FFF2-40B4-BE49-F238E27FC236}">
                  <a16:creationId xmlns:a16="http://schemas.microsoft.com/office/drawing/2014/main" id="{A9537155-BE11-AB60-DAC9-FBF8C81CCA2E}"/>
                </a:ext>
              </a:extLst>
            </p:cNvPr>
            <p:cNvSpPr/>
            <p:nvPr/>
          </p:nvSpPr>
          <p:spPr>
            <a:xfrm>
              <a:off x="1433563" y="11712181"/>
              <a:ext cx="855980" cy="855980"/>
            </a:xfrm>
            <a:custGeom>
              <a:avLst/>
              <a:gdLst/>
              <a:ahLst/>
              <a:cxnLst/>
              <a:rect l="l" t="t" r="r" b="b"/>
              <a:pathLst>
                <a:path w="855980" h="855979">
                  <a:moveTo>
                    <a:pt x="855421" y="427710"/>
                  </a:moveTo>
                  <a:lnTo>
                    <a:pt x="852906" y="381114"/>
                  </a:lnTo>
                  <a:lnTo>
                    <a:pt x="845553" y="335965"/>
                  </a:lnTo>
                  <a:lnTo>
                    <a:pt x="833615" y="292519"/>
                  </a:lnTo>
                  <a:lnTo>
                    <a:pt x="817346" y="251066"/>
                  </a:lnTo>
                  <a:lnTo>
                    <a:pt x="797026" y="211836"/>
                  </a:lnTo>
                  <a:lnTo>
                    <a:pt x="772896" y="175120"/>
                  </a:lnTo>
                  <a:lnTo>
                    <a:pt x="745223" y="141147"/>
                  </a:lnTo>
                  <a:lnTo>
                    <a:pt x="714273" y="110197"/>
                  </a:lnTo>
                  <a:lnTo>
                    <a:pt x="680313" y="82524"/>
                  </a:lnTo>
                  <a:lnTo>
                    <a:pt x="643585" y="58394"/>
                  </a:lnTo>
                  <a:lnTo>
                    <a:pt x="604354" y="38074"/>
                  </a:lnTo>
                  <a:lnTo>
                    <a:pt x="562902" y="21805"/>
                  </a:lnTo>
                  <a:lnTo>
                    <a:pt x="519468" y="9867"/>
                  </a:lnTo>
                  <a:lnTo>
                    <a:pt x="474306" y="2514"/>
                  </a:lnTo>
                  <a:lnTo>
                    <a:pt x="427710" y="0"/>
                  </a:lnTo>
                  <a:lnTo>
                    <a:pt x="381101" y="2514"/>
                  </a:lnTo>
                  <a:lnTo>
                    <a:pt x="335953" y="9867"/>
                  </a:lnTo>
                  <a:lnTo>
                    <a:pt x="292519" y="21805"/>
                  </a:lnTo>
                  <a:lnTo>
                    <a:pt x="251053" y="38074"/>
                  </a:lnTo>
                  <a:lnTo>
                    <a:pt x="211836" y="58394"/>
                  </a:lnTo>
                  <a:lnTo>
                    <a:pt x="175107" y="82524"/>
                  </a:lnTo>
                  <a:lnTo>
                    <a:pt x="141135" y="110197"/>
                  </a:lnTo>
                  <a:lnTo>
                    <a:pt x="110185" y="141147"/>
                  </a:lnTo>
                  <a:lnTo>
                    <a:pt x="82524" y="175120"/>
                  </a:lnTo>
                  <a:lnTo>
                    <a:pt x="58394" y="211836"/>
                  </a:lnTo>
                  <a:lnTo>
                    <a:pt x="38061" y="251066"/>
                  </a:lnTo>
                  <a:lnTo>
                    <a:pt x="21805" y="292519"/>
                  </a:lnTo>
                  <a:lnTo>
                    <a:pt x="9867" y="335965"/>
                  </a:lnTo>
                  <a:lnTo>
                    <a:pt x="2501" y="381114"/>
                  </a:lnTo>
                  <a:lnTo>
                    <a:pt x="0" y="427710"/>
                  </a:lnTo>
                  <a:lnTo>
                    <a:pt x="2501" y="474319"/>
                  </a:lnTo>
                  <a:lnTo>
                    <a:pt x="9867" y="519468"/>
                  </a:lnTo>
                  <a:lnTo>
                    <a:pt x="21805" y="562902"/>
                  </a:lnTo>
                  <a:lnTo>
                    <a:pt x="38061" y="604367"/>
                  </a:lnTo>
                  <a:lnTo>
                    <a:pt x="58394" y="643585"/>
                  </a:lnTo>
                  <a:lnTo>
                    <a:pt x="82524" y="680313"/>
                  </a:lnTo>
                  <a:lnTo>
                    <a:pt x="110185" y="714286"/>
                  </a:lnTo>
                  <a:lnTo>
                    <a:pt x="141135" y="745236"/>
                  </a:lnTo>
                  <a:lnTo>
                    <a:pt x="175107" y="772909"/>
                  </a:lnTo>
                  <a:lnTo>
                    <a:pt x="211836" y="797026"/>
                  </a:lnTo>
                  <a:lnTo>
                    <a:pt x="251053" y="817359"/>
                  </a:lnTo>
                  <a:lnTo>
                    <a:pt x="292519" y="833615"/>
                  </a:lnTo>
                  <a:lnTo>
                    <a:pt x="335953" y="845566"/>
                  </a:lnTo>
                  <a:lnTo>
                    <a:pt x="381101" y="852919"/>
                  </a:lnTo>
                  <a:lnTo>
                    <a:pt x="427710" y="855421"/>
                  </a:lnTo>
                  <a:lnTo>
                    <a:pt x="474306" y="852919"/>
                  </a:lnTo>
                  <a:lnTo>
                    <a:pt x="519468" y="845566"/>
                  </a:lnTo>
                  <a:lnTo>
                    <a:pt x="562902" y="833615"/>
                  </a:lnTo>
                  <a:lnTo>
                    <a:pt x="604354" y="817359"/>
                  </a:lnTo>
                  <a:lnTo>
                    <a:pt x="643585" y="797026"/>
                  </a:lnTo>
                  <a:lnTo>
                    <a:pt x="680313" y="772909"/>
                  </a:lnTo>
                  <a:lnTo>
                    <a:pt x="714273" y="745236"/>
                  </a:lnTo>
                  <a:lnTo>
                    <a:pt x="745223" y="714286"/>
                  </a:lnTo>
                  <a:lnTo>
                    <a:pt x="772896" y="680313"/>
                  </a:lnTo>
                  <a:lnTo>
                    <a:pt x="797026" y="643585"/>
                  </a:lnTo>
                  <a:lnTo>
                    <a:pt x="817346" y="604367"/>
                  </a:lnTo>
                  <a:lnTo>
                    <a:pt x="833615" y="562902"/>
                  </a:lnTo>
                  <a:lnTo>
                    <a:pt x="845553" y="519468"/>
                  </a:lnTo>
                  <a:lnTo>
                    <a:pt x="852906" y="474319"/>
                  </a:lnTo>
                  <a:lnTo>
                    <a:pt x="855421" y="42771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06" name="object 26">
              <a:extLst>
                <a:ext uri="{FF2B5EF4-FFF2-40B4-BE49-F238E27FC236}">
                  <a16:creationId xmlns:a16="http://schemas.microsoft.com/office/drawing/2014/main" id="{F7C8185C-3706-00D0-720A-A30F331703E4}"/>
                </a:ext>
              </a:extLst>
            </p:cNvPr>
            <p:cNvSpPr/>
            <p:nvPr/>
          </p:nvSpPr>
          <p:spPr>
            <a:xfrm>
              <a:off x="1474376" y="11752997"/>
              <a:ext cx="774065" cy="774065"/>
            </a:xfrm>
            <a:custGeom>
              <a:avLst/>
              <a:gdLst/>
              <a:ahLst/>
              <a:cxnLst/>
              <a:rect l="l" t="t" r="r" b="b"/>
              <a:pathLst>
                <a:path w="774064" h="774065">
                  <a:moveTo>
                    <a:pt x="773798" y="386892"/>
                  </a:moveTo>
                  <a:lnTo>
                    <a:pt x="770783" y="435424"/>
                  </a:lnTo>
                  <a:lnTo>
                    <a:pt x="761982" y="482156"/>
                  </a:lnTo>
                  <a:lnTo>
                    <a:pt x="747756" y="526727"/>
                  </a:lnTo>
                  <a:lnTo>
                    <a:pt x="728468" y="568774"/>
                  </a:lnTo>
                  <a:lnTo>
                    <a:pt x="704480" y="607934"/>
                  </a:lnTo>
                  <a:lnTo>
                    <a:pt x="676156" y="643844"/>
                  </a:lnTo>
                  <a:lnTo>
                    <a:pt x="643857" y="676143"/>
                  </a:lnTo>
                  <a:lnTo>
                    <a:pt x="607946" y="704467"/>
                  </a:lnTo>
                  <a:lnTo>
                    <a:pt x="568786" y="728455"/>
                  </a:lnTo>
                  <a:lnTo>
                    <a:pt x="526740" y="747743"/>
                  </a:lnTo>
                  <a:lnTo>
                    <a:pt x="482169" y="761969"/>
                  </a:lnTo>
                  <a:lnTo>
                    <a:pt x="435437" y="770771"/>
                  </a:lnTo>
                  <a:lnTo>
                    <a:pt x="386905" y="773785"/>
                  </a:lnTo>
                  <a:lnTo>
                    <a:pt x="338373" y="770771"/>
                  </a:lnTo>
                  <a:lnTo>
                    <a:pt x="291640" y="761969"/>
                  </a:lnTo>
                  <a:lnTo>
                    <a:pt x="247069" y="747743"/>
                  </a:lnTo>
                  <a:lnTo>
                    <a:pt x="205021" y="728455"/>
                  </a:lnTo>
                  <a:lnTo>
                    <a:pt x="165860" y="704467"/>
                  </a:lnTo>
                  <a:lnTo>
                    <a:pt x="129947" y="676143"/>
                  </a:lnTo>
                  <a:lnTo>
                    <a:pt x="97647" y="643844"/>
                  </a:lnTo>
                  <a:lnTo>
                    <a:pt x="69321" y="607934"/>
                  </a:lnTo>
                  <a:lnTo>
                    <a:pt x="45332" y="568774"/>
                  </a:lnTo>
                  <a:lnTo>
                    <a:pt x="26043" y="526727"/>
                  </a:lnTo>
                  <a:lnTo>
                    <a:pt x="11816" y="482156"/>
                  </a:lnTo>
                  <a:lnTo>
                    <a:pt x="3014" y="435424"/>
                  </a:lnTo>
                  <a:lnTo>
                    <a:pt x="0" y="386892"/>
                  </a:lnTo>
                  <a:lnTo>
                    <a:pt x="3014" y="338361"/>
                  </a:lnTo>
                  <a:lnTo>
                    <a:pt x="11816" y="291628"/>
                  </a:lnTo>
                  <a:lnTo>
                    <a:pt x="26043" y="247058"/>
                  </a:lnTo>
                  <a:lnTo>
                    <a:pt x="45332" y="205011"/>
                  </a:lnTo>
                  <a:lnTo>
                    <a:pt x="69321" y="165851"/>
                  </a:lnTo>
                  <a:lnTo>
                    <a:pt x="97647" y="129940"/>
                  </a:lnTo>
                  <a:lnTo>
                    <a:pt x="129947" y="97642"/>
                  </a:lnTo>
                  <a:lnTo>
                    <a:pt x="165860" y="69317"/>
                  </a:lnTo>
                  <a:lnTo>
                    <a:pt x="205021" y="45330"/>
                  </a:lnTo>
                  <a:lnTo>
                    <a:pt x="247069" y="26041"/>
                  </a:lnTo>
                  <a:lnTo>
                    <a:pt x="291640" y="11815"/>
                  </a:lnTo>
                  <a:lnTo>
                    <a:pt x="338373" y="3014"/>
                  </a:lnTo>
                  <a:lnTo>
                    <a:pt x="386905" y="0"/>
                  </a:lnTo>
                  <a:lnTo>
                    <a:pt x="435437" y="3014"/>
                  </a:lnTo>
                  <a:lnTo>
                    <a:pt x="482169" y="11815"/>
                  </a:lnTo>
                  <a:lnTo>
                    <a:pt x="526740" y="26041"/>
                  </a:lnTo>
                  <a:lnTo>
                    <a:pt x="568786" y="45330"/>
                  </a:lnTo>
                  <a:lnTo>
                    <a:pt x="607946" y="69317"/>
                  </a:lnTo>
                  <a:lnTo>
                    <a:pt x="643857" y="97642"/>
                  </a:lnTo>
                  <a:lnTo>
                    <a:pt x="676156" y="129940"/>
                  </a:lnTo>
                  <a:lnTo>
                    <a:pt x="704480" y="165851"/>
                  </a:lnTo>
                  <a:lnTo>
                    <a:pt x="728468" y="205011"/>
                  </a:lnTo>
                  <a:lnTo>
                    <a:pt x="747756" y="247058"/>
                  </a:lnTo>
                  <a:lnTo>
                    <a:pt x="761982" y="291628"/>
                  </a:lnTo>
                  <a:lnTo>
                    <a:pt x="770783" y="338361"/>
                  </a:lnTo>
                  <a:lnTo>
                    <a:pt x="773798" y="386892"/>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07" name="object 27">
              <a:extLst>
                <a:ext uri="{FF2B5EF4-FFF2-40B4-BE49-F238E27FC236}">
                  <a16:creationId xmlns:a16="http://schemas.microsoft.com/office/drawing/2014/main" id="{9285057D-A837-F026-6D37-84404F7F20CF}"/>
                </a:ext>
              </a:extLst>
            </p:cNvPr>
            <p:cNvSpPr/>
            <p:nvPr/>
          </p:nvSpPr>
          <p:spPr>
            <a:xfrm>
              <a:off x="1704604" y="11892310"/>
              <a:ext cx="313690" cy="495300"/>
            </a:xfrm>
            <a:custGeom>
              <a:avLst/>
              <a:gdLst/>
              <a:ahLst/>
              <a:cxnLst/>
              <a:rect l="l" t="t" r="r" b="b"/>
              <a:pathLst>
                <a:path w="313689" h="495300">
                  <a:moveTo>
                    <a:pt x="94005" y="495160"/>
                  </a:moveTo>
                  <a:lnTo>
                    <a:pt x="125336" y="318312"/>
                  </a:lnTo>
                  <a:lnTo>
                    <a:pt x="0" y="265264"/>
                  </a:lnTo>
                  <a:lnTo>
                    <a:pt x="219341" y="0"/>
                  </a:lnTo>
                  <a:lnTo>
                    <a:pt x="188010" y="176847"/>
                  </a:lnTo>
                  <a:lnTo>
                    <a:pt x="313347" y="229895"/>
                  </a:lnTo>
                  <a:lnTo>
                    <a:pt x="94005" y="495160"/>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108" name="object 28">
            <a:extLst>
              <a:ext uri="{FF2B5EF4-FFF2-40B4-BE49-F238E27FC236}">
                <a16:creationId xmlns:a16="http://schemas.microsoft.com/office/drawing/2014/main" id="{6914D754-DF99-3C9B-6AE5-4D3E315AF50A}"/>
              </a:ext>
            </a:extLst>
          </p:cNvPr>
          <p:cNvSpPr txBox="1"/>
          <p:nvPr/>
        </p:nvSpPr>
        <p:spPr>
          <a:xfrm>
            <a:off x="1772905" y="7009537"/>
            <a:ext cx="2387932"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Multi Award Winning Company</a:t>
            </a:r>
            <a:endParaRPr sz="1200">
              <a:latin typeface="Suisse Intl" panose="020B0504000000000000" pitchFamily="34" charset="-78"/>
              <a:cs typeface="Suisse Intl" panose="020B0504000000000000" pitchFamily="34" charset="-78"/>
            </a:endParaRPr>
          </a:p>
        </p:txBody>
      </p:sp>
      <p:grpSp>
        <p:nvGrpSpPr>
          <p:cNvPr id="109" name="object 29">
            <a:extLst>
              <a:ext uri="{FF2B5EF4-FFF2-40B4-BE49-F238E27FC236}">
                <a16:creationId xmlns:a16="http://schemas.microsoft.com/office/drawing/2014/main" id="{69CAD62C-E62E-44AF-7C03-FF2C383564A9}"/>
              </a:ext>
            </a:extLst>
          </p:cNvPr>
          <p:cNvGrpSpPr/>
          <p:nvPr/>
        </p:nvGrpSpPr>
        <p:grpSpPr>
          <a:xfrm>
            <a:off x="753384" y="6650100"/>
            <a:ext cx="1000803" cy="1000803"/>
            <a:chOff x="1141083" y="10189908"/>
            <a:chExt cx="1533525" cy="1533525"/>
          </a:xfrm>
        </p:grpSpPr>
        <p:pic>
          <p:nvPicPr>
            <p:cNvPr id="110" name="object 30">
              <a:extLst>
                <a:ext uri="{FF2B5EF4-FFF2-40B4-BE49-F238E27FC236}">
                  <a16:creationId xmlns:a16="http://schemas.microsoft.com/office/drawing/2014/main" id="{493FCECA-BC7E-F32A-8BC9-5405158861CB}"/>
                </a:ext>
              </a:extLst>
            </p:cNvPr>
            <p:cNvPicPr/>
            <p:nvPr/>
          </p:nvPicPr>
          <p:blipFill>
            <a:blip r:embed="rId8" cstate="print"/>
            <a:stretch>
              <a:fillRect/>
            </a:stretch>
          </p:blipFill>
          <p:spPr>
            <a:xfrm>
              <a:off x="1141083" y="10189908"/>
              <a:ext cx="1533142" cy="1533140"/>
            </a:xfrm>
            <a:prstGeom prst="rect">
              <a:avLst/>
            </a:prstGeom>
          </p:spPr>
        </p:pic>
        <p:sp>
          <p:nvSpPr>
            <p:cNvPr id="111" name="object 31">
              <a:extLst>
                <a:ext uri="{FF2B5EF4-FFF2-40B4-BE49-F238E27FC236}">
                  <a16:creationId xmlns:a16="http://schemas.microsoft.com/office/drawing/2014/main" id="{8EAD7D6A-CF74-9FEC-60DE-F1C41740E1ED}"/>
                </a:ext>
              </a:extLst>
            </p:cNvPr>
            <p:cNvSpPr/>
            <p:nvPr/>
          </p:nvSpPr>
          <p:spPr>
            <a:xfrm>
              <a:off x="1433563" y="10459859"/>
              <a:ext cx="855980" cy="855980"/>
            </a:xfrm>
            <a:custGeom>
              <a:avLst/>
              <a:gdLst/>
              <a:ahLst/>
              <a:cxnLst/>
              <a:rect l="l" t="t" r="r" b="b"/>
              <a:pathLst>
                <a:path w="855980" h="855979">
                  <a:moveTo>
                    <a:pt x="855421" y="427710"/>
                  </a:moveTo>
                  <a:lnTo>
                    <a:pt x="852906" y="381114"/>
                  </a:lnTo>
                  <a:lnTo>
                    <a:pt x="845553" y="335965"/>
                  </a:lnTo>
                  <a:lnTo>
                    <a:pt x="833615" y="292519"/>
                  </a:lnTo>
                  <a:lnTo>
                    <a:pt x="817346" y="251066"/>
                  </a:lnTo>
                  <a:lnTo>
                    <a:pt x="797026" y="211836"/>
                  </a:lnTo>
                  <a:lnTo>
                    <a:pt x="772896" y="175107"/>
                  </a:lnTo>
                  <a:lnTo>
                    <a:pt x="745223" y="141147"/>
                  </a:lnTo>
                  <a:lnTo>
                    <a:pt x="714273" y="110197"/>
                  </a:lnTo>
                  <a:lnTo>
                    <a:pt x="680313" y="82524"/>
                  </a:lnTo>
                  <a:lnTo>
                    <a:pt x="643585" y="58394"/>
                  </a:lnTo>
                  <a:lnTo>
                    <a:pt x="604354" y="38074"/>
                  </a:lnTo>
                  <a:lnTo>
                    <a:pt x="562902" y="21805"/>
                  </a:lnTo>
                  <a:lnTo>
                    <a:pt x="519468" y="9867"/>
                  </a:lnTo>
                  <a:lnTo>
                    <a:pt x="474306" y="2514"/>
                  </a:lnTo>
                  <a:lnTo>
                    <a:pt x="427710" y="0"/>
                  </a:lnTo>
                  <a:lnTo>
                    <a:pt x="381101" y="2514"/>
                  </a:lnTo>
                  <a:lnTo>
                    <a:pt x="335953" y="9867"/>
                  </a:lnTo>
                  <a:lnTo>
                    <a:pt x="292519" y="21805"/>
                  </a:lnTo>
                  <a:lnTo>
                    <a:pt x="251053" y="38074"/>
                  </a:lnTo>
                  <a:lnTo>
                    <a:pt x="211836" y="58394"/>
                  </a:lnTo>
                  <a:lnTo>
                    <a:pt x="175107" y="82524"/>
                  </a:lnTo>
                  <a:lnTo>
                    <a:pt x="141135" y="110197"/>
                  </a:lnTo>
                  <a:lnTo>
                    <a:pt x="110185" y="141147"/>
                  </a:lnTo>
                  <a:lnTo>
                    <a:pt x="82524" y="175107"/>
                  </a:lnTo>
                  <a:lnTo>
                    <a:pt x="58394" y="211836"/>
                  </a:lnTo>
                  <a:lnTo>
                    <a:pt x="38061" y="251066"/>
                  </a:lnTo>
                  <a:lnTo>
                    <a:pt x="21805" y="292519"/>
                  </a:lnTo>
                  <a:lnTo>
                    <a:pt x="9867" y="335965"/>
                  </a:lnTo>
                  <a:lnTo>
                    <a:pt x="2501" y="381114"/>
                  </a:lnTo>
                  <a:lnTo>
                    <a:pt x="0" y="427710"/>
                  </a:lnTo>
                  <a:lnTo>
                    <a:pt x="2501" y="474319"/>
                  </a:lnTo>
                  <a:lnTo>
                    <a:pt x="9867" y="519468"/>
                  </a:lnTo>
                  <a:lnTo>
                    <a:pt x="21805" y="562902"/>
                  </a:lnTo>
                  <a:lnTo>
                    <a:pt x="38061" y="604367"/>
                  </a:lnTo>
                  <a:lnTo>
                    <a:pt x="58394" y="643585"/>
                  </a:lnTo>
                  <a:lnTo>
                    <a:pt x="82524" y="680313"/>
                  </a:lnTo>
                  <a:lnTo>
                    <a:pt x="110185" y="714286"/>
                  </a:lnTo>
                  <a:lnTo>
                    <a:pt x="141135" y="745236"/>
                  </a:lnTo>
                  <a:lnTo>
                    <a:pt x="175107" y="772896"/>
                  </a:lnTo>
                  <a:lnTo>
                    <a:pt x="211836" y="797026"/>
                  </a:lnTo>
                  <a:lnTo>
                    <a:pt x="251053" y="817359"/>
                  </a:lnTo>
                  <a:lnTo>
                    <a:pt x="292519" y="833615"/>
                  </a:lnTo>
                  <a:lnTo>
                    <a:pt x="335953" y="845566"/>
                  </a:lnTo>
                  <a:lnTo>
                    <a:pt x="381101" y="852919"/>
                  </a:lnTo>
                  <a:lnTo>
                    <a:pt x="427710" y="855421"/>
                  </a:lnTo>
                  <a:lnTo>
                    <a:pt x="474306" y="852919"/>
                  </a:lnTo>
                  <a:lnTo>
                    <a:pt x="519468" y="845566"/>
                  </a:lnTo>
                  <a:lnTo>
                    <a:pt x="562902" y="833615"/>
                  </a:lnTo>
                  <a:lnTo>
                    <a:pt x="604354" y="817359"/>
                  </a:lnTo>
                  <a:lnTo>
                    <a:pt x="643585" y="797026"/>
                  </a:lnTo>
                  <a:lnTo>
                    <a:pt x="680313" y="772896"/>
                  </a:lnTo>
                  <a:lnTo>
                    <a:pt x="714273" y="745236"/>
                  </a:lnTo>
                  <a:lnTo>
                    <a:pt x="745223" y="714286"/>
                  </a:lnTo>
                  <a:lnTo>
                    <a:pt x="772896" y="680313"/>
                  </a:lnTo>
                  <a:lnTo>
                    <a:pt x="797026" y="643585"/>
                  </a:lnTo>
                  <a:lnTo>
                    <a:pt x="817346" y="604367"/>
                  </a:lnTo>
                  <a:lnTo>
                    <a:pt x="833615" y="562902"/>
                  </a:lnTo>
                  <a:lnTo>
                    <a:pt x="845553" y="519468"/>
                  </a:lnTo>
                  <a:lnTo>
                    <a:pt x="852906" y="474319"/>
                  </a:lnTo>
                  <a:lnTo>
                    <a:pt x="855421" y="42771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12" name="object 32">
              <a:extLst>
                <a:ext uri="{FF2B5EF4-FFF2-40B4-BE49-F238E27FC236}">
                  <a16:creationId xmlns:a16="http://schemas.microsoft.com/office/drawing/2014/main" id="{2591B86C-6F8D-D3AF-C642-37B010841B06}"/>
                </a:ext>
              </a:extLst>
            </p:cNvPr>
            <p:cNvSpPr/>
            <p:nvPr/>
          </p:nvSpPr>
          <p:spPr>
            <a:xfrm>
              <a:off x="1474376" y="10500674"/>
              <a:ext cx="774065" cy="774065"/>
            </a:xfrm>
            <a:custGeom>
              <a:avLst/>
              <a:gdLst/>
              <a:ahLst/>
              <a:cxnLst/>
              <a:rect l="l" t="t" r="r" b="b"/>
              <a:pathLst>
                <a:path w="774064" h="774065">
                  <a:moveTo>
                    <a:pt x="773798" y="386892"/>
                  </a:moveTo>
                  <a:lnTo>
                    <a:pt x="770783" y="435424"/>
                  </a:lnTo>
                  <a:lnTo>
                    <a:pt x="761982" y="482156"/>
                  </a:lnTo>
                  <a:lnTo>
                    <a:pt x="747756" y="526727"/>
                  </a:lnTo>
                  <a:lnTo>
                    <a:pt x="728468" y="568774"/>
                  </a:lnTo>
                  <a:lnTo>
                    <a:pt x="704480" y="607934"/>
                  </a:lnTo>
                  <a:lnTo>
                    <a:pt x="676156" y="643844"/>
                  </a:lnTo>
                  <a:lnTo>
                    <a:pt x="643857" y="676143"/>
                  </a:lnTo>
                  <a:lnTo>
                    <a:pt x="607946" y="704467"/>
                  </a:lnTo>
                  <a:lnTo>
                    <a:pt x="568786" y="728455"/>
                  </a:lnTo>
                  <a:lnTo>
                    <a:pt x="526740" y="747743"/>
                  </a:lnTo>
                  <a:lnTo>
                    <a:pt x="482169" y="761969"/>
                  </a:lnTo>
                  <a:lnTo>
                    <a:pt x="435437" y="770771"/>
                  </a:lnTo>
                  <a:lnTo>
                    <a:pt x="386905" y="773785"/>
                  </a:lnTo>
                  <a:lnTo>
                    <a:pt x="338373" y="770771"/>
                  </a:lnTo>
                  <a:lnTo>
                    <a:pt x="291640" y="761969"/>
                  </a:lnTo>
                  <a:lnTo>
                    <a:pt x="247069" y="747743"/>
                  </a:lnTo>
                  <a:lnTo>
                    <a:pt x="205021" y="728455"/>
                  </a:lnTo>
                  <a:lnTo>
                    <a:pt x="165860" y="704467"/>
                  </a:lnTo>
                  <a:lnTo>
                    <a:pt x="129947" y="676143"/>
                  </a:lnTo>
                  <a:lnTo>
                    <a:pt x="97647" y="643844"/>
                  </a:lnTo>
                  <a:lnTo>
                    <a:pt x="69321" y="607934"/>
                  </a:lnTo>
                  <a:lnTo>
                    <a:pt x="45332" y="568774"/>
                  </a:lnTo>
                  <a:lnTo>
                    <a:pt x="26043" y="526727"/>
                  </a:lnTo>
                  <a:lnTo>
                    <a:pt x="11816" y="482156"/>
                  </a:lnTo>
                  <a:lnTo>
                    <a:pt x="3014" y="435424"/>
                  </a:lnTo>
                  <a:lnTo>
                    <a:pt x="0" y="386892"/>
                  </a:lnTo>
                  <a:lnTo>
                    <a:pt x="3014" y="338361"/>
                  </a:lnTo>
                  <a:lnTo>
                    <a:pt x="11816" y="291628"/>
                  </a:lnTo>
                  <a:lnTo>
                    <a:pt x="26043" y="247058"/>
                  </a:lnTo>
                  <a:lnTo>
                    <a:pt x="45332" y="205011"/>
                  </a:lnTo>
                  <a:lnTo>
                    <a:pt x="69321" y="165851"/>
                  </a:lnTo>
                  <a:lnTo>
                    <a:pt x="97647" y="129940"/>
                  </a:lnTo>
                  <a:lnTo>
                    <a:pt x="129947" y="97642"/>
                  </a:lnTo>
                  <a:lnTo>
                    <a:pt x="165860" y="69317"/>
                  </a:lnTo>
                  <a:lnTo>
                    <a:pt x="205021" y="45330"/>
                  </a:lnTo>
                  <a:lnTo>
                    <a:pt x="247069" y="26041"/>
                  </a:lnTo>
                  <a:lnTo>
                    <a:pt x="291640" y="11815"/>
                  </a:lnTo>
                  <a:lnTo>
                    <a:pt x="338373" y="3014"/>
                  </a:lnTo>
                  <a:lnTo>
                    <a:pt x="386905" y="0"/>
                  </a:lnTo>
                  <a:lnTo>
                    <a:pt x="435437" y="3014"/>
                  </a:lnTo>
                  <a:lnTo>
                    <a:pt x="482169" y="11815"/>
                  </a:lnTo>
                  <a:lnTo>
                    <a:pt x="526740" y="26041"/>
                  </a:lnTo>
                  <a:lnTo>
                    <a:pt x="568786" y="45330"/>
                  </a:lnTo>
                  <a:lnTo>
                    <a:pt x="607946" y="69317"/>
                  </a:lnTo>
                  <a:lnTo>
                    <a:pt x="643857" y="97642"/>
                  </a:lnTo>
                  <a:lnTo>
                    <a:pt x="676156" y="129940"/>
                  </a:lnTo>
                  <a:lnTo>
                    <a:pt x="704480" y="165851"/>
                  </a:lnTo>
                  <a:lnTo>
                    <a:pt x="728468" y="205011"/>
                  </a:lnTo>
                  <a:lnTo>
                    <a:pt x="747756" y="247058"/>
                  </a:lnTo>
                  <a:lnTo>
                    <a:pt x="761982" y="291628"/>
                  </a:lnTo>
                  <a:lnTo>
                    <a:pt x="770783" y="338361"/>
                  </a:lnTo>
                  <a:lnTo>
                    <a:pt x="773798" y="386892"/>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113" name="object 33">
              <a:extLst>
                <a:ext uri="{FF2B5EF4-FFF2-40B4-BE49-F238E27FC236}">
                  <a16:creationId xmlns:a16="http://schemas.microsoft.com/office/drawing/2014/main" id="{3C32AF31-A5CC-1666-89F8-3FD66C495B95}"/>
                </a:ext>
              </a:extLst>
            </p:cNvPr>
            <p:cNvPicPr/>
            <p:nvPr/>
          </p:nvPicPr>
          <p:blipFill>
            <a:blip r:embed="rId9" cstate="print"/>
            <a:stretch>
              <a:fillRect/>
            </a:stretch>
          </p:blipFill>
          <p:spPr>
            <a:xfrm>
              <a:off x="1653797" y="10903469"/>
              <a:ext cx="166928" cy="159727"/>
            </a:xfrm>
            <a:prstGeom prst="rect">
              <a:avLst/>
            </a:prstGeom>
          </p:spPr>
        </p:pic>
        <p:sp>
          <p:nvSpPr>
            <p:cNvPr id="114" name="object 34">
              <a:extLst>
                <a:ext uri="{FF2B5EF4-FFF2-40B4-BE49-F238E27FC236}">
                  <a16:creationId xmlns:a16="http://schemas.microsoft.com/office/drawing/2014/main" id="{DCDA45D4-4758-9040-34F6-126D808DFC7E}"/>
                </a:ext>
              </a:extLst>
            </p:cNvPr>
            <p:cNvSpPr/>
            <p:nvPr/>
          </p:nvSpPr>
          <p:spPr>
            <a:xfrm>
              <a:off x="1745786" y="10673343"/>
              <a:ext cx="259079" cy="243204"/>
            </a:xfrm>
            <a:custGeom>
              <a:avLst/>
              <a:gdLst/>
              <a:ahLst/>
              <a:cxnLst/>
              <a:rect l="l" t="t" r="r" b="b"/>
              <a:pathLst>
                <a:path w="259080" h="243204">
                  <a:moveTo>
                    <a:pt x="257492" y="92417"/>
                  </a:moveTo>
                  <a:lnTo>
                    <a:pt x="258559" y="93332"/>
                  </a:lnTo>
                  <a:lnTo>
                    <a:pt x="251764" y="99580"/>
                  </a:lnTo>
                  <a:lnTo>
                    <a:pt x="250786" y="100507"/>
                  </a:lnTo>
                  <a:lnTo>
                    <a:pt x="243171" y="107677"/>
                  </a:lnTo>
                  <a:lnTo>
                    <a:pt x="235467" y="114796"/>
                  </a:lnTo>
                  <a:lnTo>
                    <a:pt x="227787" y="121937"/>
                  </a:lnTo>
                  <a:lnTo>
                    <a:pt x="198603" y="150644"/>
                  </a:lnTo>
                  <a:lnTo>
                    <a:pt x="194335" y="156781"/>
                  </a:lnTo>
                  <a:lnTo>
                    <a:pt x="194652" y="159029"/>
                  </a:lnTo>
                  <a:lnTo>
                    <a:pt x="194818" y="160934"/>
                  </a:lnTo>
                  <a:lnTo>
                    <a:pt x="209042" y="243141"/>
                  </a:lnTo>
                  <a:lnTo>
                    <a:pt x="194622" y="235777"/>
                  </a:lnTo>
                  <a:lnTo>
                    <a:pt x="180322" y="228142"/>
                  </a:lnTo>
                  <a:lnTo>
                    <a:pt x="166034" y="220488"/>
                  </a:lnTo>
                  <a:lnTo>
                    <a:pt x="151650" y="213067"/>
                  </a:lnTo>
                  <a:lnTo>
                    <a:pt x="147066" y="210781"/>
                  </a:lnTo>
                  <a:lnTo>
                    <a:pt x="132727" y="202691"/>
                  </a:lnTo>
                  <a:lnTo>
                    <a:pt x="128727" y="202730"/>
                  </a:lnTo>
                  <a:lnTo>
                    <a:pt x="125958" y="202755"/>
                  </a:lnTo>
                  <a:lnTo>
                    <a:pt x="115417" y="208724"/>
                  </a:lnTo>
                  <a:lnTo>
                    <a:pt x="112128" y="210375"/>
                  </a:lnTo>
                  <a:lnTo>
                    <a:pt x="96525" y="218508"/>
                  </a:lnTo>
                  <a:lnTo>
                    <a:pt x="81045" y="226907"/>
                  </a:lnTo>
                  <a:lnTo>
                    <a:pt x="65526" y="235235"/>
                  </a:lnTo>
                  <a:lnTo>
                    <a:pt x="49809" y="243154"/>
                  </a:lnTo>
                  <a:lnTo>
                    <a:pt x="63576" y="160934"/>
                  </a:lnTo>
                  <a:lnTo>
                    <a:pt x="63512" y="154952"/>
                  </a:lnTo>
                  <a:lnTo>
                    <a:pt x="0" y="92417"/>
                  </a:lnTo>
                  <a:lnTo>
                    <a:pt x="87363" y="79743"/>
                  </a:lnTo>
                  <a:lnTo>
                    <a:pt x="91694" y="75095"/>
                  </a:lnTo>
                  <a:lnTo>
                    <a:pt x="128308" y="0"/>
                  </a:lnTo>
                  <a:lnTo>
                    <a:pt x="169240" y="78828"/>
                  </a:lnTo>
                  <a:lnTo>
                    <a:pt x="172186" y="80797"/>
                  </a:lnTo>
                  <a:lnTo>
                    <a:pt x="175755" y="80886"/>
                  </a:lnTo>
                  <a:lnTo>
                    <a:pt x="179146" y="81495"/>
                  </a:lnTo>
                  <a:lnTo>
                    <a:pt x="198645" y="84593"/>
                  </a:lnTo>
                  <a:lnTo>
                    <a:pt x="218281" y="87142"/>
                  </a:lnTo>
                  <a:lnTo>
                    <a:pt x="237935" y="89598"/>
                  </a:lnTo>
                  <a:lnTo>
                    <a:pt x="257492" y="92417"/>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115" name="object 35">
              <a:extLst>
                <a:ext uri="{FF2B5EF4-FFF2-40B4-BE49-F238E27FC236}">
                  <a16:creationId xmlns:a16="http://schemas.microsoft.com/office/drawing/2014/main" id="{17AB2801-86F4-6886-E8B3-1FF986D6C7EE}"/>
                </a:ext>
              </a:extLst>
            </p:cNvPr>
            <p:cNvPicPr/>
            <p:nvPr/>
          </p:nvPicPr>
          <p:blipFill>
            <a:blip r:embed="rId10" cstate="print"/>
            <a:stretch>
              <a:fillRect/>
            </a:stretch>
          </p:blipFill>
          <p:spPr>
            <a:xfrm>
              <a:off x="1929236" y="10903469"/>
              <a:ext cx="166928" cy="159727"/>
            </a:xfrm>
            <a:prstGeom prst="rect">
              <a:avLst/>
            </a:prstGeom>
          </p:spPr>
        </p:pic>
      </p:grpSp>
      <p:sp>
        <p:nvSpPr>
          <p:cNvPr id="116" name="object 36">
            <a:extLst>
              <a:ext uri="{FF2B5EF4-FFF2-40B4-BE49-F238E27FC236}">
                <a16:creationId xmlns:a16="http://schemas.microsoft.com/office/drawing/2014/main" id="{63DF287B-0F3C-25D9-E251-E1BB788E4B8E}"/>
              </a:ext>
            </a:extLst>
          </p:cNvPr>
          <p:cNvSpPr txBox="1"/>
          <p:nvPr/>
        </p:nvSpPr>
        <p:spPr>
          <a:xfrm>
            <a:off x="1772904" y="9453176"/>
            <a:ext cx="2721406" cy="193035"/>
          </a:xfrm>
          <a:prstGeom prst="rect">
            <a:avLst/>
          </a:prstGeom>
        </p:spPr>
        <p:txBody>
          <a:bodyPr vert="horz" wrap="square" lIns="0" tIns="8288" rIns="0" bIns="0" rtlCol="0">
            <a:spAutoFit/>
          </a:bodyPr>
          <a:lstStyle/>
          <a:p>
            <a:pPr marL="8288">
              <a:spcBef>
                <a:spcPts val="65"/>
              </a:spcBef>
            </a:pPr>
            <a:r>
              <a:rPr sz="1200">
                <a:solidFill>
                  <a:srgbClr val="191919"/>
                </a:solidFill>
                <a:latin typeface="Suisse Intl" panose="020B0504000000000000" pitchFamily="34" charset="-78"/>
                <a:cs typeface="Suisse Intl" panose="020B0504000000000000" pitchFamily="34" charset="-78"/>
              </a:rPr>
              <a:t>ISO Certified Management System</a:t>
            </a:r>
            <a:endParaRPr sz="1200">
              <a:latin typeface="Suisse Intl" panose="020B0504000000000000" pitchFamily="34" charset="-78"/>
              <a:cs typeface="Suisse Intl" panose="020B0504000000000000" pitchFamily="34" charset="-78"/>
            </a:endParaRPr>
          </a:p>
        </p:txBody>
      </p:sp>
      <p:pic>
        <p:nvPicPr>
          <p:cNvPr id="117" name="object 38">
            <a:extLst>
              <a:ext uri="{FF2B5EF4-FFF2-40B4-BE49-F238E27FC236}">
                <a16:creationId xmlns:a16="http://schemas.microsoft.com/office/drawing/2014/main" id="{83B40B63-CFFC-9ACC-A9F0-1EB913513F55}"/>
              </a:ext>
            </a:extLst>
          </p:cNvPr>
          <p:cNvPicPr/>
          <p:nvPr/>
        </p:nvPicPr>
        <p:blipFill>
          <a:blip r:embed="rId11" cstate="print"/>
          <a:stretch>
            <a:fillRect/>
          </a:stretch>
        </p:blipFill>
        <p:spPr>
          <a:xfrm>
            <a:off x="753384" y="9094795"/>
            <a:ext cx="1000553" cy="1000552"/>
          </a:xfrm>
          <a:prstGeom prst="rect">
            <a:avLst/>
          </a:prstGeom>
        </p:spPr>
      </p:pic>
      <p:sp>
        <p:nvSpPr>
          <p:cNvPr id="118" name="object 39">
            <a:extLst>
              <a:ext uri="{FF2B5EF4-FFF2-40B4-BE49-F238E27FC236}">
                <a16:creationId xmlns:a16="http://schemas.microsoft.com/office/drawing/2014/main" id="{5668810B-25DD-10B1-FC68-A1B180DE708B}"/>
              </a:ext>
            </a:extLst>
          </p:cNvPr>
          <p:cNvSpPr/>
          <p:nvPr/>
        </p:nvSpPr>
        <p:spPr>
          <a:xfrm>
            <a:off x="944261" y="9271459"/>
            <a:ext cx="558626" cy="558626"/>
          </a:xfrm>
          <a:custGeom>
            <a:avLst/>
            <a:gdLst/>
            <a:ahLst/>
            <a:cxnLst/>
            <a:rect l="l" t="t" r="r" b="b"/>
            <a:pathLst>
              <a:path w="855980" h="855980">
                <a:moveTo>
                  <a:pt x="855421" y="427710"/>
                </a:moveTo>
                <a:lnTo>
                  <a:pt x="852906" y="381101"/>
                </a:lnTo>
                <a:lnTo>
                  <a:pt x="845553" y="335953"/>
                </a:lnTo>
                <a:lnTo>
                  <a:pt x="833615" y="292519"/>
                </a:lnTo>
                <a:lnTo>
                  <a:pt x="817346" y="251053"/>
                </a:lnTo>
                <a:lnTo>
                  <a:pt x="797026" y="211836"/>
                </a:lnTo>
                <a:lnTo>
                  <a:pt x="772896" y="175107"/>
                </a:lnTo>
                <a:lnTo>
                  <a:pt x="745223" y="141135"/>
                </a:lnTo>
                <a:lnTo>
                  <a:pt x="714273" y="110185"/>
                </a:lnTo>
                <a:lnTo>
                  <a:pt x="680313" y="82524"/>
                </a:lnTo>
                <a:lnTo>
                  <a:pt x="643585" y="58394"/>
                </a:lnTo>
                <a:lnTo>
                  <a:pt x="604354" y="38061"/>
                </a:lnTo>
                <a:lnTo>
                  <a:pt x="562902" y="21805"/>
                </a:lnTo>
                <a:lnTo>
                  <a:pt x="519468" y="9867"/>
                </a:lnTo>
                <a:lnTo>
                  <a:pt x="474306" y="2501"/>
                </a:lnTo>
                <a:lnTo>
                  <a:pt x="427710" y="0"/>
                </a:lnTo>
                <a:lnTo>
                  <a:pt x="381101" y="2501"/>
                </a:lnTo>
                <a:lnTo>
                  <a:pt x="335953" y="9867"/>
                </a:lnTo>
                <a:lnTo>
                  <a:pt x="292519" y="21805"/>
                </a:lnTo>
                <a:lnTo>
                  <a:pt x="251053" y="38061"/>
                </a:lnTo>
                <a:lnTo>
                  <a:pt x="211836" y="58394"/>
                </a:lnTo>
                <a:lnTo>
                  <a:pt x="175107" y="82524"/>
                </a:lnTo>
                <a:lnTo>
                  <a:pt x="141135" y="110185"/>
                </a:lnTo>
                <a:lnTo>
                  <a:pt x="110185" y="141135"/>
                </a:lnTo>
                <a:lnTo>
                  <a:pt x="82524" y="175107"/>
                </a:lnTo>
                <a:lnTo>
                  <a:pt x="58394" y="211836"/>
                </a:lnTo>
                <a:lnTo>
                  <a:pt x="38061" y="251053"/>
                </a:lnTo>
                <a:lnTo>
                  <a:pt x="21805" y="292519"/>
                </a:lnTo>
                <a:lnTo>
                  <a:pt x="9867" y="335953"/>
                </a:lnTo>
                <a:lnTo>
                  <a:pt x="2501" y="381101"/>
                </a:lnTo>
                <a:lnTo>
                  <a:pt x="0" y="427710"/>
                </a:lnTo>
                <a:lnTo>
                  <a:pt x="2501" y="474306"/>
                </a:lnTo>
                <a:lnTo>
                  <a:pt x="9867" y="519468"/>
                </a:lnTo>
                <a:lnTo>
                  <a:pt x="21805" y="562902"/>
                </a:lnTo>
                <a:lnTo>
                  <a:pt x="38061" y="604354"/>
                </a:lnTo>
                <a:lnTo>
                  <a:pt x="58394" y="643585"/>
                </a:lnTo>
                <a:lnTo>
                  <a:pt x="82524" y="680313"/>
                </a:lnTo>
                <a:lnTo>
                  <a:pt x="110185" y="714273"/>
                </a:lnTo>
                <a:lnTo>
                  <a:pt x="141135" y="745223"/>
                </a:lnTo>
                <a:lnTo>
                  <a:pt x="175107" y="772896"/>
                </a:lnTo>
                <a:lnTo>
                  <a:pt x="211836" y="797026"/>
                </a:lnTo>
                <a:lnTo>
                  <a:pt x="251053" y="817346"/>
                </a:lnTo>
                <a:lnTo>
                  <a:pt x="292519" y="833615"/>
                </a:lnTo>
                <a:lnTo>
                  <a:pt x="335953" y="845553"/>
                </a:lnTo>
                <a:lnTo>
                  <a:pt x="381101" y="852906"/>
                </a:lnTo>
                <a:lnTo>
                  <a:pt x="427710" y="855421"/>
                </a:lnTo>
                <a:lnTo>
                  <a:pt x="474306" y="852906"/>
                </a:lnTo>
                <a:lnTo>
                  <a:pt x="519468" y="845553"/>
                </a:lnTo>
                <a:lnTo>
                  <a:pt x="562902" y="833615"/>
                </a:lnTo>
                <a:lnTo>
                  <a:pt x="604354" y="817346"/>
                </a:lnTo>
                <a:lnTo>
                  <a:pt x="643585" y="797026"/>
                </a:lnTo>
                <a:lnTo>
                  <a:pt x="680313" y="772896"/>
                </a:lnTo>
                <a:lnTo>
                  <a:pt x="714273" y="745223"/>
                </a:lnTo>
                <a:lnTo>
                  <a:pt x="745223" y="714273"/>
                </a:lnTo>
                <a:lnTo>
                  <a:pt x="772896" y="680313"/>
                </a:lnTo>
                <a:lnTo>
                  <a:pt x="797026" y="643585"/>
                </a:lnTo>
                <a:lnTo>
                  <a:pt x="817346" y="604354"/>
                </a:lnTo>
                <a:lnTo>
                  <a:pt x="833615" y="562902"/>
                </a:lnTo>
                <a:lnTo>
                  <a:pt x="845553" y="519468"/>
                </a:lnTo>
                <a:lnTo>
                  <a:pt x="852906" y="474306"/>
                </a:lnTo>
                <a:lnTo>
                  <a:pt x="855421" y="42771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19" name="object 40">
            <a:extLst>
              <a:ext uri="{FF2B5EF4-FFF2-40B4-BE49-F238E27FC236}">
                <a16:creationId xmlns:a16="http://schemas.microsoft.com/office/drawing/2014/main" id="{698C8604-0F33-C247-0DA9-380AEC96CF66}"/>
              </a:ext>
            </a:extLst>
          </p:cNvPr>
          <p:cNvSpPr/>
          <p:nvPr/>
        </p:nvSpPr>
        <p:spPr>
          <a:xfrm>
            <a:off x="970896" y="9298092"/>
            <a:ext cx="505167" cy="505167"/>
          </a:xfrm>
          <a:custGeom>
            <a:avLst/>
            <a:gdLst/>
            <a:ahLst/>
            <a:cxnLst/>
            <a:rect l="l" t="t" r="r" b="b"/>
            <a:pathLst>
              <a:path w="774064" h="774065">
                <a:moveTo>
                  <a:pt x="773798" y="386892"/>
                </a:moveTo>
                <a:lnTo>
                  <a:pt x="770783" y="435424"/>
                </a:lnTo>
                <a:lnTo>
                  <a:pt x="761982" y="482156"/>
                </a:lnTo>
                <a:lnTo>
                  <a:pt x="747756" y="526727"/>
                </a:lnTo>
                <a:lnTo>
                  <a:pt x="728468" y="568774"/>
                </a:lnTo>
                <a:lnTo>
                  <a:pt x="704480" y="607934"/>
                </a:lnTo>
                <a:lnTo>
                  <a:pt x="676156" y="643844"/>
                </a:lnTo>
                <a:lnTo>
                  <a:pt x="643857" y="676143"/>
                </a:lnTo>
                <a:lnTo>
                  <a:pt x="607946" y="704467"/>
                </a:lnTo>
                <a:lnTo>
                  <a:pt x="568786" y="728455"/>
                </a:lnTo>
                <a:lnTo>
                  <a:pt x="526740" y="747743"/>
                </a:lnTo>
                <a:lnTo>
                  <a:pt x="482169" y="761969"/>
                </a:lnTo>
                <a:lnTo>
                  <a:pt x="435437" y="770771"/>
                </a:lnTo>
                <a:lnTo>
                  <a:pt x="386905" y="773785"/>
                </a:lnTo>
                <a:lnTo>
                  <a:pt x="338373" y="770771"/>
                </a:lnTo>
                <a:lnTo>
                  <a:pt x="291640" y="761969"/>
                </a:lnTo>
                <a:lnTo>
                  <a:pt x="247069" y="747743"/>
                </a:lnTo>
                <a:lnTo>
                  <a:pt x="205021" y="728455"/>
                </a:lnTo>
                <a:lnTo>
                  <a:pt x="165860" y="704467"/>
                </a:lnTo>
                <a:lnTo>
                  <a:pt x="129947" y="676143"/>
                </a:lnTo>
                <a:lnTo>
                  <a:pt x="97647" y="643844"/>
                </a:lnTo>
                <a:lnTo>
                  <a:pt x="69321" y="607934"/>
                </a:lnTo>
                <a:lnTo>
                  <a:pt x="45332" y="568774"/>
                </a:lnTo>
                <a:lnTo>
                  <a:pt x="26043" y="526727"/>
                </a:lnTo>
                <a:lnTo>
                  <a:pt x="11816" y="482156"/>
                </a:lnTo>
                <a:lnTo>
                  <a:pt x="3014" y="435424"/>
                </a:lnTo>
                <a:lnTo>
                  <a:pt x="0" y="386892"/>
                </a:lnTo>
                <a:lnTo>
                  <a:pt x="3014" y="338361"/>
                </a:lnTo>
                <a:lnTo>
                  <a:pt x="11816" y="291628"/>
                </a:lnTo>
                <a:lnTo>
                  <a:pt x="26043" y="247058"/>
                </a:lnTo>
                <a:lnTo>
                  <a:pt x="45332" y="205011"/>
                </a:lnTo>
                <a:lnTo>
                  <a:pt x="69321" y="165851"/>
                </a:lnTo>
                <a:lnTo>
                  <a:pt x="97647" y="129940"/>
                </a:lnTo>
                <a:lnTo>
                  <a:pt x="129947" y="97642"/>
                </a:lnTo>
                <a:lnTo>
                  <a:pt x="165860" y="69317"/>
                </a:lnTo>
                <a:lnTo>
                  <a:pt x="205021" y="45330"/>
                </a:lnTo>
                <a:lnTo>
                  <a:pt x="247069" y="26041"/>
                </a:lnTo>
                <a:lnTo>
                  <a:pt x="291640" y="11815"/>
                </a:lnTo>
                <a:lnTo>
                  <a:pt x="338373" y="3014"/>
                </a:lnTo>
                <a:lnTo>
                  <a:pt x="386905" y="0"/>
                </a:lnTo>
                <a:lnTo>
                  <a:pt x="435437" y="3014"/>
                </a:lnTo>
                <a:lnTo>
                  <a:pt x="482169" y="11815"/>
                </a:lnTo>
                <a:lnTo>
                  <a:pt x="526740" y="26041"/>
                </a:lnTo>
                <a:lnTo>
                  <a:pt x="568786" y="45330"/>
                </a:lnTo>
                <a:lnTo>
                  <a:pt x="607946" y="69317"/>
                </a:lnTo>
                <a:lnTo>
                  <a:pt x="643857" y="97642"/>
                </a:lnTo>
                <a:lnTo>
                  <a:pt x="676156" y="129940"/>
                </a:lnTo>
                <a:lnTo>
                  <a:pt x="704480" y="165851"/>
                </a:lnTo>
                <a:lnTo>
                  <a:pt x="728468" y="205011"/>
                </a:lnTo>
                <a:lnTo>
                  <a:pt x="747756" y="247058"/>
                </a:lnTo>
                <a:lnTo>
                  <a:pt x="761982" y="291628"/>
                </a:lnTo>
                <a:lnTo>
                  <a:pt x="770783" y="338361"/>
                </a:lnTo>
                <a:lnTo>
                  <a:pt x="773798" y="386892"/>
                </a:lnTo>
                <a:close/>
              </a:path>
            </a:pathLst>
          </a:custGeom>
          <a:ln w="22479">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120" name="object 41">
            <a:extLst>
              <a:ext uri="{FF2B5EF4-FFF2-40B4-BE49-F238E27FC236}">
                <a16:creationId xmlns:a16="http://schemas.microsoft.com/office/drawing/2014/main" id="{8993B2A9-8F02-A307-4417-143C3A823C52}"/>
              </a:ext>
            </a:extLst>
          </p:cNvPr>
          <p:cNvPicPr/>
          <p:nvPr/>
        </p:nvPicPr>
        <p:blipFill>
          <a:blip r:embed="rId12" cstate="print"/>
          <a:stretch>
            <a:fillRect/>
          </a:stretch>
        </p:blipFill>
        <p:spPr>
          <a:xfrm>
            <a:off x="1016736" y="9354829"/>
            <a:ext cx="413314" cy="374909"/>
          </a:xfrm>
          <a:prstGeom prst="rect">
            <a:avLst/>
          </a:prstGeom>
        </p:spPr>
      </p:pic>
      <p:pic>
        <p:nvPicPr>
          <p:cNvPr id="2" name="object 3">
            <a:extLst>
              <a:ext uri="{FF2B5EF4-FFF2-40B4-BE49-F238E27FC236}">
                <a16:creationId xmlns:a16="http://schemas.microsoft.com/office/drawing/2014/main" id="{A7495408-DA65-F9D7-6D90-9F34387656B8}"/>
              </a:ext>
            </a:extLst>
          </p:cNvPr>
          <p:cNvPicPr/>
          <p:nvPr/>
        </p:nvPicPr>
        <p:blipFill>
          <a:blip r:embed="rId13" cstate="print"/>
          <a:stretch>
            <a:fillRect/>
          </a:stretch>
        </p:blipFill>
        <p:spPr>
          <a:xfrm>
            <a:off x="6286040" y="10185564"/>
            <a:ext cx="788774" cy="271025"/>
          </a:xfrm>
          <a:prstGeom prst="rect">
            <a:avLst/>
          </a:prstGeom>
        </p:spPr>
      </p:pic>
      <p:sp>
        <p:nvSpPr>
          <p:cNvPr id="3" name="object 36">
            <a:extLst>
              <a:ext uri="{FF2B5EF4-FFF2-40B4-BE49-F238E27FC236}">
                <a16:creationId xmlns:a16="http://schemas.microsoft.com/office/drawing/2014/main" id="{B9F0A22A-E408-8997-3B10-E57917001DA4}"/>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a:t>
            </a:r>
            <a:r>
              <a:rPr lang="en-AU" sz="653">
                <a:solidFill>
                  <a:srgbClr val="FF0000"/>
                </a:solidFill>
                <a:latin typeface="Suisse Intl" panose="020B0504000000000000" pitchFamily="34" charset="-78"/>
                <a:cs typeface="Suisse Intl" panose="020B0504000000000000" pitchFamily="34" charset="-78"/>
              </a:rPr>
              <a:t>2</a:t>
            </a:r>
            <a:endParaRPr sz="653">
              <a:latin typeface="Suisse Intl" panose="020B0504000000000000" pitchFamily="34" charset="-78"/>
              <a:cs typeface="Suisse Intl" panose="020B0504000000000000" pitchFamily="34" charset="-78"/>
            </a:endParaRPr>
          </a:p>
        </p:txBody>
      </p:sp>
      <p:sp>
        <p:nvSpPr>
          <p:cNvPr id="4" name="object 22">
            <a:extLst>
              <a:ext uri="{FF2B5EF4-FFF2-40B4-BE49-F238E27FC236}">
                <a16:creationId xmlns:a16="http://schemas.microsoft.com/office/drawing/2014/main" id="{7AF117D5-D3EB-9083-2ED5-5240E4EDAEC8}"/>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DAAFDD4D-CA62-25B7-8827-1A89E412FD13}"/>
              </a:ext>
            </a:extLst>
          </p:cNvPr>
          <p:cNvSpPr txBox="1"/>
          <p:nvPr/>
        </p:nvSpPr>
        <p:spPr>
          <a:xfrm>
            <a:off x="483941" y="1627346"/>
            <a:ext cx="6602400" cy="3433613"/>
          </a:xfrm>
          <a:prstGeom prst="rect">
            <a:avLst/>
          </a:prstGeom>
          <a:ln w="12788">
            <a:noFill/>
          </a:ln>
        </p:spPr>
        <p:txBody>
          <a:bodyPr vert="horz" wrap="square" lIns="0" tIns="98215" rIns="0" bIns="0" rtlCol="0">
            <a:spAutoFit/>
          </a:bodyPr>
          <a:lstStyle/>
          <a:p>
            <a:pPr marL="118800" indent="0">
              <a:lnSpc>
                <a:spcPct val="120000"/>
              </a:lnSpc>
              <a:spcBef>
                <a:spcPts val="0"/>
              </a:spcBef>
              <a:spcAft>
                <a:spcPts val="600"/>
              </a:spcAft>
              <a:buFont typeface="Arial" panose="020B0604020202020204" pitchFamily="34" charset="0"/>
              <a:buNone/>
            </a:pPr>
            <a:r>
              <a:rPr lang="en-AU" sz="1200" dirty="0">
                <a:solidFill>
                  <a:srgbClr val="FF0000"/>
                </a:solidFill>
              </a:rPr>
              <a:t>2,000.0 kWp </a:t>
            </a:r>
            <a:r>
              <a:rPr lang="en-AU" sz="1200" dirty="0">
                <a:solidFill>
                  <a:schemeClr val="tx1"/>
                </a:solidFill>
              </a:rPr>
              <a:t>DC Solar</a:t>
            </a:r>
          </a:p>
          <a:p>
            <a:pPr marL="118800" indent="0">
              <a:lnSpc>
                <a:spcPct val="120000"/>
              </a:lnSpc>
              <a:spcBef>
                <a:spcPts val="0"/>
              </a:spcBef>
              <a:spcAft>
                <a:spcPts val="600"/>
              </a:spcAft>
              <a:buFont typeface="Arial" panose="020B0604020202020204" pitchFamily="34" charset="0"/>
              <a:buNone/>
            </a:pPr>
            <a:r>
              <a:rPr lang="en-AU" sz="1200" dirty="0">
                <a:solidFill>
                  <a:srgbClr val="FF0000"/>
                </a:solidFill>
              </a:rPr>
              <a:t>1,600 kW </a:t>
            </a:r>
            <a:r>
              <a:rPr lang="en-AU" sz="1200" dirty="0">
                <a:solidFill>
                  <a:schemeClr val="tx1"/>
                </a:solidFill>
              </a:rPr>
              <a:t>Solar Inverter</a:t>
            </a:r>
          </a:p>
          <a:p>
            <a:pPr marL="118800" indent="0">
              <a:lnSpc>
                <a:spcPct val="100000"/>
              </a:lnSpc>
              <a:spcAft>
                <a:spcPts val="600"/>
              </a:spcAft>
              <a:buFont typeface="Arial" panose="020B0604020202020204" pitchFamily="34" charset="0"/>
              <a:buNone/>
            </a:pPr>
            <a:endParaRPr lang="en-US" sz="1200" dirty="0">
              <a:solidFill>
                <a:schemeClr val="tx1"/>
              </a:solidFill>
            </a:endParaRPr>
          </a:p>
          <a:p>
            <a:pPr marL="118800" indent="0">
              <a:lnSpc>
                <a:spcPct val="100000"/>
              </a:lnSpc>
              <a:spcAft>
                <a:spcPts val="600"/>
              </a:spcAft>
              <a:buFont typeface="Arial" panose="020B0604020202020204" pitchFamily="34" charset="0"/>
              <a:buNone/>
            </a:pPr>
            <a:r>
              <a:rPr lang="en-US" sz="1200" dirty="0">
                <a:solidFill>
                  <a:schemeClr val="tx1"/>
                </a:solidFill>
              </a:rPr>
              <a:t>This proposed solar solution offers the below est. key metrics: </a:t>
            </a:r>
          </a:p>
          <a:p>
            <a:pPr marL="118800" indent="0">
              <a:lnSpc>
                <a:spcPct val="100000"/>
              </a:lnSpc>
              <a:spcAft>
                <a:spcPts val="600"/>
              </a:spcAft>
              <a:buFont typeface="Arial" panose="020B0604020202020204" pitchFamily="34" charset="0"/>
              <a:buNone/>
            </a:pPr>
            <a:endParaRPr lang="en-US" sz="1200" dirty="0">
              <a:solidFill>
                <a:schemeClr val="tx1"/>
              </a:solidFill>
            </a:endParaRPr>
          </a:p>
          <a:p>
            <a:pPr marL="118800" lvl="1">
              <a:lnSpc>
                <a:spcPct val="100000"/>
              </a:lnSpc>
              <a:spcAft>
                <a:spcPts val="600"/>
              </a:spcAft>
            </a:pPr>
            <a:r>
              <a:rPr lang="en-US" sz="1200" b="1" dirty="0">
                <a:solidFill>
                  <a:schemeClr val="tx1"/>
                </a:solidFill>
              </a:rPr>
              <a:t>Energy Independence: </a:t>
            </a:r>
            <a:r>
              <a:rPr lang="en-AU" sz="1200" i="0" dirty="0">
                <a:solidFill>
                  <a:srgbClr val="FF0000"/>
                </a:solidFill>
                <a:effectLst/>
              </a:rPr>
              <a:t>31.4%</a:t>
            </a:r>
            <a:endParaRPr lang="en-US" sz="1200" dirty="0">
              <a:solidFill>
                <a:srgbClr val="FF0000"/>
              </a:solidFill>
            </a:endParaRPr>
          </a:p>
          <a:p>
            <a:pPr marL="118800" lvl="1">
              <a:lnSpc>
                <a:spcPct val="100000"/>
              </a:lnSpc>
              <a:spcAft>
                <a:spcPts val="600"/>
              </a:spcAft>
            </a:pPr>
            <a:r>
              <a:rPr lang="en-US" sz="1200" b="1" dirty="0">
                <a:solidFill>
                  <a:schemeClr val="tx1"/>
                </a:solidFill>
              </a:rPr>
              <a:t>First Year Earnings: </a:t>
            </a:r>
            <a:r>
              <a:rPr lang="en-AU" sz="1200" b="0" i="0" dirty="0">
                <a:solidFill>
                  <a:srgbClr val="FF0000"/>
                </a:solidFill>
                <a:effectLst/>
              </a:rPr>
              <a:t>$473,542</a:t>
            </a:r>
            <a:endParaRPr lang="en-US" sz="1200" dirty="0">
              <a:solidFill>
                <a:srgbClr val="FF0000"/>
              </a:solidFill>
            </a:endParaRPr>
          </a:p>
          <a:p>
            <a:pPr marL="118800" lvl="1">
              <a:lnSpc>
                <a:spcPct val="100000"/>
              </a:lnSpc>
              <a:spcAft>
                <a:spcPts val="600"/>
              </a:spcAft>
            </a:pPr>
            <a:r>
              <a:rPr lang="en-US" sz="1200" b="1" dirty="0">
                <a:solidFill>
                  <a:schemeClr val="tx1"/>
                </a:solidFill>
              </a:rPr>
              <a:t>Net Upfront Costs: </a:t>
            </a:r>
            <a:r>
              <a:rPr lang="en-AU" sz="1200" b="0" i="0" dirty="0">
                <a:solidFill>
                  <a:srgbClr val="FF0000"/>
                </a:solidFill>
                <a:effectLst/>
              </a:rPr>
              <a:t>-$2,400,000</a:t>
            </a:r>
            <a:endParaRPr lang="en-US" sz="1200" dirty="0">
              <a:solidFill>
                <a:srgbClr val="FF0000"/>
              </a:solidFill>
            </a:endParaRPr>
          </a:p>
          <a:p>
            <a:pPr marL="118800" lvl="1">
              <a:lnSpc>
                <a:spcPct val="100000"/>
              </a:lnSpc>
              <a:spcAft>
                <a:spcPts val="600"/>
              </a:spcAft>
            </a:pPr>
            <a:r>
              <a:rPr lang="en-US" sz="1200" b="1" dirty="0">
                <a:solidFill>
                  <a:schemeClr val="tx1"/>
                </a:solidFill>
              </a:rPr>
              <a:t>Simple payback period: </a:t>
            </a:r>
            <a:r>
              <a:rPr lang="en-AU" sz="1200" b="0" i="0" dirty="0">
                <a:solidFill>
                  <a:srgbClr val="FF0000"/>
                </a:solidFill>
                <a:effectLst/>
              </a:rPr>
              <a:t>5 </a:t>
            </a:r>
            <a:r>
              <a:rPr lang="en-AU" sz="1200" b="0" i="0" dirty="0">
                <a:solidFill>
                  <a:schemeClr val="tx1"/>
                </a:solidFill>
                <a:effectLst/>
              </a:rPr>
              <a:t>years</a:t>
            </a:r>
          </a:p>
          <a:p>
            <a:pPr marL="118800" lvl="1">
              <a:lnSpc>
                <a:spcPct val="100000"/>
              </a:lnSpc>
              <a:spcAft>
                <a:spcPts val="600"/>
              </a:spcAft>
            </a:pPr>
            <a:endParaRPr lang="en-US" sz="1200" dirty="0">
              <a:solidFill>
                <a:schemeClr val="tx1"/>
              </a:solidFill>
            </a:endParaRPr>
          </a:p>
          <a:p>
            <a:pPr marL="118800" indent="0" algn="just">
              <a:lnSpc>
                <a:spcPct val="120000"/>
              </a:lnSpc>
              <a:buNone/>
            </a:pPr>
            <a:r>
              <a:rPr lang="en-AU" sz="1200" dirty="0">
                <a:solidFill>
                  <a:schemeClr val="tx1"/>
                </a:solidFill>
                <a:effectLst/>
              </a:rPr>
              <a:t>Your cutting-edge solar and battery configuration will offset a remarkable 1,470.6 tonnes of CO2 emissions per year – a feat equivalently impactful as 3,382.4 unburned barrels of oil and growing 24,265.0 tree seedlings for 10 years.</a:t>
            </a:r>
          </a:p>
        </p:txBody>
      </p:sp>
      <p:sp>
        <p:nvSpPr>
          <p:cNvPr id="3" name="object 3"/>
          <p:cNvSpPr txBox="1"/>
          <p:nvPr/>
        </p:nvSpPr>
        <p:spPr>
          <a:xfrm>
            <a:off x="470289" y="5453091"/>
            <a:ext cx="2166548" cy="223813"/>
          </a:xfrm>
          <a:prstGeom prst="rect">
            <a:avLst/>
          </a:prstGeom>
        </p:spPr>
        <p:txBody>
          <a:bodyPr vert="horz" wrap="square" lIns="0" tIns="8288" rIns="0" bIns="0" rtlCol="0">
            <a:spAutoFit/>
          </a:bodyPr>
          <a:lstStyle/>
          <a:p>
            <a:pPr marL="8288">
              <a:spcBef>
                <a:spcPts val="65"/>
              </a:spcBef>
            </a:pPr>
            <a:r>
              <a:rPr sz="1400" b="1" dirty="0">
                <a:solidFill>
                  <a:srgbClr val="191919"/>
                </a:solidFill>
                <a:latin typeface="Suisse Intl" panose="020B0504000000000000" pitchFamily="34" charset="-78"/>
                <a:cs typeface="Suisse Intl" panose="020B0504000000000000" pitchFamily="34" charset="-78"/>
              </a:rPr>
              <a:t>RECOMMENDATIONS</a:t>
            </a:r>
            <a:endParaRPr sz="1400" dirty="0">
              <a:latin typeface="Suisse Intl" panose="020B0504000000000000" pitchFamily="34" charset="-78"/>
              <a:cs typeface="Suisse Intl" panose="020B0504000000000000" pitchFamily="34" charset="-78"/>
            </a:endParaRPr>
          </a:p>
        </p:txBody>
      </p:sp>
      <p:sp>
        <p:nvSpPr>
          <p:cNvPr id="4" name="object 4"/>
          <p:cNvSpPr txBox="1"/>
          <p:nvPr/>
        </p:nvSpPr>
        <p:spPr>
          <a:xfrm>
            <a:off x="470289" y="7693433"/>
            <a:ext cx="1272476" cy="223813"/>
          </a:xfrm>
          <a:prstGeom prst="rect">
            <a:avLst/>
          </a:prstGeom>
        </p:spPr>
        <p:txBody>
          <a:bodyPr vert="horz" wrap="square" lIns="0" tIns="8288" rIns="0" bIns="0" rtlCol="0">
            <a:spAutoFit/>
          </a:bodyPr>
          <a:lstStyle/>
          <a:p>
            <a:pPr marL="8288">
              <a:spcBef>
                <a:spcPts val="65"/>
              </a:spcBef>
            </a:pPr>
            <a:r>
              <a:rPr sz="1400" b="1">
                <a:solidFill>
                  <a:srgbClr val="191919"/>
                </a:solidFill>
                <a:latin typeface="Suisse Intl" panose="020B0504000000000000" pitchFamily="34" charset="-78"/>
                <a:cs typeface="Suisse Intl" panose="020B0504000000000000" pitchFamily="34" charset="-78"/>
              </a:rPr>
              <a:t>NEXT STEPS</a:t>
            </a:r>
            <a:endParaRPr sz="1400">
              <a:latin typeface="Suisse Intl" panose="020B0504000000000000" pitchFamily="34" charset="-78"/>
              <a:cs typeface="Suisse Intl" panose="020B0504000000000000" pitchFamily="34" charset="-78"/>
            </a:endParaRPr>
          </a:p>
        </p:txBody>
      </p:sp>
      <p:sp>
        <p:nvSpPr>
          <p:cNvPr id="5" name="object 5"/>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6" name="object 6"/>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8" name="object 8"/>
          <p:cNvSpPr txBox="1"/>
          <p:nvPr/>
        </p:nvSpPr>
        <p:spPr>
          <a:xfrm>
            <a:off x="470289" y="1278296"/>
            <a:ext cx="4360182" cy="223813"/>
          </a:xfrm>
          <a:prstGeom prst="rect">
            <a:avLst/>
          </a:prstGeom>
        </p:spPr>
        <p:txBody>
          <a:bodyPr vert="horz" wrap="square" lIns="0" tIns="8288" rIns="0" bIns="0" rtlCol="0">
            <a:spAutoFit/>
          </a:bodyPr>
          <a:lstStyle/>
          <a:p>
            <a:pPr marL="8288">
              <a:spcBef>
                <a:spcPts val="65"/>
              </a:spcBef>
            </a:pPr>
            <a:r>
              <a:rPr sz="1400" b="1">
                <a:solidFill>
                  <a:srgbClr val="191919"/>
                </a:solidFill>
                <a:latin typeface="Suisse Intl" panose="020B0504000000000000" pitchFamily="34" charset="-78"/>
                <a:cs typeface="Suisse Intl" panose="020B0504000000000000" pitchFamily="34" charset="-78"/>
              </a:rPr>
              <a:t>FINANCIAL SUMMARY</a:t>
            </a:r>
            <a:endParaRPr sz="1400">
              <a:latin typeface="Suisse Intl" panose="020B0504000000000000" pitchFamily="34" charset="-78"/>
              <a:cs typeface="Suisse Intl" panose="020B0504000000000000" pitchFamily="34" charset="-78"/>
            </a:endParaRPr>
          </a:p>
        </p:txBody>
      </p:sp>
      <p:sp>
        <p:nvSpPr>
          <p:cNvPr id="17" name="object 8">
            <a:extLst>
              <a:ext uri="{FF2B5EF4-FFF2-40B4-BE49-F238E27FC236}">
                <a16:creationId xmlns:a16="http://schemas.microsoft.com/office/drawing/2014/main" id="{DAD5E2C3-E4B6-E697-715E-99AE2457C220}"/>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EXECUTIVE SUMMARY</a:t>
            </a:r>
            <a:endParaRPr sz="2000">
              <a:latin typeface="Suisse Intl" panose="020B0504000000000000" pitchFamily="34" charset="-78"/>
              <a:cs typeface="Suisse Intl" panose="020B0504000000000000" pitchFamily="34" charset="-78"/>
            </a:endParaRPr>
          </a:p>
        </p:txBody>
      </p:sp>
      <p:sp>
        <p:nvSpPr>
          <p:cNvPr id="18" name="object 5">
            <a:extLst>
              <a:ext uri="{FF2B5EF4-FFF2-40B4-BE49-F238E27FC236}">
                <a16:creationId xmlns:a16="http://schemas.microsoft.com/office/drawing/2014/main" id="{A8567C44-FB67-D860-85F5-C6BAC9FA7FB6}"/>
              </a:ext>
            </a:extLst>
          </p:cNvPr>
          <p:cNvSpPr txBox="1"/>
          <p:nvPr/>
        </p:nvSpPr>
        <p:spPr>
          <a:xfrm>
            <a:off x="631037" y="5872922"/>
            <a:ext cx="6602400" cy="1391836"/>
          </a:xfrm>
          <a:prstGeom prst="rect">
            <a:avLst/>
          </a:prstGeom>
          <a:ln w="12788">
            <a:noFill/>
          </a:ln>
        </p:spPr>
        <p:txBody>
          <a:bodyPr vert="horz" wrap="square" lIns="0" tIns="98215" rIns="0" bIns="0" rtlCol="0">
            <a:spAutoFit/>
          </a:bodyPr>
          <a:lstStyle/>
          <a:p>
            <a:pPr algn="just"/>
            <a:r>
              <a:rPr lang="en-US" sz="1200" dirty="0"/>
              <a:t>The rooftop has the capacity to host up to </a:t>
            </a:r>
            <a:r>
              <a:rPr lang="en-US" sz="1200" b="1" dirty="0"/>
              <a:t>5 MW</a:t>
            </a:r>
            <a:r>
              <a:rPr lang="en-US" sz="1200" dirty="0"/>
              <a:t> (subject to structural assessment). </a:t>
            </a:r>
          </a:p>
          <a:p>
            <a:pPr algn="just"/>
            <a:endParaRPr lang="en-US" sz="1200" dirty="0"/>
          </a:p>
          <a:p>
            <a:pPr algn="just"/>
            <a:r>
              <a:rPr lang="en-US" sz="1200" dirty="0"/>
              <a:t>However, based on your load profile, the optimal system size is around </a:t>
            </a:r>
            <a:r>
              <a:rPr lang="en-US" sz="1200" b="1" dirty="0"/>
              <a:t>2,000 kW DC</a:t>
            </a:r>
            <a:r>
              <a:rPr lang="en-US" sz="1200" dirty="0"/>
              <a:t>, which allows most of the energy to be consumed on-site, with only about </a:t>
            </a:r>
            <a:r>
              <a:rPr lang="en-US" sz="1200" b="1" dirty="0"/>
              <a:t>14% exported to the grid</a:t>
            </a:r>
            <a:r>
              <a:rPr lang="en-US" sz="1200" dirty="0"/>
              <a:t>, primarily during summer.</a:t>
            </a:r>
          </a:p>
          <a:p>
            <a:pPr algn="just"/>
            <a:endParaRPr lang="en-US" sz="1200" dirty="0"/>
          </a:p>
          <a:p>
            <a:pPr algn="just"/>
            <a:r>
              <a:rPr lang="en-US" sz="1200" dirty="0"/>
              <a:t>The price provided is a ballpark estimate, calculated at </a:t>
            </a:r>
            <a:r>
              <a:rPr lang="en-US" sz="1200" b="1" dirty="0"/>
              <a:t>$1,200 per </a:t>
            </a:r>
            <a:r>
              <a:rPr lang="en-US" sz="1200" b="1" dirty="0" err="1"/>
              <a:t>kWp</a:t>
            </a:r>
            <a:r>
              <a:rPr lang="en-US" sz="1200" dirty="0"/>
              <a:t>.</a:t>
            </a:r>
          </a:p>
        </p:txBody>
      </p:sp>
      <p:sp>
        <p:nvSpPr>
          <p:cNvPr id="19" name="object 5">
            <a:extLst>
              <a:ext uri="{FF2B5EF4-FFF2-40B4-BE49-F238E27FC236}">
                <a16:creationId xmlns:a16="http://schemas.microsoft.com/office/drawing/2014/main" id="{70E0275B-3D21-06CE-8E87-B5BAB99C045C}"/>
              </a:ext>
            </a:extLst>
          </p:cNvPr>
          <p:cNvSpPr txBox="1"/>
          <p:nvPr/>
        </p:nvSpPr>
        <p:spPr>
          <a:xfrm>
            <a:off x="483941" y="8018287"/>
            <a:ext cx="6602400" cy="1567268"/>
          </a:xfrm>
          <a:prstGeom prst="rect">
            <a:avLst/>
          </a:prstGeom>
          <a:ln w="12788">
            <a:noFill/>
          </a:ln>
        </p:spPr>
        <p:txBody>
          <a:bodyPr vert="horz" wrap="square" lIns="0" tIns="98215" rIns="0" bIns="0" rtlCol="0">
            <a:spAutoFit/>
          </a:bodyPr>
          <a:lstStyle/>
          <a:p>
            <a:pPr marL="118519" marR="147112">
              <a:lnSpc>
                <a:spcPct val="115700"/>
              </a:lnSpc>
              <a:spcBef>
                <a:spcPts val="773"/>
              </a:spcBef>
            </a:pPr>
            <a:r>
              <a:rPr lang="en-AU" sz="1200" dirty="0">
                <a:latin typeface="Suisse Intl" panose="020B0504000000000000" pitchFamily="34" charset="-78"/>
                <a:cs typeface="Suisse Intl" panose="020B0504000000000000" pitchFamily="34" charset="-78"/>
              </a:rPr>
              <a:t>We would recommend that early works is undertaken to confirm: </a:t>
            </a:r>
          </a:p>
          <a:p>
            <a:pPr marL="118519" marR="147112">
              <a:lnSpc>
                <a:spcPct val="115700"/>
              </a:lnSpc>
              <a:spcBef>
                <a:spcPts val="773"/>
              </a:spcBef>
            </a:pPr>
            <a:r>
              <a:rPr lang="en-AU" sz="1200" dirty="0">
                <a:latin typeface="Suisse Intl" panose="020B0504000000000000" pitchFamily="34" charset="-78"/>
                <a:cs typeface="Suisse Intl" panose="020B0504000000000000" pitchFamily="34" charset="-78"/>
              </a:rPr>
              <a:t>* Structural suitability</a:t>
            </a:r>
          </a:p>
          <a:p>
            <a:pPr marL="118519" marR="147112">
              <a:lnSpc>
                <a:spcPct val="115700"/>
              </a:lnSpc>
              <a:spcBef>
                <a:spcPts val="773"/>
              </a:spcBef>
            </a:pPr>
            <a:r>
              <a:rPr lang="en-AU" sz="1200" dirty="0">
                <a:latin typeface="Suisse Intl" panose="020B0504000000000000" pitchFamily="34" charset="-78"/>
                <a:cs typeface="Suisse Intl" panose="020B0504000000000000" pitchFamily="34" charset="-78"/>
              </a:rPr>
              <a:t>* Grid connection cost and timeline.</a:t>
            </a:r>
          </a:p>
          <a:p>
            <a:pPr marL="118519" marR="147112">
              <a:lnSpc>
                <a:spcPct val="115700"/>
              </a:lnSpc>
              <a:spcBef>
                <a:spcPts val="773"/>
              </a:spcBef>
            </a:pPr>
            <a:r>
              <a:rPr lang="en-AU" sz="1200" dirty="0">
                <a:solidFill>
                  <a:srgbClr val="191919"/>
                </a:solidFill>
                <a:latin typeface="Suisse Intl" panose="020B0504000000000000" pitchFamily="34" charset="-78"/>
                <a:cs typeface="Suisse Intl" panose="020B0504000000000000" pitchFamily="34" charset="-78"/>
              </a:rPr>
              <a:t>* Onsite connection point(s)</a:t>
            </a:r>
          </a:p>
          <a:p>
            <a:pPr marL="118519" marR="147112">
              <a:lnSpc>
                <a:spcPct val="115700"/>
              </a:lnSpc>
              <a:spcBef>
                <a:spcPts val="773"/>
              </a:spcBef>
            </a:pPr>
            <a:endParaRPr lang="en-AU" sz="1200" dirty="0">
              <a:solidFill>
                <a:srgbClr val="191919"/>
              </a:solidFill>
              <a:latin typeface="Suisse Intl" panose="020B0504000000000000" pitchFamily="34" charset="-78"/>
              <a:cs typeface="Suisse Intl" panose="020B0504000000000000" pitchFamily="34" charset="-78"/>
            </a:endParaRPr>
          </a:p>
        </p:txBody>
      </p:sp>
      <p:pic>
        <p:nvPicPr>
          <p:cNvPr id="10" name="object 3">
            <a:extLst>
              <a:ext uri="{FF2B5EF4-FFF2-40B4-BE49-F238E27FC236}">
                <a16:creationId xmlns:a16="http://schemas.microsoft.com/office/drawing/2014/main" id="{FE3E59C4-A26C-87D2-FB35-CEBD374FC434}"/>
              </a:ext>
            </a:extLst>
          </p:cNvPr>
          <p:cNvPicPr/>
          <p:nvPr/>
        </p:nvPicPr>
        <p:blipFill>
          <a:blip r:embed="rId2" cstate="print"/>
          <a:stretch>
            <a:fillRect/>
          </a:stretch>
        </p:blipFill>
        <p:spPr>
          <a:xfrm>
            <a:off x="6286040" y="10185564"/>
            <a:ext cx="788774" cy="271025"/>
          </a:xfrm>
          <a:prstGeom prst="rect">
            <a:avLst/>
          </a:prstGeom>
        </p:spPr>
      </p:pic>
      <p:sp>
        <p:nvSpPr>
          <p:cNvPr id="11" name="object 36">
            <a:extLst>
              <a:ext uri="{FF2B5EF4-FFF2-40B4-BE49-F238E27FC236}">
                <a16:creationId xmlns:a16="http://schemas.microsoft.com/office/drawing/2014/main" id="{B65E4A68-92B6-B18D-78A5-D9B05E688A51}"/>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a:t>
            </a:r>
            <a:r>
              <a:rPr lang="en-AU" sz="653">
                <a:solidFill>
                  <a:srgbClr val="FF0000"/>
                </a:solidFill>
                <a:latin typeface="Suisse Intl" panose="020B0504000000000000" pitchFamily="34" charset="-78"/>
                <a:cs typeface="Suisse Intl" panose="020B0504000000000000" pitchFamily="34" charset="-78"/>
              </a:rPr>
              <a:t>3</a:t>
            </a:r>
            <a:endParaRPr sz="653">
              <a:latin typeface="Suisse Intl" panose="020B0504000000000000" pitchFamily="34" charset="-78"/>
              <a:cs typeface="Suisse Intl" panose="020B0504000000000000" pitchFamily="34" charset="-78"/>
            </a:endParaRPr>
          </a:p>
        </p:txBody>
      </p:sp>
      <p:sp>
        <p:nvSpPr>
          <p:cNvPr id="12" name="object 22">
            <a:extLst>
              <a:ext uri="{FF2B5EF4-FFF2-40B4-BE49-F238E27FC236}">
                <a16:creationId xmlns:a16="http://schemas.microsoft.com/office/drawing/2014/main" id="{D58172F6-1383-A452-52F4-61BCDE6D543E}"/>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2929" y="1565599"/>
            <a:ext cx="382087" cy="382087"/>
            <a:chOff x="910540" y="2398955"/>
            <a:chExt cx="585470" cy="585470"/>
          </a:xfrm>
        </p:grpSpPr>
        <p:pic>
          <p:nvPicPr>
            <p:cNvPr id="3" name="object 3"/>
            <p:cNvPicPr/>
            <p:nvPr/>
          </p:nvPicPr>
          <p:blipFill>
            <a:blip r:embed="rId2" cstate="print"/>
            <a:stretch>
              <a:fillRect/>
            </a:stretch>
          </p:blipFill>
          <p:spPr>
            <a:xfrm>
              <a:off x="910540" y="2398955"/>
              <a:ext cx="585214" cy="585162"/>
            </a:xfrm>
            <a:prstGeom prst="rect">
              <a:avLst/>
            </a:prstGeom>
          </p:spPr>
        </p:pic>
        <p:sp>
          <p:nvSpPr>
            <p:cNvPr id="4" name="object 4"/>
            <p:cNvSpPr/>
            <p:nvPr/>
          </p:nvSpPr>
          <p:spPr>
            <a:xfrm>
              <a:off x="974277" y="2464673"/>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5" name="object 5"/>
            <p:cNvSpPr/>
            <p:nvPr/>
          </p:nvSpPr>
          <p:spPr>
            <a:xfrm>
              <a:off x="974277" y="2464673"/>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7" name="object 7"/>
          <p:cNvSpPr txBox="1"/>
          <p:nvPr/>
        </p:nvSpPr>
        <p:spPr>
          <a:xfrm>
            <a:off x="479374" y="1530901"/>
            <a:ext cx="3681464" cy="448094"/>
          </a:xfrm>
          <a:prstGeom prst="rect">
            <a:avLst/>
          </a:prstGeom>
          <a:ln w="12700">
            <a:solidFill>
              <a:srgbClr val="FF0000"/>
            </a:solidFill>
          </a:ln>
        </p:spPr>
        <p:txBody>
          <a:bodyPr vert="horz" wrap="square" lIns="0" tIns="115200" rIns="0" bIns="115200" rtlCol="0" anchor="ctr">
            <a:spAutoFit/>
          </a:bodyPr>
          <a:lstStyle/>
          <a:p>
            <a:pPr marR="92826" algn="ctr">
              <a:spcBef>
                <a:spcPts val="894"/>
              </a:spcBef>
            </a:pPr>
            <a:endParaRPr sz="1400">
              <a:latin typeface="Suisse Intl" panose="020B0504000000000000" pitchFamily="34" charset="-78"/>
              <a:cs typeface="Suisse Intl" panose="020B0504000000000000" pitchFamily="34" charset="-78"/>
            </a:endParaRPr>
          </a:p>
        </p:txBody>
      </p:sp>
      <p:grpSp>
        <p:nvGrpSpPr>
          <p:cNvPr id="10" name="object 10"/>
          <p:cNvGrpSpPr/>
          <p:nvPr/>
        </p:nvGrpSpPr>
        <p:grpSpPr>
          <a:xfrm>
            <a:off x="713584" y="1652425"/>
            <a:ext cx="163278" cy="208863"/>
            <a:chOff x="1080099" y="2531998"/>
            <a:chExt cx="250190" cy="320040"/>
          </a:xfrm>
        </p:grpSpPr>
        <p:pic>
          <p:nvPicPr>
            <p:cNvPr id="11" name="object 11"/>
            <p:cNvPicPr/>
            <p:nvPr/>
          </p:nvPicPr>
          <p:blipFill>
            <a:blip r:embed="rId3" cstate="print"/>
            <a:stretch>
              <a:fillRect/>
            </a:stretch>
          </p:blipFill>
          <p:spPr>
            <a:xfrm>
              <a:off x="1080099" y="2531998"/>
              <a:ext cx="249932" cy="319981"/>
            </a:xfrm>
            <a:prstGeom prst="rect">
              <a:avLst/>
            </a:prstGeom>
          </p:spPr>
        </p:pic>
        <p:pic>
          <p:nvPicPr>
            <p:cNvPr id="12" name="object 12"/>
            <p:cNvPicPr/>
            <p:nvPr/>
          </p:nvPicPr>
          <p:blipFill>
            <a:blip r:embed="rId4" cstate="print"/>
            <a:stretch>
              <a:fillRect/>
            </a:stretch>
          </p:blipFill>
          <p:spPr>
            <a:xfrm>
              <a:off x="1103523" y="2558079"/>
              <a:ext cx="179158" cy="250825"/>
            </a:xfrm>
            <a:prstGeom prst="rect">
              <a:avLst/>
            </a:prstGeom>
          </p:spPr>
        </p:pic>
      </p:grpSp>
      <p:sp>
        <p:nvSpPr>
          <p:cNvPr id="45" name="object 3">
            <a:extLst>
              <a:ext uri="{FF2B5EF4-FFF2-40B4-BE49-F238E27FC236}">
                <a16:creationId xmlns:a16="http://schemas.microsoft.com/office/drawing/2014/main" id="{EF1085B9-8B89-813E-096C-FCF5A69BC04D}"/>
              </a:ext>
            </a:extLst>
          </p:cNvPr>
          <p:cNvSpPr txBox="1"/>
          <p:nvPr/>
        </p:nvSpPr>
        <p:spPr>
          <a:xfrm>
            <a:off x="1112837" y="1644736"/>
            <a:ext cx="2667000" cy="223813"/>
          </a:xfrm>
          <a:prstGeom prst="rect">
            <a:avLst/>
          </a:prstGeom>
        </p:spPr>
        <p:txBody>
          <a:bodyPr vert="horz" wrap="square" lIns="0" tIns="8288" rIns="0" bIns="0" rtlCol="0">
            <a:spAutoFit/>
          </a:bodyPr>
          <a:lstStyle/>
          <a:p>
            <a:r>
              <a:rPr lang="en-AU" sz="1400" dirty="0"/>
              <a:t>SOLAR</a:t>
            </a:r>
          </a:p>
        </p:txBody>
      </p:sp>
      <p:sp>
        <p:nvSpPr>
          <p:cNvPr id="47" name="object 8">
            <a:extLst>
              <a:ext uri="{FF2B5EF4-FFF2-40B4-BE49-F238E27FC236}">
                <a16:creationId xmlns:a16="http://schemas.microsoft.com/office/drawing/2014/main" id="{174867C3-CBDC-FC7F-700C-405A2492D048}"/>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SYSTEM PERFORMANCE</a:t>
            </a:r>
            <a:endParaRPr sz="2000">
              <a:latin typeface="Suisse Intl" panose="020B0504000000000000" pitchFamily="34" charset="-78"/>
              <a:cs typeface="Suisse Intl" panose="020B0504000000000000" pitchFamily="34" charset="-78"/>
            </a:endParaRPr>
          </a:p>
        </p:txBody>
      </p:sp>
      <p:sp>
        <p:nvSpPr>
          <p:cNvPr id="48" name="object 5">
            <a:extLst>
              <a:ext uri="{FF2B5EF4-FFF2-40B4-BE49-F238E27FC236}">
                <a16:creationId xmlns:a16="http://schemas.microsoft.com/office/drawing/2014/main" id="{08F17B01-3233-C689-A453-C758D42AE7F3}"/>
              </a:ext>
            </a:extLst>
          </p:cNvPr>
          <p:cNvSpPr txBox="1"/>
          <p:nvPr/>
        </p:nvSpPr>
        <p:spPr>
          <a:xfrm>
            <a:off x="5505098" y="378473"/>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49" name="object 6">
            <a:extLst>
              <a:ext uri="{FF2B5EF4-FFF2-40B4-BE49-F238E27FC236}">
                <a16:creationId xmlns:a16="http://schemas.microsoft.com/office/drawing/2014/main" id="{1D1E61DF-8FF2-C31F-1BA0-A332C6BA159F}"/>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22" name="object 3">
            <a:extLst>
              <a:ext uri="{FF2B5EF4-FFF2-40B4-BE49-F238E27FC236}">
                <a16:creationId xmlns:a16="http://schemas.microsoft.com/office/drawing/2014/main" id="{CE4F07FC-C0D0-5E37-1649-F2A1C074C026}"/>
              </a:ext>
            </a:extLst>
          </p:cNvPr>
          <p:cNvPicPr/>
          <p:nvPr/>
        </p:nvPicPr>
        <p:blipFill>
          <a:blip r:embed="rId5" cstate="print"/>
          <a:stretch>
            <a:fillRect/>
          </a:stretch>
        </p:blipFill>
        <p:spPr>
          <a:xfrm>
            <a:off x="6286040" y="10185564"/>
            <a:ext cx="788774" cy="271025"/>
          </a:xfrm>
          <a:prstGeom prst="rect">
            <a:avLst/>
          </a:prstGeom>
        </p:spPr>
      </p:pic>
      <p:sp>
        <p:nvSpPr>
          <p:cNvPr id="23" name="object 36">
            <a:extLst>
              <a:ext uri="{FF2B5EF4-FFF2-40B4-BE49-F238E27FC236}">
                <a16:creationId xmlns:a16="http://schemas.microsoft.com/office/drawing/2014/main" id="{C217DF06-0EB6-A082-D6D9-6ECB2235305E}"/>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a:t>
            </a:r>
            <a:r>
              <a:rPr lang="en-AU" sz="653">
                <a:solidFill>
                  <a:srgbClr val="FF0000"/>
                </a:solidFill>
                <a:latin typeface="Suisse Intl" panose="020B0504000000000000" pitchFamily="34" charset="-78"/>
                <a:cs typeface="Suisse Intl" panose="020B0504000000000000" pitchFamily="34" charset="-78"/>
              </a:rPr>
              <a:t>7</a:t>
            </a:r>
            <a:endParaRPr sz="653">
              <a:latin typeface="Suisse Intl" panose="020B0504000000000000" pitchFamily="34" charset="-78"/>
              <a:cs typeface="Suisse Intl" panose="020B0504000000000000" pitchFamily="34" charset="-78"/>
            </a:endParaRPr>
          </a:p>
        </p:txBody>
      </p:sp>
      <p:sp>
        <p:nvSpPr>
          <p:cNvPr id="24" name="object 22">
            <a:extLst>
              <a:ext uri="{FF2B5EF4-FFF2-40B4-BE49-F238E27FC236}">
                <a16:creationId xmlns:a16="http://schemas.microsoft.com/office/drawing/2014/main" id="{FAACDF2E-C7EA-9FDB-953F-D2AFC11DDB3F}"/>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pic>
        <p:nvPicPr>
          <p:cNvPr id="50" name="Picture 49" descr="image.png"/>
          <p:cNvPicPr>
            <a:picLocks noChangeAspect="1"/>
          </p:cNvPicPr>
          <p:nvPr/>
        </p:nvPicPr>
        <p:blipFill>
          <a:blip r:embed="rId6"/>
          <a:stretch>
            <a:fillRect/>
          </a:stretch>
        </p:blipFill>
        <p:spPr>
          <a:xfrm>
            <a:off x="989451" y="2057236"/>
            <a:ext cx="5580772" cy="3977223"/>
          </a:xfrm>
          <a:prstGeom prst="rect">
            <a:avLst/>
          </a:prstGeom>
        </p:spPr>
      </p:pic>
      <p:pic>
        <p:nvPicPr>
          <p:cNvPr id="51" name="Picture 50" descr="image.png"/>
          <p:cNvPicPr>
            <a:picLocks noChangeAspect="1"/>
          </p:cNvPicPr>
          <p:nvPr/>
        </p:nvPicPr>
        <p:blipFill>
          <a:blip r:embed="rId7"/>
          <a:stretch>
            <a:fillRect/>
          </a:stretch>
        </p:blipFill>
        <p:spPr>
          <a:xfrm>
            <a:off x="1380512" y="6248400"/>
            <a:ext cx="4790727" cy="36677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3420" y="5681828"/>
            <a:ext cx="382087" cy="382087"/>
            <a:chOff x="911292" y="8819832"/>
            <a:chExt cx="585470" cy="585470"/>
          </a:xfrm>
        </p:grpSpPr>
        <p:pic>
          <p:nvPicPr>
            <p:cNvPr id="3" name="object 3"/>
            <p:cNvPicPr/>
            <p:nvPr/>
          </p:nvPicPr>
          <p:blipFill>
            <a:blip r:embed="rId2" cstate="print"/>
            <a:stretch>
              <a:fillRect/>
            </a:stretch>
          </p:blipFill>
          <p:spPr>
            <a:xfrm>
              <a:off x="911292" y="8819832"/>
              <a:ext cx="585212" cy="585215"/>
            </a:xfrm>
            <a:prstGeom prst="rect">
              <a:avLst/>
            </a:prstGeom>
          </p:spPr>
        </p:pic>
        <p:sp>
          <p:nvSpPr>
            <p:cNvPr id="4" name="object 4"/>
            <p:cNvSpPr/>
            <p:nvPr/>
          </p:nvSpPr>
          <p:spPr>
            <a:xfrm>
              <a:off x="974277" y="8885740"/>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5" name="object 5"/>
            <p:cNvSpPr/>
            <p:nvPr/>
          </p:nvSpPr>
          <p:spPr>
            <a:xfrm>
              <a:off x="974277" y="8885740"/>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grpSp>
        <p:nvGrpSpPr>
          <p:cNvPr id="6" name="object 6"/>
          <p:cNvGrpSpPr/>
          <p:nvPr/>
        </p:nvGrpSpPr>
        <p:grpSpPr>
          <a:xfrm>
            <a:off x="603420" y="1272114"/>
            <a:ext cx="382087" cy="382087"/>
            <a:chOff x="911292" y="1992376"/>
            <a:chExt cx="585470" cy="585470"/>
          </a:xfrm>
        </p:grpSpPr>
        <p:pic>
          <p:nvPicPr>
            <p:cNvPr id="7" name="object 7"/>
            <p:cNvPicPr/>
            <p:nvPr/>
          </p:nvPicPr>
          <p:blipFill>
            <a:blip r:embed="rId2" cstate="print"/>
            <a:stretch>
              <a:fillRect/>
            </a:stretch>
          </p:blipFill>
          <p:spPr>
            <a:xfrm>
              <a:off x="911292" y="1992376"/>
              <a:ext cx="585212" cy="585088"/>
            </a:xfrm>
            <a:prstGeom prst="rect">
              <a:avLst/>
            </a:prstGeom>
          </p:spPr>
        </p:pic>
        <p:sp>
          <p:nvSpPr>
            <p:cNvPr id="8" name="object 8"/>
            <p:cNvSpPr/>
            <p:nvPr/>
          </p:nvSpPr>
          <p:spPr>
            <a:xfrm>
              <a:off x="974277" y="2058031"/>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9" name="object 9"/>
            <p:cNvSpPr/>
            <p:nvPr/>
          </p:nvSpPr>
          <p:spPr>
            <a:xfrm>
              <a:off x="974277" y="2058031"/>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11" name="object 11"/>
          <p:cNvSpPr txBox="1"/>
          <p:nvPr/>
        </p:nvSpPr>
        <p:spPr>
          <a:xfrm>
            <a:off x="479373" y="1240212"/>
            <a:ext cx="3224263" cy="448094"/>
          </a:xfrm>
          <a:prstGeom prst="rect">
            <a:avLst/>
          </a:prstGeom>
          <a:ln w="12700">
            <a:solidFill>
              <a:srgbClr val="FF0000"/>
            </a:solidFill>
          </a:ln>
        </p:spPr>
        <p:txBody>
          <a:bodyPr vert="horz" wrap="square" lIns="0" tIns="115200" rIns="0" bIns="115200" rtlCol="0" anchor="ctr">
            <a:spAutoFit/>
          </a:bodyPr>
          <a:lstStyle/>
          <a:p>
            <a:pPr marL="610827">
              <a:spcBef>
                <a:spcPts val="894"/>
              </a:spcBef>
            </a:pPr>
            <a:r>
              <a:rPr lang="en-AU" sz="1400">
                <a:solidFill>
                  <a:srgbClr val="191919"/>
                </a:solidFill>
                <a:latin typeface="Suisse Intl" panose="020B0504000000000000" pitchFamily="34" charset="-78"/>
                <a:cs typeface="Suisse Intl" panose="020B0504000000000000" pitchFamily="34" charset="-78"/>
              </a:rPr>
              <a:t>ENERGY INDEPENDENCE</a:t>
            </a:r>
            <a:endParaRPr sz="1400">
              <a:latin typeface="Suisse Intl" panose="020B0504000000000000" pitchFamily="34" charset="-78"/>
              <a:cs typeface="Suisse Intl" panose="020B0504000000000000" pitchFamily="34" charset="-78"/>
            </a:endParaRPr>
          </a:p>
        </p:txBody>
      </p:sp>
      <p:grpSp>
        <p:nvGrpSpPr>
          <p:cNvPr id="13" name="object 13"/>
          <p:cNvGrpSpPr/>
          <p:nvPr/>
        </p:nvGrpSpPr>
        <p:grpSpPr>
          <a:xfrm>
            <a:off x="714076" y="1358891"/>
            <a:ext cx="163108" cy="208831"/>
            <a:chOff x="1080852" y="2125344"/>
            <a:chExt cx="249929" cy="319991"/>
          </a:xfrm>
        </p:grpSpPr>
        <p:pic>
          <p:nvPicPr>
            <p:cNvPr id="14" name="object 14"/>
            <p:cNvPicPr/>
            <p:nvPr/>
          </p:nvPicPr>
          <p:blipFill>
            <a:blip r:embed="rId3" cstate="print"/>
            <a:stretch>
              <a:fillRect/>
            </a:stretch>
          </p:blipFill>
          <p:spPr>
            <a:xfrm>
              <a:off x="1080852" y="2125344"/>
              <a:ext cx="249929" cy="319991"/>
            </a:xfrm>
            <a:prstGeom prst="rect">
              <a:avLst/>
            </a:prstGeom>
          </p:spPr>
        </p:pic>
        <p:pic>
          <p:nvPicPr>
            <p:cNvPr id="15" name="object 15"/>
            <p:cNvPicPr/>
            <p:nvPr/>
          </p:nvPicPr>
          <p:blipFill>
            <a:blip r:embed="rId4" cstate="print"/>
            <a:stretch>
              <a:fillRect/>
            </a:stretch>
          </p:blipFill>
          <p:spPr>
            <a:xfrm>
              <a:off x="1103522" y="2138894"/>
              <a:ext cx="179157" cy="275907"/>
            </a:xfrm>
            <a:prstGeom prst="rect">
              <a:avLst/>
            </a:prstGeom>
          </p:spPr>
        </p:pic>
      </p:grpSp>
      <p:sp>
        <p:nvSpPr>
          <p:cNvPr id="16" name="object 16"/>
          <p:cNvSpPr txBox="1"/>
          <p:nvPr/>
        </p:nvSpPr>
        <p:spPr>
          <a:xfrm>
            <a:off x="479373" y="5649657"/>
            <a:ext cx="3224263" cy="446426"/>
          </a:xfrm>
          <a:prstGeom prst="rect">
            <a:avLst/>
          </a:prstGeom>
          <a:ln w="12700">
            <a:solidFill>
              <a:srgbClr val="FF0000"/>
            </a:solidFill>
          </a:ln>
        </p:spPr>
        <p:txBody>
          <a:bodyPr vert="horz" wrap="square" lIns="0" tIns="113549" rIns="0" bIns="115200" rtlCol="0" anchor="ctr">
            <a:spAutoFit/>
          </a:bodyPr>
          <a:lstStyle/>
          <a:p>
            <a:pPr marL="597566">
              <a:spcBef>
                <a:spcPts val="894"/>
              </a:spcBef>
            </a:pPr>
            <a:r>
              <a:rPr lang="en-AU" sz="1400">
                <a:solidFill>
                  <a:srgbClr val="191919"/>
                </a:solidFill>
                <a:latin typeface="Suisse Intl" panose="020B0504000000000000" pitchFamily="34" charset="-78"/>
                <a:cs typeface="Suisse Intl" panose="020B0504000000000000" pitchFamily="34" charset="-78"/>
              </a:rPr>
              <a:t>CARBON REDUCTION</a:t>
            </a:r>
            <a:endParaRPr sz="1400">
              <a:latin typeface="Suisse Intl" panose="020B0504000000000000" pitchFamily="34" charset="-78"/>
              <a:cs typeface="Suisse Intl" panose="020B0504000000000000" pitchFamily="34" charset="-78"/>
            </a:endParaRPr>
          </a:p>
        </p:txBody>
      </p:sp>
      <p:grpSp>
        <p:nvGrpSpPr>
          <p:cNvPr id="17" name="object 17"/>
          <p:cNvGrpSpPr/>
          <p:nvPr/>
        </p:nvGrpSpPr>
        <p:grpSpPr>
          <a:xfrm>
            <a:off x="714075" y="5768440"/>
            <a:ext cx="163278" cy="208863"/>
            <a:chOff x="1080852" y="8952816"/>
            <a:chExt cx="250190" cy="320040"/>
          </a:xfrm>
        </p:grpSpPr>
        <p:pic>
          <p:nvPicPr>
            <p:cNvPr id="18" name="object 18"/>
            <p:cNvPicPr/>
            <p:nvPr/>
          </p:nvPicPr>
          <p:blipFill>
            <a:blip r:embed="rId3" cstate="print"/>
            <a:stretch>
              <a:fillRect/>
            </a:stretch>
          </p:blipFill>
          <p:spPr>
            <a:xfrm>
              <a:off x="1080852" y="8952816"/>
              <a:ext cx="249929" cy="320037"/>
            </a:xfrm>
            <a:prstGeom prst="rect">
              <a:avLst/>
            </a:prstGeom>
          </p:spPr>
        </p:pic>
        <p:pic>
          <p:nvPicPr>
            <p:cNvPr id="19" name="object 19"/>
            <p:cNvPicPr/>
            <p:nvPr/>
          </p:nvPicPr>
          <p:blipFill>
            <a:blip r:embed="rId5" cstate="print"/>
            <a:stretch>
              <a:fillRect/>
            </a:stretch>
          </p:blipFill>
          <p:spPr>
            <a:xfrm>
              <a:off x="1103523" y="8979146"/>
              <a:ext cx="179158" cy="250825"/>
            </a:xfrm>
            <a:prstGeom prst="rect">
              <a:avLst/>
            </a:prstGeom>
          </p:spPr>
        </p:pic>
      </p:grpSp>
      <p:sp>
        <p:nvSpPr>
          <p:cNvPr id="23" name="object 23"/>
          <p:cNvSpPr/>
          <p:nvPr/>
        </p:nvSpPr>
        <p:spPr>
          <a:xfrm>
            <a:off x="478577" y="445066"/>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7" name="object 8">
            <a:extLst>
              <a:ext uri="{FF2B5EF4-FFF2-40B4-BE49-F238E27FC236}">
                <a16:creationId xmlns:a16="http://schemas.microsoft.com/office/drawing/2014/main" id="{37BD653E-752E-AAC2-EF8B-81AA56F9F25A}"/>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ENERGY CONSUMPTION</a:t>
            </a:r>
            <a:endParaRPr sz="2000">
              <a:latin typeface="Suisse Intl" panose="020B0504000000000000" pitchFamily="34" charset="-78"/>
              <a:cs typeface="Suisse Intl" panose="020B0504000000000000" pitchFamily="34" charset="-78"/>
            </a:endParaRPr>
          </a:p>
        </p:txBody>
      </p:sp>
      <p:sp>
        <p:nvSpPr>
          <p:cNvPr id="29" name="object 5">
            <a:extLst>
              <a:ext uri="{FF2B5EF4-FFF2-40B4-BE49-F238E27FC236}">
                <a16:creationId xmlns:a16="http://schemas.microsoft.com/office/drawing/2014/main" id="{1A6C66E2-0B81-352C-EBCE-D4980B1795D9}"/>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pic>
        <p:nvPicPr>
          <p:cNvPr id="12" name="object 3">
            <a:extLst>
              <a:ext uri="{FF2B5EF4-FFF2-40B4-BE49-F238E27FC236}">
                <a16:creationId xmlns:a16="http://schemas.microsoft.com/office/drawing/2014/main" id="{B4DC5C17-D169-E0E8-AE83-D48FE2C9C758}"/>
              </a:ext>
            </a:extLst>
          </p:cNvPr>
          <p:cNvPicPr/>
          <p:nvPr/>
        </p:nvPicPr>
        <p:blipFill>
          <a:blip r:embed="rId6" cstate="print"/>
          <a:stretch>
            <a:fillRect/>
          </a:stretch>
        </p:blipFill>
        <p:spPr>
          <a:xfrm>
            <a:off x="6286040" y="10185564"/>
            <a:ext cx="788774" cy="271025"/>
          </a:xfrm>
          <a:prstGeom prst="rect">
            <a:avLst/>
          </a:prstGeom>
        </p:spPr>
      </p:pic>
      <p:sp>
        <p:nvSpPr>
          <p:cNvPr id="22" name="object 36">
            <a:extLst>
              <a:ext uri="{FF2B5EF4-FFF2-40B4-BE49-F238E27FC236}">
                <a16:creationId xmlns:a16="http://schemas.microsoft.com/office/drawing/2014/main" id="{86DE70EA-3717-4C9D-5F87-A599775747FC}"/>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a:t>
            </a:r>
            <a:r>
              <a:rPr lang="en-AU" sz="653">
                <a:solidFill>
                  <a:srgbClr val="FF0000"/>
                </a:solidFill>
                <a:latin typeface="Suisse Intl" panose="020B0504000000000000" pitchFamily="34" charset="-78"/>
                <a:cs typeface="Suisse Intl" panose="020B0504000000000000" pitchFamily="34" charset="-78"/>
              </a:rPr>
              <a:t>8</a:t>
            </a:r>
            <a:endParaRPr sz="653">
              <a:latin typeface="Suisse Intl" panose="020B0504000000000000" pitchFamily="34" charset="-78"/>
              <a:cs typeface="Suisse Intl" panose="020B0504000000000000" pitchFamily="34" charset="-78"/>
            </a:endParaRPr>
          </a:p>
        </p:txBody>
      </p:sp>
      <p:sp>
        <p:nvSpPr>
          <p:cNvPr id="24" name="object 22">
            <a:extLst>
              <a:ext uri="{FF2B5EF4-FFF2-40B4-BE49-F238E27FC236}">
                <a16:creationId xmlns:a16="http://schemas.microsoft.com/office/drawing/2014/main" id="{D200A056-029D-D6AE-2F8B-327B13E0201C}"/>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pic>
        <p:nvPicPr>
          <p:cNvPr id="30" name="Picture 29" descr="image.png"/>
          <p:cNvPicPr>
            <a:picLocks noChangeAspect="1"/>
          </p:cNvPicPr>
          <p:nvPr/>
        </p:nvPicPr>
        <p:blipFill>
          <a:blip r:embed="rId7"/>
          <a:stretch>
            <a:fillRect/>
          </a:stretch>
        </p:blipFill>
        <p:spPr>
          <a:xfrm>
            <a:off x="1232178" y="1783350"/>
            <a:ext cx="4899393" cy="3769477"/>
          </a:xfrm>
          <a:prstGeom prst="rect">
            <a:avLst/>
          </a:prstGeom>
        </p:spPr>
      </p:pic>
      <p:pic>
        <p:nvPicPr>
          <p:cNvPr id="31" name="Picture 30" descr="image.png"/>
          <p:cNvPicPr>
            <a:picLocks noChangeAspect="1"/>
          </p:cNvPicPr>
          <p:nvPr/>
        </p:nvPicPr>
        <p:blipFill>
          <a:blip r:embed="rId8"/>
          <a:stretch>
            <a:fillRect/>
          </a:stretch>
        </p:blipFill>
        <p:spPr>
          <a:xfrm>
            <a:off x="1054956" y="6212796"/>
            <a:ext cx="5449762" cy="38735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 name="object 57"/>
          <p:cNvSpPr/>
          <p:nvPr/>
        </p:nvSpPr>
        <p:spPr>
          <a:xfrm>
            <a:off x="478577" y="445066"/>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72" name="object 8">
            <a:extLst>
              <a:ext uri="{FF2B5EF4-FFF2-40B4-BE49-F238E27FC236}">
                <a16:creationId xmlns:a16="http://schemas.microsoft.com/office/drawing/2014/main" id="{02B79956-EAB4-8027-DD78-C0EF5465B2B1}"/>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EARNINGS</a:t>
            </a:r>
            <a:endParaRPr sz="2000">
              <a:latin typeface="Suisse Intl" panose="020B0504000000000000" pitchFamily="34" charset="-78"/>
              <a:cs typeface="Suisse Intl" panose="020B0504000000000000" pitchFamily="34" charset="-78"/>
            </a:endParaRPr>
          </a:p>
        </p:txBody>
      </p:sp>
      <p:sp>
        <p:nvSpPr>
          <p:cNvPr id="74" name="object 5">
            <a:extLst>
              <a:ext uri="{FF2B5EF4-FFF2-40B4-BE49-F238E27FC236}">
                <a16:creationId xmlns:a16="http://schemas.microsoft.com/office/drawing/2014/main" id="{2658CF25-D5B1-2BCB-5020-EB05AC02C854}"/>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pic>
        <p:nvPicPr>
          <p:cNvPr id="71" name="object 3">
            <a:extLst>
              <a:ext uri="{FF2B5EF4-FFF2-40B4-BE49-F238E27FC236}">
                <a16:creationId xmlns:a16="http://schemas.microsoft.com/office/drawing/2014/main" id="{3868DBA7-F286-EA6A-D2B7-74680E87B160}"/>
              </a:ext>
            </a:extLst>
          </p:cNvPr>
          <p:cNvPicPr/>
          <p:nvPr/>
        </p:nvPicPr>
        <p:blipFill>
          <a:blip r:embed="rId2" cstate="print"/>
          <a:stretch>
            <a:fillRect/>
          </a:stretch>
        </p:blipFill>
        <p:spPr>
          <a:xfrm>
            <a:off x="6286040" y="10185564"/>
            <a:ext cx="788774" cy="271025"/>
          </a:xfrm>
          <a:prstGeom prst="rect">
            <a:avLst/>
          </a:prstGeom>
        </p:spPr>
      </p:pic>
      <p:sp>
        <p:nvSpPr>
          <p:cNvPr id="75" name="object 36">
            <a:extLst>
              <a:ext uri="{FF2B5EF4-FFF2-40B4-BE49-F238E27FC236}">
                <a16:creationId xmlns:a16="http://schemas.microsoft.com/office/drawing/2014/main" id="{6AA905D4-A579-755D-57D1-26A4DD122D26}"/>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0</a:t>
            </a:r>
            <a:r>
              <a:rPr lang="en-AU" sz="653">
                <a:solidFill>
                  <a:srgbClr val="FF0000"/>
                </a:solidFill>
                <a:latin typeface="Suisse Intl" panose="020B0504000000000000" pitchFamily="34" charset="-78"/>
                <a:cs typeface="Suisse Intl" panose="020B0504000000000000" pitchFamily="34" charset="-78"/>
              </a:rPr>
              <a:t>9</a:t>
            </a:r>
            <a:endParaRPr sz="653">
              <a:latin typeface="Suisse Intl" panose="020B0504000000000000" pitchFamily="34" charset="-78"/>
              <a:cs typeface="Suisse Intl" panose="020B0504000000000000" pitchFamily="34" charset="-78"/>
            </a:endParaRPr>
          </a:p>
        </p:txBody>
      </p:sp>
      <p:sp>
        <p:nvSpPr>
          <p:cNvPr id="76" name="object 22">
            <a:extLst>
              <a:ext uri="{FF2B5EF4-FFF2-40B4-BE49-F238E27FC236}">
                <a16:creationId xmlns:a16="http://schemas.microsoft.com/office/drawing/2014/main" id="{1FCC77CA-EBD7-43B8-3D9A-36C8DD5C00E9}"/>
              </a:ext>
            </a:extLst>
          </p:cNvPr>
          <p:cNvSpPr txBox="1">
            <a:spLocks/>
          </p:cNvSpPr>
          <p:nvPr/>
        </p:nvSpPr>
        <p:spPr>
          <a:xfrm>
            <a:off x="470285" y="10244448"/>
            <a:ext cx="702147" cy="103359"/>
          </a:xfrm>
          <a:prstGeom prst="rect">
            <a:avLst/>
          </a:prstGeom>
        </p:spPr>
        <p:txBody>
          <a:bodyPr vert="horz" wrap="square" lIns="0" tIns="2901" rIns="0" bIns="0" rtlCol="0">
            <a:spAutoFit/>
          </a:bodyPr>
          <a:lstStyle>
            <a:defPPr>
              <a:defRPr kern="0"/>
            </a:defPPr>
            <a:lvl1pPr>
              <a:defRPr sz="653" b="0" i="0">
                <a:solidFill>
                  <a:srgbClr val="FF0000"/>
                </a:solidFill>
                <a:latin typeface="Trebuchet MS"/>
                <a:cs typeface="Trebuchet MS"/>
              </a:defRPr>
            </a:lvl1pPr>
          </a:lstStyle>
          <a:p>
            <a:pPr marL="8288">
              <a:spcBef>
                <a:spcPts val="23"/>
              </a:spcBef>
            </a:pPr>
            <a:r>
              <a:rPr lang="en-AU">
                <a:latin typeface="Suisse Intl" panose="020B0504000000000000" pitchFamily="34" charset="-78"/>
                <a:cs typeface="Suisse Intl" panose="020B0504000000000000" pitchFamily="34" charset="-78"/>
              </a:rPr>
              <a:t>13KUGA.COM.AU</a:t>
            </a:r>
          </a:p>
        </p:txBody>
      </p:sp>
      <p:grpSp>
        <p:nvGrpSpPr>
          <p:cNvPr id="3" name="object 2">
            <a:extLst>
              <a:ext uri="{FF2B5EF4-FFF2-40B4-BE49-F238E27FC236}">
                <a16:creationId xmlns:a16="http://schemas.microsoft.com/office/drawing/2014/main" id="{2354CBE5-4606-BD20-D566-2B6A9BFCBAE9}"/>
              </a:ext>
            </a:extLst>
          </p:cNvPr>
          <p:cNvGrpSpPr/>
          <p:nvPr/>
        </p:nvGrpSpPr>
        <p:grpSpPr>
          <a:xfrm>
            <a:off x="603420" y="5681828"/>
            <a:ext cx="382087" cy="382087"/>
            <a:chOff x="911292" y="8819832"/>
            <a:chExt cx="585470" cy="585470"/>
          </a:xfrm>
        </p:grpSpPr>
        <p:pic>
          <p:nvPicPr>
            <p:cNvPr id="56" name="object 3">
              <a:extLst>
                <a:ext uri="{FF2B5EF4-FFF2-40B4-BE49-F238E27FC236}">
                  <a16:creationId xmlns:a16="http://schemas.microsoft.com/office/drawing/2014/main" id="{AFF40CDC-E0E2-4A2E-42C3-B9537A997F46}"/>
                </a:ext>
              </a:extLst>
            </p:cNvPr>
            <p:cNvPicPr/>
            <p:nvPr/>
          </p:nvPicPr>
          <p:blipFill>
            <a:blip r:embed="rId3" cstate="print"/>
            <a:stretch>
              <a:fillRect/>
            </a:stretch>
          </p:blipFill>
          <p:spPr>
            <a:xfrm>
              <a:off x="911292" y="8819832"/>
              <a:ext cx="585212" cy="585215"/>
            </a:xfrm>
            <a:prstGeom prst="rect">
              <a:avLst/>
            </a:prstGeom>
          </p:spPr>
        </p:pic>
        <p:sp>
          <p:nvSpPr>
            <p:cNvPr id="58" name="object 4">
              <a:extLst>
                <a:ext uri="{FF2B5EF4-FFF2-40B4-BE49-F238E27FC236}">
                  <a16:creationId xmlns:a16="http://schemas.microsoft.com/office/drawing/2014/main" id="{42A0F013-FA74-D970-1B55-DB6064D0340B}"/>
                </a:ext>
              </a:extLst>
            </p:cNvPr>
            <p:cNvSpPr/>
            <p:nvPr/>
          </p:nvSpPr>
          <p:spPr>
            <a:xfrm>
              <a:off x="974277" y="8885740"/>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70" name="object 5">
              <a:extLst>
                <a:ext uri="{FF2B5EF4-FFF2-40B4-BE49-F238E27FC236}">
                  <a16:creationId xmlns:a16="http://schemas.microsoft.com/office/drawing/2014/main" id="{A95E5EF6-03DD-6CC9-6F07-5A3B2D520854}"/>
                </a:ext>
              </a:extLst>
            </p:cNvPr>
            <p:cNvSpPr/>
            <p:nvPr/>
          </p:nvSpPr>
          <p:spPr>
            <a:xfrm>
              <a:off x="974277" y="8885740"/>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grpSp>
        <p:nvGrpSpPr>
          <p:cNvPr id="73" name="object 6">
            <a:extLst>
              <a:ext uri="{FF2B5EF4-FFF2-40B4-BE49-F238E27FC236}">
                <a16:creationId xmlns:a16="http://schemas.microsoft.com/office/drawing/2014/main" id="{516D513D-E9A4-3D2F-C64C-BD3C36DCBADF}"/>
              </a:ext>
            </a:extLst>
          </p:cNvPr>
          <p:cNvGrpSpPr/>
          <p:nvPr/>
        </p:nvGrpSpPr>
        <p:grpSpPr>
          <a:xfrm>
            <a:off x="603420" y="1272114"/>
            <a:ext cx="382087" cy="382087"/>
            <a:chOff x="911292" y="1992376"/>
            <a:chExt cx="585470" cy="585470"/>
          </a:xfrm>
        </p:grpSpPr>
        <p:pic>
          <p:nvPicPr>
            <p:cNvPr id="77" name="object 7">
              <a:extLst>
                <a:ext uri="{FF2B5EF4-FFF2-40B4-BE49-F238E27FC236}">
                  <a16:creationId xmlns:a16="http://schemas.microsoft.com/office/drawing/2014/main" id="{98E4BE91-CD17-E43E-A92A-6175A0B2C68A}"/>
                </a:ext>
              </a:extLst>
            </p:cNvPr>
            <p:cNvPicPr/>
            <p:nvPr/>
          </p:nvPicPr>
          <p:blipFill>
            <a:blip r:embed="rId3" cstate="print"/>
            <a:stretch>
              <a:fillRect/>
            </a:stretch>
          </p:blipFill>
          <p:spPr>
            <a:xfrm>
              <a:off x="911292" y="1992376"/>
              <a:ext cx="585212" cy="585088"/>
            </a:xfrm>
            <a:prstGeom prst="rect">
              <a:avLst/>
            </a:prstGeom>
          </p:spPr>
        </p:pic>
        <p:sp>
          <p:nvSpPr>
            <p:cNvPr id="78" name="object 8">
              <a:extLst>
                <a:ext uri="{FF2B5EF4-FFF2-40B4-BE49-F238E27FC236}">
                  <a16:creationId xmlns:a16="http://schemas.microsoft.com/office/drawing/2014/main" id="{9C5E0C8B-6BF0-5835-5428-B4DAAA6D4645}"/>
                </a:ext>
              </a:extLst>
            </p:cNvPr>
            <p:cNvSpPr/>
            <p:nvPr/>
          </p:nvSpPr>
          <p:spPr>
            <a:xfrm>
              <a:off x="974277" y="2058031"/>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79" name="object 9">
              <a:extLst>
                <a:ext uri="{FF2B5EF4-FFF2-40B4-BE49-F238E27FC236}">
                  <a16:creationId xmlns:a16="http://schemas.microsoft.com/office/drawing/2014/main" id="{3C58DC97-15AE-6A17-488E-97C96A401FCE}"/>
                </a:ext>
              </a:extLst>
            </p:cNvPr>
            <p:cNvSpPr/>
            <p:nvPr/>
          </p:nvSpPr>
          <p:spPr>
            <a:xfrm>
              <a:off x="974277" y="2058031"/>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80" name="object 11">
            <a:extLst>
              <a:ext uri="{FF2B5EF4-FFF2-40B4-BE49-F238E27FC236}">
                <a16:creationId xmlns:a16="http://schemas.microsoft.com/office/drawing/2014/main" id="{4D27F9E2-FB3B-8837-FC62-EA52C2196A6A}"/>
              </a:ext>
            </a:extLst>
          </p:cNvPr>
          <p:cNvSpPr txBox="1"/>
          <p:nvPr/>
        </p:nvSpPr>
        <p:spPr>
          <a:xfrm>
            <a:off x="479373" y="1240212"/>
            <a:ext cx="3224263" cy="448094"/>
          </a:xfrm>
          <a:prstGeom prst="rect">
            <a:avLst/>
          </a:prstGeom>
          <a:ln w="12700">
            <a:solidFill>
              <a:srgbClr val="FF0000"/>
            </a:solidFill>
          </a:ln>
        </p:spPr>
        <p:txBody>
          <a:bodyPr vert="horz" wrap="square" lIns="0" tIns="115200" rIns="0" bIns="115200" rtlCol="0" anchor="ctr">
            <a:spAutoFit/>
          </a:bodyPr>
          <a:lstStyle/>
          <a:p>
            <a:pPr marL="610827">
              <a:spcBef>
                <a:spcPts val="894"/>
              </a:spcBef>
            </a:pPr>
            <a:r>
              <a:rPr lang="en-AU" sz="1400">
                <a:solidFill>
                  <a:srgbClr val="191919"/>
                </a:solidFill>
                <a:latin typeface="Suisse Intl" panose="020B0504000000000000" pitchFamily="34" charset="-78"/>
                <a:cs typeface="Suisse Intl" panose="020B0504000000000000" pitchFamily="34" charset="-78"/>
              </a:rPr>
              <a:t>EARNINGS</a:t>
            </a:r>
            <a:endParaRPr sz="1400">
              <a:latin typeface="Suisse Intl" panose="020B0504000000000000" pitchFamily="34" charset="-78"/>
              <a:cs typeface="Suisse Intl" panose="020B0504000000000000" pitchFamily="34" charset="-78"/>
            </a:endParaRPr>
          </a:p>
        </p:txBody>
      </p:sp>
      <p:sp>
        <p:nvSpPr>
          <p:cNvPr id="84" name="object 16">
            <a:extLst>
              <a:ext uri="{FF2B5EF4-FFF2-40B4-BE49-F238E27FC236}">
                <a16:creationId xmlns:a16="http://schemas.microsoft.com/office/drawing/2014/main" id="{D687AB8C-1680-F9DC-7F3E-B33A698337C9}"/>
              </a:ext>
            </a:extLst>
          </p:cNvPr>
          <p:cNvSpPr txBox="1"/>
          <p:nvPr/>
        </p:nvSpPr>
        <p:spPr>
          <a:xfrm>
            <a:off x="479373" y="5649657"/>
            <a:ext cx="3224263" cy="446426"/>
          </a:xfrm>
          <a:prstGeom prst="rect">
            <a:avLst/>
          </a:prstGeom>
          <a:ln w="12700">
            <a:solidFill>
              <a:srgbClr val="FF0000"/>
            </a:solidFill>
          </a:ln>
        </p:spPr>
        <p:txBody>
          <a:bodyPr vert="horz" wrap="square" lIns="0" tIns="113549" rIns="0" bIns="115200" rtlCol="0" anchor="ctr">
            <a:spAutoFit/>
          </a:bodyPr>
          <a:lstStyle/>
          <a:p>
            <a:pPr marL="597566">
              <a:spcBef>
                <a:spcPts val="894"/>
              </a:spcBef>
            </a:pPr>
            <a:r>
              <a:rPr lang="en-AU" sz="1400">
                <a:solidFill>
                  <a:srgbClr val="191919"/>
                </a:solidFill>
                <a:latin typeface="Suisse Intl" panose="020B0504000000000000" pitchFamily="34" charset="-78"/>
                <a:cs typeface="Suisse Intl" panose="020B0504000000000000" pitchFamily="34" charset="-78"/>
              </a:rPr>
              <a:t>EARNINGS BREAKDOWN</a:t>
            </a:r>
            <a:endParaRPr sz="1400">
              <a:latin typeface="Suisse Intl" panose="020B0504000000000000" pitchFamily="34" charset="-78"/>
              <a:cs typeface="Suisse Intl" panose="020B0504000000000000" pitchFamily="34" charset="-78"/>
            </a:endParaRPr>
          </a:p>
        </p:txBody>
      </p:sp>
      <p:sp>
        <p:nvSpPr>
          <p:cNvPr id="90" name="object 11">
            <a:extLst>
              <a:ext uri="{FF2B5EF4-FFF2-40B4-BE49-F238E27FC236}">
                <a16:creationId xmlns:a16="http://schemas.microsoft.com/office/drawing/2014/main" id="{E3922839-F551-7EB4-D401-D11FAEA305A8}"/>
              </a:ext>
            </a:extLst>
          </p:cNvPr>
          <p:cNvSpPr txBox="1"/>
          <p:nvPr/>
        </p:nvSpPr>
        <p:spPr>
          <a:xfrm>
            <a:off x="731837" y="1359663"/>
            <a:ext cx="152400" cy="209193"/>
          </a:xfrm>
          <a:prstGeom prst="rect">
            <a:avLst/>
          </a:prstGeom>
        </p:spPr>
        <p:txBody>
          <a:bodyPr vert="horz" wrap="square" lIns="0" tIns="8288" rIns="0" bIns="0" rtlCol="0">
            <a:spAutoFit/>
          </a:bodyPr>
          <a:lstStyle/>
          <a:p>
            <a:pPr>
              <a:spcBef>
                <a:spcPts val="65"/>
              </a:spcBef>
              <a:tabLst>
                <a:tab pos="312044" algn="l"/>
              </a:tabLst>
            </a:pPr>
            <a:r>
              <a:rPr lang="en-AU" sz="1305">
                <a:solidFill>
                  <a:srgbClr val="009245"/>
                </a:solidFill>
                <a:latin typeface="Suisse Intl" panose="020B0504000000000000" pitchFamily="34" charset="-78"/>
                <a:cs typeface="Suisse Intl" panose="020B0504000000000000" pitchFamily="34" charset="-78"/>
              </a:rPr>
              <a:t>$</a:t>
            </a:r>
            <a:endParaRPr sz="1305">
              <a:latin typeface="Suisse Intl" panose="020B0504000000000000" pitchFamily="34" charset="-78"/>
              <a:cs typeface="Suisse Intl" panose="020B0504000000000000" pitchFamily="34" charset="-78"/>
            </a:endParaRPr>
          </a:p>
        </p:txBody>
      </p:sp>
      <p:sp>
        <p:nvSpPr>
          <p:cNvPr id="91" name="object 11">
            <a:extLst>
              <a:ext uri="{FF2B5EF4-FFF2-40B4-BE49-F238E27FC236}">
                <a16:creationId xmlns:a16="http://schemas.microsoft.com/office/drawing/2014/main" id="{3A8A76EE-A96F-2718-268D-6F6AC9128746}"/>
              </a:ext>
            </a:extLst>
          </p:cNvPr>
          <p:cNvSpPr txBox="1"/>
          <p:nvPr/>
        </p:nvSpPr>
        <p:spPr>
          <a:xfrm>
            <a:off x="731837" y="5768274"/>
            <a:ext cx="152400" cy="209193"/>
          </a:xfrm>
          <a:prstGeom prst="rect">
            <a:avLst/>
          </a:prstGeom>
        </p:spPr>
        <p:txBody>
          <a:bodyPr vert="horz" wrap="square" lIns="0" tIns="8288" rIns="0" bIns="0" rtlCol="0">
            <a:spAutoFit/>
          </a:bodyPr>
          <a:lstStyle/>
          <a:p>
            <a:pPr>
              <a:spcBef>
                <a:spcPts val="65"/>
              </a:spcBef>
              <a:tabLst>
                <a:tab pos="312044" algn="l"/>
              </a:tabLst>
            </a:pPr>
            <a:r>
              <a:rPr lang="en-AU" sz="1305">
                <a:solidFill>
                  <a:srgbClr val="009245"/>
                </a:solidFill>
                <a:latin typeface="Suisse Intl" panose="020B0504000000000000" pitchFamily="34" charset="-78"/>
                <a:cs typeface="Suisse Intl" panose="020B0504000000000000" pitchFamily="34" charset="-78"/>
              </a:rPr>
              <a:t>$</a:t>
            </a:r>
            <a:endParaRPr sz="1305">
              <a:latin typeface="Suisse Intl" panose="020B0504000000000000" pitchFamily="34" charset="-78"/>
              <a:cs typeface="Suisse Intl" panose="020B0504000000000000" pitchFamily="34" charset="-78"/>
            </a:endParaRPr>
          </a:p>
        </p:txBody>
      </p:sp>
      <p:pic>
        <p:nvPicPr>
          <p:cNvPr id="92" name="Picture 91" descr="image.png"/>
          <p:cNvPicPr>
            <a:picLocks noChangeAspect="1"/>
          </p:cNvPicPr>
          <p:nvPr/>
        </p:nvPicPr>
        <p:blipFill>
          <a:blip r:embed="rId4"/>
          <a:stretch>
            <a:fillRect/>
          </a:stretch>
        </p:blipFill>
        <p:spPr>
          <a:xfrm>
            <a:off x="1034823" y="1779880"/>
            <a:ext cx="5490029" cy="3808772"/>
          </a:xfrm>
          <a:prstGeom prst="rect">
            <a:avLst/>
          </a:prstGeom>
        </p:spPr>
      </p:pic>
      <p:pic>
        <p:nvPicPr>
          <p:cNvPr id="93" name="Picture 92" descr="image.png"/>
          <p:cNvPicPr>
            <a:picLocks noChangeAspect="1"/>
          </p:cNvPicPr>
          <p:nvPr/>
        </p:nvPicPr>
        <p:blipFill>
          <a:blip r:embed="rId5"/>
          <a:stretch>
            <a:fillRect/>
          </a:stretch>
        </p:blipFill>
        <p:spPr>
          <a:xfrm>
            <a:off x="1166178" y="6200879"/>
            <a:ext cx="4881460" cy="37741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3935" y="2303394"/>
            <a:ext cx="382087" cy="382087"/>
            <a:chOff x="912083" y="1992024"/>
            <a:chExt cx="585470" cy="585470"/>
          </a:xfrm>
        </p:grpSpPr>
        <p:pic>
          <p:nvPicPr>
            <p:cNvPr id="3" name="object 3"/>
            <p:cNvPicPr/>
            <p:nvPr/>
          </p:nvPicPr>
          <p:blipFill>
            <a:blip r:embed="rId2" cstate="print"/>
            <a:stretch>
              <a:fillRect/>
            </a:stretch>
          </p:blipFill>
          <p:spPr>
            <a:xfrm>
              <a:off x="912083" y="1992024"/>
              <a:ext cx="585215" cy="585187"/>
            </a:xfrm>
            <a:prstGeom prst="rect">
              <a:avLst/>
            </a:prstGeom>
          </p:spPr>
        </p:pic>
        <p:sp>
          <p:nvSpPr>
            <p:cNvPr id="4" name="object 4"/>
            <p:cNvSpPr/>
            <p:nvPr/>
          </p:nvSpPr>
          <p:spPr>
            <a:xfrm>
              <a:off x="974277" y="2058031"/>
              <a:ext cx="438150" cy="438150"/>
            </a:xfrm>
            <a:custGeom>
              <a:avLst/>
              <a:gdLst/>
              <a:ahLst/>
              <a:cxnLst/>
              <a:rect l="l" t="t" r="r" b="b"/>
              <a:pathLst>
                <a:path w="438150" h="438150">
                  <a:moveTo>
                    <a:pt x="218821" y="0"/>
                  </a:moveTo>
                  <a:lnTo>
                    <a:pt x="168646" y="5779"/>
                  </a:lnTo>
                  <a:lnTo>
                    <a:pt x="122588" y="22240"/>
                  </a:lnTo>
                  <a:lnTo>
                    <a:pt x="81958" y="48071"/>
                  </a:lnTo>
                  <a:lnTo>
                    <a:pt x="48071" y="81958"/>
                  </a:lnTo>
                  <a:lnTo>
                    <a:pt x="22240" y="122588"/>
                  </a:lnTo>
                  <a:lnTo>
                    <a:pt x="5779" y="168646"/>
                  </a:lnTo>
                  <a:lnTo>
                    <a:pt x="0" y="218821"/>
                  </a:lnTo>
                  <a:lnTo>
                    <a:pt x="5779" y="268995"/>
                  </a:lnTo>
                  <a:lnTo>
                    <a:pt x="22240" y="315053"/>
                  </a:lnTo>
                  <a:lnTo>
                    <a:pt x="48071" y="355683"/>
                  </a:lnTo>
                  <a:lnTo>
                    <a:pt x="81958" y="389570"/>
                  </a:lnTo>
                  <a:lnTo>
                    <a:pt x="122588" y="415401"/>
                  </a:lnTo>
                  <a:lnTo>
                    <a:pt x="168646" y="431862"/>
                  </a:lnTo>
                  <a:lnTo>
                    <a:pt x="218821" y="437642"/>
                  </a:lnTo>
                  <a:lnTo>
                    <a:pt x="268995" y="431862"/>
                  </a:lnTo>
                  <a:lnTo>
                    <a:pt x="315053" y="415401"/>
                  </a:lnTo>
                  <a:lnTo>
                    <a:pt x="355683" y="389570"/>
                  </a:lnTo>
                  <a:lnTo>
                    <a:pt x="389570" y="355683"/>
                  </a:lnTo>
                  <a:lnTo>
                    <a:pt x="415401" y="315053"/>
                  </a:lnTo>
                  <a:lnTo>
                    <a:pt x="431862" y="268995"/>
                  </a:lnTo>
                  <a:lnTo>
                    <a:pt x="437642" y="218821"/>
                  </a:lnTo>
                  <a:lnTo>
                    <a:pt x="431862" y="168646"/>
                  </a:lnTo>
                  <a:lnTo>
                    <a:pt x="415401" y="122588"/>
                  </a:lnTo>
                  <a:lnTo>
                    <a:pt x="389570" y="81958"/>
                  </a:lnTo>
                  <a:lnTo>
                    <a:pt x="355683" y="48071"/>
                  </a:lnTo>
                  <a:lnTo>
                    <a:pt x="315053" y="22240"/>
                  </a:lnTo>
                  <a:lnTo>
                    <a:pt x="268995" y="5779"/>
                  </a:lnTo>
                  <a:lnTo>
                    <a:pt x="218821" y="0"/>
                  </a:lnTo>
                  <a:close/>
                </a:path>
              </a:pathLst>
            </a:custGeom>
            <a:solidFill>
              <a:srgbClr val="FFFFFF"/>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5" name="object 5"/>
            <p:cNvSpPr/>
            <p:nvPr/>
          </p:nvSpPr>
          <p:spPr>
            <a:xfrm>
              <a:off x="974277" y="2058031"/>
              <a:ext cx="438150" cy="438150"/>
            </a:xfrm>
            <a:custGeom>
              <a:avLst/>
              <a:gdLst/>
              <a:ahLst/>
              <a:cxnLst/>
              <a:rect l="l" t="t" r="r" b="b"/>
              <a:pathLst>
                <a:path w="438150" h="438150">
                  <a:moveTo>
                    <a:pt x="437642" y="218821"/>
                  </a:moveTo>
                  <a:lnTo>
                    <a:pt x="431862" y="268995"/>
                  </a:lnTo>
                  <a:lnTo>
                    <a:pt x="415401" y="315053"/>
                  </a:lnTo>
                  <a:lnTo>
                    <a:pt x="389570" y="355683"/>
                  </a:lnTo>
                  <a:lnTo>
                    <a:pt x="355683" y="389570"/>
                  </a:lnTo>
                  <a:lnTo>
                    <a:pt x="315053" y="415401"/>
                  </a:lnTo>
                  <a:lnTo>
                    <a:pt x="268995" y="431862"/>
                  </a:lnTo>
                  <a:lnTo>
                    <a:pt x="218821" y="437642"/>
                  </a:lnTo>
                  <a:lnTo>
                    <a:pt x="168646" y="431862"/>
                  </a:lnTo>
                  <a:lnTo>
                    <a:pt x="122588" y="415401"/>
                  </a:lnTo>
                  <a:lnTo>
                    <a:pt x="81958" y="389570"/>
                  </a:lnTo>
                  <a:lnTo>
                    <a:pt x="48071" y="355683"/>
                  </a:lnTo>
                  <a:lnTo>
                    <a:pt x="22240" y="315053"/>
                  </a:lnTo>
                  <a:lnTo>
                    <a:pt x="5779" y="268995"/>
                  </a:lnTo>
                  <a:lnTo>
                    <a:pt x="0" y="218821"/>
                  </a:lnTo>
                  <a:lnTo>
                    <a:pt x="5779" y="168646"/>
                  </a:lnTo>
                  <a:lnTo>
                    <a:pt x="22240" y="122588"/>
                  </a:lnTo>
                  <a:lnTo>
                    <a:pt x="48071" y="81958"/>
                  </a:lnTo>
                  <a:lnTo>
                    <a:pt x="81958" y="48071"/>
                  </a:lnTo>
                  <a:lnTo>
                    <a:pt x="122588" y="22240"/>
                  </a:lnTo>
                  <a:lnTo>
                    <a:pt x="168646" y="5779"/>
                  </a:lnTo>
                  <a:lnTo>
                    <a:pt x="218821" y="0"/>
                  </a:lnTo>
                  <a:lnTo>
                    <a:pt x="268995" y="5779"/>
                  </a:lnTo>
                  <a:lnTo>
                    <a:pt x="315053" y="22240"/>
                  </a:lnTo>
                  <a:lnTo>
                    <a:pt x="355683" y="48071"/>
                  </a:lnTo>
                  <a:lnTo>
                    <a:pt x="389570" y="81958"/>
                  </a:lnTo>
                  <a:lnTo>
                    <a:pt x="415401" y="122588"/>
                  </a:lnTo>
                  <a:lnTo>
                    <a:pt x="431862" y="168646"/>
                  </a:lnTo>
                  <a:lnTo>
                    <a:pt x="437642" y="218821"/>
                  </a:lnTo>
                  <a:close/>
                </a:path>
              </a:pathLst>
            </a:custGeom>
            <a:ln w="13436">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grpSp>
        <p:nvGrpSpPr>
          <p:cNvPr id="8" name="object 8"/>
          <p:cNvGrpSpPr/>
          <p:nvPr/>
        </p:nvGrpSpPr>
        <p:grpSpPr>
          <a:xfrm>
            <a:off x="474804" y="2264300"/>
            <a:ext cx="3561451" cy="450051"/>
            <a:chOff x="714216" y="1932120"/>
            <a:chExt cx="5457190" cy="689610"/>
          </a:xfrm>
        </p:grpSpPr>
        <p:sp>
          <p:nvSpPr>
            <p:cNvPr id="9" name="object 9"/>
            <p:cNvSpPr/>
            <p:nvPr/>
          </p:nvSpPr>
          <p:spPr>
            <a:xfrm>
              <a:off x="721232" y="1939137"/>
              <a:ext cx="5443220" cy="675640"/>
            </a:xfrm>
            <a:custGeom>
              <a:avLst/>
              <a:gdLst/>
              <a:ahLst/>
              <a:cxnLst/>
              <a:rect l="l" t="t" r="r" b="b"/>
              <a:pathLst>
                <a:path w="5443220" h="675639">
                  <a:moveTo>
                    <a:pt x="5442826" y="675424"/>
                  </a:moveTo>
                  <a:lnTo>
                    <a:pt x="0" y="675424"/>
                  </a:lnTo>
                  <a:lnTo>
                    <a:pt x="0" y="0"/>
                  </a:lnTo>
                  <a:lnTo>
                    <a:pt x="5442826" y="0"/>
                  </a:lnTo>
                  <a:lnTo>
                    <a:pt x="5442826" y="675424"/>
                  </a:lnTo>
                  <a:close/>
                </a:path>
              </a:pathLst>
            </a:custGeom>
            <a:ln w="14033">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10" name="object 10"/>
            <p:cNvPicPr/>
            <p:nvPr/>
          </p:nvPicPr>
          <p:blipFill>
            <a:blip r:embed="rId3" cstate="print"/>
            <a:stretch>
              <a:fillRect/>
            </a:stretch>
          </p:blipFill>
          <p:spPr>
            <a:xfrm>
              <a:off x="1036076" y="2120532"/>
              <a:ext cx="338327" cy="454138"/>
            </a:xfrm>
            <a:prstGeom prst="rect">
              <a:avLst/>
            </a:prstGeom>
          </p:spPr>
        </p:pic>
      </p:grpSp>
      <p:sp>
        <p:nvSpPr>
          <p:cNvPr id="11" name="object 11"/>
          <p:cNvSpPr txBox="1"/>
          <p:nvPr/>
        </p:nvSpPr>
        <p:spPr>
          <a:xfrm>
            <a:off x="738676" y="2374242"/>
            <a:ext cx="2507760" cy="209193"/>
          </a:xfrm>
          <a:prstGeom prst="rect">
            <a:avLst/>
          </a:prstGeom>
        </p:spPr>
        <p:txBody>
          <a:bodyPr vert="horz" wrap="square" lIns="0" tIns="8288" rIns="0" bIns="0" rtlCol="0">
            <a:spAutoFit/>
          </a:bodyPr>
          <a:lstStyle/>
          <a:p>
            <a:pPr>
              <a:spcBef>
                <a:spcPts val="65"/>
              </a:spcBef>
              <a:tabLst>
                <a:tab pos="312044" algn="l"/>
              </a:tabLst>
            </a:pPr>
            <a:r>
              <a:rPr sz="1305">
                <a:solidFill>
                  <a:srgbClr val="009245"/>
                </a:solidFill>
                <a:latin typeface="Suisse Intl" panose="020B0504000000000000" pitchFamily="34" charset="-78"/>
                <a:cs typeface="Suisse Intl" panose="020B0504000000000000" pitchFamily="34" charset="-78"/>
              </a:rPr>
              <a:t>$	</a:t>
            </a:r>
            <a:r>
              <a:rPr sz="1305">
                <a:solidFill>
                  <a:srgbClr val="191919"/>
                </a:solidFill>
                <a:latin typeface="Suisse Intl" panose="020B0504000000000000" pitchFamily="34" charset="-78"/>
                <a:cs typeface="Suisse Intl" panose="020B0504000000000000" pitchFamily="34" charset="-78"/>
              </a:rPr>
              <a:t>OUTRIGHT PURCHASE</a:t>
            </a:r>
            <a:endParaRPr sz="1305">
              <a:latin typeface="Suisse Intl" panose="020B0504000000000000" pitchFamily="34" charset="-78"/>
              <a:cs typeface="Suisse Intl" panose="020B0504000000000000" pitchFamily="34" charset="-78"/>
            </a:endParaRPr>
          </a:p>
        </p:txBody>
      </p:sp>
      <p:sp>
        <p:nvSpPr>
          <p:cNvPr id="21" name="object 21"/>
          <p:cNvSpPr txBox="1"/>
          <p:nvPr/>
        </p:nvSpPr>
        <p:spPr>
          <a:xfrm>
            <a:off x="1502862" y="7255809"/>
            <a:ext cx="1537809" cy="189188"/>
          </a:xfrm>
          <a:prstGeom prst="rect">
            <a:avLst/>
          </a:prstGeom>
        </p:spPr>
        <p:txBody>
          <a:bodyPr vert="horz" wrap="square" lIns="0" tIns="8288" rIns="0" bIns="0" rtlCol="0">
            <a:spAutoFit/>
          </a:bodyPr>
          <a:lstStyle/>
          <a:p>
            <a:pPr marL="8288">
              <a:spcBef>
                <a:spcPts val="65"/>
              </a:spcBef>
            </a:pPr>
            <a:r>
              <a:rPr sz="1175" b="1">
                <a:solidFill>
                  <a:srgbClr val="191919"/>
                </a:solidFill>
                <a:latin typeface="Suisse Intl" panose="020B0504000000000000" pitchFamily="34" charset="-78"/>
                <a:cs typeface="Suisse Intl" panose="020B0504000000000000" pitchFamily="34" charset="-78"/>
              </a:rPr>
              <a:t>SAVINGS PER YEAR</a:t>
            </a:r>
            <a:endParaRPr sz="1175">
              <a:latin typeface="Suisse Intl" panose="020B0504000000000000" pitchFamily="34" charset="-78"/>
              <a:cs typeface="Suisse Intl" panose="020B0504000000000000" pitchFamily="34" charset="-78"/>
            </a:endParaRPr>
          </a:p>
        </p:txBody>
      </p:sp>
      <p:sp>
        <p:nvSpPr>
          <p:cNvPr id="22" name="object 22"/>
          <p:cNvSpPr txBox="1"/>
          <p:nvPr/>
        </p:nvSpPr>
        <p:spPr>
          <a:xfrm>
            <a:off x="1003458" y="7580905"/>
            <a:ext cx="2536612" cy="402775"/>
          </a:xfrm>
          <a:prstGeom prst="rect">
            <a:avLst/>
          </a:prstGeom>
          <a:ln w="13525">
            <a:solidFill>
              <a:srgbClr val="FF0000"/>
            </a:solidFill>
          </a:ln>
        </p:spPr>
        <p:txBody>
          <a:bodyPr vert="horz" wrap="square" lIns="0" tIns="108000" rIns="0" bIns="108000" rtlCol="0" anchor="ctr">
            <a:spAutoFit/>
          </a:bodyPr>
          <a:lstStyle/>
          <a:p>
            <a:pPr algn="ctr">
              <a:spcBef>
                <a:spcPts val="483"/>
              </a:spcBef>
            </a:pPr>
            <a:r>
              <a:rPr lang="en-AU" sz="1200" b="0" i="0" dirty="0">
                <a:solidFill>
                  <a:schemeClr val="tx1"/>
                </a:solidFill>
                <a:effectLst/>
              </a:rPr>
              <a:t>$473,542</a:t>
            </a:r>
            <a:endParaRPr lang="en-US" sz="1200" dirty="0">
              <a:solidFill>
                <a:schemeClr val="tx1"/>
              </a:solidFill>
            </a:endParaRPr>
          </a:p>
        </p:txBody>
      </p:sp>
      <p:sp>
        <p:nvSpPr>
          <p:cNvPr id="23" name="object 23"/>
          <p:cNvSpPr txBox="1"/>
          <p:nvPr/>
        </p:nvSpPr>
        <p:spPr>
          <a:xfrm>
            <a:off x="4365234" y="7255809"/>
            <a:ext cx="2005403" cy="189188"/>
          </a:xfrm>
          <a:prstGeom prst="rect">
            <a:avLst/>
          </a:prstGeom>
        </p:spPr>
        <p:txBody>
          <a:bodyPr vert="horz" wrap="square" lIns="0" tIns="8288" rIns="0" bIns="0" rtlCol="0">
            <a:spAutoFit/>
          </a:bodyPr>
          <a:lstStyle/>
          <a:p>
            <a:pPr marL="8288">
              <a:spcBef>
                <a:spcPts val="65"/>
              </a:spcBef>
            </a:pPr>
            <a:r>
              <a:rPr sz="1175" b="1">
                <a:solidFill>
                  <a:srgbClr val="191919"/>
                </a:solidFill>
                <a:latin typeface="Suisse Intl" panose="020B0504000000000000" pitchFamily="34" charset="-78"/>
                <a:cs typeface="Suisse Intl" panose="020B0504000000000000" pitchFamily="34" charset="-78"/>
              </a:rPr>
              <a:t>RETURN OF INVESTMENT</a:t>
            </a:r>
            <a:endParaRPr sz="1175">
              <a:latin typeface="Suisse Intl" panose="020B0504000000000000" pitchFamily="34" charset="-78"/>
              <a:cs typeface="Suisse Intl" panose="020B0504000000000000" pitchFamily="34" charset="-78"/>
            </a:endParaRPr>
          </a:p>
        </p:txBody>
      </p:sp>
      <p:sp>
        <p:nvSpPr>
          <p:cNvPr id="24" name="object 24"/>
          <p:cNvSpPr txBox="1"/>
          <p:nvPr/>
        </p:nvSpPr>
        <p:spPr>
          <a:xfrm>
            <a:off x="3925470" y="7582828"/>
            <a:ext cx="2717295" cy="398928"/>
          </a:xfrm>
          <a:prstGeom prst="rect">
            <a:avLst/>
          </a:prstGeom>
          <a:solidFill>
            <a:srgbClr val="FF0000"/>
          </a:solidFill>
        </p:spPr>
        <p:txBody>
          <a:bodyPr vert="horz" wrap="square" lIns="0" tIns="108000" rIns="0" bIns="108000" rtlCol="0" anchor="ctr">
            <a:spAutoFit/>
          </a:bodyPr>
          <a:lstStyle/>
          <a:p>
            <a:pPr algn="ctr"/>
            <a:r>
              <a:rPr lang="en-AU" sz="1200" b="0" i="0" dirty="0">
                <a:solidFill>
                  <a:schemeClr val="bg1"/>
                </a:solidFill>
                <a:effectLst/>
                <a:latin typeface="Suisse Intl" panose="020B0504000000000000" pitchFamily="34" charset="-78"/>
                <a:cs typeface="Suisse Intl" panose="020B0504000000000000" pitchFamily="34" charset="-78"/>
              </a:rPr>
              <a:t>5 years</a:t>
            </a:r>
            <a:endParaRPr sz="1175" dirty="0">
              <a:solidFill>
                <a:schemeClr val="bg1"/>
              </a:solidFill>
              <a:latin typeface="Suisse Intl" panose="020B0504000000000000" pitchFamily="34" charset="-78"/>
              <a:cs typeface="Suisse Intl" panose="020B0504000000000000" pitchFamily="34" charset="-78"/>
            </a:endParaRPr>
          </a:p>
        </p:txBody>
      </p:sp>
      <p:sp>
        <p:nvSpPr>
          <p:cNvPr id="41" name="object 41"/>
          <p:cNvSpPr/>
          <p:nvPr/>
        </p:nvSpPr>
        <p:spPr>
          <a:xfrm>
            <a:off x="478577" y="445066"/>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3" name="object 43"/>
          <p:cNvSpPr txBox="1"/>
          <p:nvPr/>
        </p:nvSpPr>
        <p:spPr>
          <a:xfrm>
            <a:off x="3203323" y="2267792"/>
            <a:ext cx="832138" cy="433062"/>
          </a:xfrm>
          <a:prstGeom prst="rect">
            <a:avLst/>
          </a:prstGeom>
          <a:solidFill>
            <a:srgbClr val="FF0000"/>
          </a:solidFill>
        </p:spPr>
        <p:txBody>
          <a:bodyPr vert="horz" wrap="square" lIns="0" tIns="114792" rIns="0" bIns="115200" rtlCol="0" anchor="t">
            <a:spAutoFit/>
          </a:bodyPr>
          <a:lstStyle/>
          <a:p>
            <a:pPr marL="272676">
              <a:spcBef>
                <a:spcPts val="904"/>
              </a:spcBef>
            </a:pPr>
            <a:r>
              <a:rPr sz="1305">
                <a:solidFill>
                  <a:srgbClr val="FFFFFF"/>
                </a:solidFill>
                <a:latin typeface="Suisse Intl" panose="020B0504000000000000" pitchFamily="34" charset="-78"/>
                <a:cs typeface="Suisse Intl" panose="020B0504000000000000" pitchFamily="34" charset="-78"/>
              </a:rPr>
              <a:t>ROI</a:t>
            </a:r>
            <a:endParaRPr sz="1305">
              <a:latin typeface="Suisse Intl" panose="020B0504000000000000" pitchFamily="34" charset="-78"/>
              <a:cs typeface="Suisse Intl" panose="020B0504000000000000" pitchFamily="34" charset="-78"/>
            </a:endParaRPr>
          </a:p>
        </p:txBody>
      </p:sp>
      <p:sp>
        <p:nvSpPr>
          <p:cNvPr id="48" name="object 8">
            <a:extLst>
              <a:ext uri="{FF2B5EF4-FFF2-40B4-BE49-F238E27FC236}">
                <a16:creationId xmlns:a16="http://schemas.microsoft.com/office/drawing/2014/main" id="{471443C4-FD78-CCFE-0D9F-F14DF174CEF8}"/>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FINANCIAL SUMMARY</a:t>
            </a:r>
            <a:endParaRPr sz="2000">
              <a:latin typeface="Suisse Intl" panose="020B0504000000000000" pitchFamily="34" charset="-78"/>
              <a:cs typeface="Suisse Intl" panose="020B0504000000000000" pitchFamily="34" charset="-78"/>
            </a:endParaRPr>
          </a:p>
        </p:txBody>
      </p:sp>
      <p:sp>
        <p:nvSpPr>
          <p:cNvPr id="50" name="object 5">
            <a:extLst>
              <a:ext uri="{FF2B5EF4-FFF2-40B4-BE49-F238E27FC236}">
                <a16:creationId xmlns:a16="http://schemas.microsoft.com/office/drawing/2014/main" id="{AEA6AECD-858D-E28D-D0EA-2C36582A6EA3}"/>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pic>
        <p:nvPicPr>
          <p:cNvPr id="7" name="object 3">
            <a:extLst>
              <a:ext uri="{FF2B5EF4-FFF2-40B4-BE49-F238E27FC236}">
                <a16:creationId xmlns:a16="http://schemas.microsoft.com/office/drawing/2014/main" id="{21FADC06-5EE4-7DB7-9DDB-2D943CBA95FC}"/>
              </a:ext>
            </a:extLst>
          </p:cNvPr>
          <p:cNvPicPr/>
          <p:nvPr/>
        </p:nvPicPr>
        <p:blipFill>
          <a:blip r:embed="rId4" cstate="print"/>
          <a:stretch>
            <a:fillRect/>
          </a:stretch>
        </p:blipFill>
        <p:spPr>
          <a:xfrm>
            <a:off x="6286040" y="10185564"/>
            <a:ext cx="788774" cy="271025"/>
          </a:xfrm>
          <a:prstGeom prst="rect">
            <a:avLst/>
          </a:prstGeom>
        </p:spPr>
      </p:pic>
      <p:sp>
        <p:nvSpPr>
          <p:cNvPr id="40" name="object 36">
            <a:extLst>
              <a:ext uri="{FF2B5EF4-FFF2-40B4-BE49-F238E27FC236}">
                <a16:creationId xmlns:a16="http://schemas.microsoft.com/office/drawing/2014/main" id="{75D71177-56B1-C6AB-56AE-EBAF9052B61C}"/>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lang="en-AU" sz="653">
                <a:solidFill>
                  <a:srgbClr val="FF0000"/>
                </a:solidFill>
                <a:latin typeface="Suisse Intl" panose="020B0504000000000000" pitchFamily="34" charset="-78"/>
                <a:cs typeface="Suisse Intl" panose="020B0504000000000000" pitchFamily="34" charset="-78"/>
              </a:rPr>
              <a:t>1</a:t>
            </a:r>
            <a:r>
              <a:rPr sz="653">
                <a:solidFill>
                  <a:srgbClr val="FF0000"/>
                </a:solidFill>
                <a:latin typeface="Suisse Intl" panose="020B0504000000000000" pitchFamily="34" charset="-78"/>
                <a:cs typeface="Suisse Intl" panose="020B0504000000000000" pitchFamily="34" charset="-78"/>
              </a:rPr>
              <a:t>1</a:t>
            </a:r>
            <a:endParaRPr sz="653">
              <a:latin typeface="Suisse Intl" panose="020B0504000000000000" pitchFamily="34" charset="-78"/>
              <a:cs typeface="Suisse Intl" panose="020B0504000000000000" pitchFamily="34" charset="-78"/>
            </a:endParaRPr>
          </a:p>
        </p:txBody>
      </p:sp>
      <p:sp>
        <p:nvSpPr>
          <p:cNvPr id="42" name="object 22">
            <a:extLst>
              <a:ext uri="{FF2B5EF4-FFF2-40B4-BE49-F238E27FC236}">
                <a16:creationId xmlns:a16="http://schemas.microsoft.com/office/drawing/2014/main" id="{10A913D8-7F18-FBCF-CD20-162F5487DF84}"/>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pic>
        <p:nvPicPr>
          <p:cNvPr id="51" name="Picture 50" descr="image.png"/>
          <p:cNvPicPr>
            <a:picLocks noChangeAspect="1"/>
          </p:cNvPicPr>
          <p:nvPr/>
        </p:nvPicPr>
        <p:blipFill>
          <a:blip r:embed="rId5"/>
          <a:stretch>
            <a:fillRect/>
          </a:stretch>
        </p:blipFill>
        <p:spPr>
          <a:xfrm>
            <a:off x="802358" y="2885041"/>
            <a:ext cx="5954957" cy="41313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70281" y="2614852"/>
            <a:ext cx="1709356" cy="223813"/>
          </a:xfrm>
          <a:prstGeom prst="rect">
            <a:avLst/>
          </a:prstGeom>
        </p:spPr>
        <p:txBody>
          <a:bodyPr vert="horz" wrap="square" lIns="0" tIns="8288" rIns="0" bIns="0" rtlCol="0">
            <a:spAutoFit/>
          </a:bodyPr>
          <a:lstStyle/>
          <a:p>
            <a:pPr marL="8288">
              <a:spcBef>
                <a:spcPts val="65"/>
              </a:spcBef>
            </a:pPr>
            <a:r>
              <a:rPr lang="en-US" sz="1400" b="0" i="0" dirty="0">
                <a:solidFill>
                  <a:srgbClr val="0F2B4B"/>
                </a:solidFill>
                <a:latin typeface="Suisse Intl" panose="020B0504000000000000" pitchFamily="34" charset="-78"/>
                <a:cs typeface="Suisse Intl" panose="020B0504000000000000" pitchFamily="34" charset="-78"/>
              </a:rPr>
              <a:t>QUOTATION</a:t>
            </a:r>
          </a:p>
        </p:txBody>
      </p:sp>
      <p:sp>
        <p:nvSpPr>
          <p:cNvPr id="8" name="object 8"/>
          <p:cNvSpPr txBox="1"/>
          <p:nvPr/>
        </p:nvSpPr>
        <p:spPr>
          <a:xfrm>
            <a:off x="475082" y="1323405"/>
            <a:ext cx="1989589" cy="822103"/>
          </a:xfrm>
          <a:prstGeom prst="rect">
            <a:avLst/>
          </a:prstGeom>
          <a:ln w="14160">
            <a:solidFill>
              <a:srgbClr val="FF0000"/>
            </a:solidFill>
          </a:ln>
        </p:spPr>
        <p:txBody>
          <a:bodyPr vert="horz" wrap="square" lIns="0" tIns="180000" rIns="0" bIns="180000" rtlCol="0" anchor="ctr">
            <a:spAutoFit/>
          </a:bodyPr>
          <a:lstStyle/>
          <a:p>
            <a:pPr marR="157058" algn="ctr">
              <a:spcBef>
                <a:spcPts val="1481"/>
              </a:spcBef>
            </a:pPr>
            <a:r>
              <a:rPr sz="1200" b="1" dirty="0">
                <a:solidFill>
                  <a:srgbClr val="191919"/>
                </a:solidFill>
                <a:latin typeface="Suisse Intl" panose="020B0504000000000000" pitchFamily="34" charset="-78"/>
                <a:cs typeface="Suisse Intl" panose="020B0504000000000000" pitchFamily="34" charset="-78"/>
              </a:rPr>
              <a:t>QUOTE ID</a:t>
            </a:r>
            <a:endParaRPr sz="1200" dirty="0">
              <a:latin typeface="Suisse Intl" panose="020B0504000000000000" pitchFamily="34" charset="-78"/>
              <a:cs typeface="Suisse Intl" panose="020B0504000000000000" pitchFamily="34" charset="-78"/>
            </a:endParaRPr>
          </a:p>
          <a:p>
            <a:pPr marR="157472" algn="ctr">
              <a:spcBef>
                <a:spcPts val="591"/>
              </a:spcBef>
            </a:pPr>
            <a:r>
              <a:rPr lang="en-AU" sz="1200" dirty="0">
                <a:solidFill>
                  <a:schemeClr val="tx1"/>
                </a:solidFill>
                <a:latin typeface="Suisse Intl" panose="020B0504000000000000" pitchFamily="34" charset="-78"/>
                <a:cs typeface="Suisse Intl" panose="020B0504000000000000" pitchFamily="34" charset="-78"/>
              </a:rPr>
              <a:t>4958805</a:t>
            </a:r>
            <a:endParaRPr sz="1200" dirty="0">
              <a:solidFill>
                <a:schemeClr val="tx1"/>
              </a:solidFill>
              <a:latin typeface="Suisse Intl" panose="020B0504000000000000" pitchFamily="34" charset="-78"/>
              <a:cs typeface="Suisse Intl" panose="020B0504000000000000" pitchFamily="34" charset="-78"/>
            </a:endParaRPr>
          </a:p>
        </p:txBody>
      </p:sp>
      <p:sp>
        <p:nvSpPr>
          <p:cNvPr id="9" name="object 9"/>
          <p:cNvSpPr txBox="1"/>
          <p:nvPr/>
        </p:nvSpPr>
        <p:spPr>
          <a:xfrm>
            <a:off x="2781439" y="1323405"/>
            <a:ext cx="1989589" cy="822103"/>
          </a:xfrm>
          <a:prstGeom prst="rect">
            <a:avLst/>
          </a:prstGeom>
          <a:ln w="14160">
            <a:solidFill>
              <a:srgbClr val="FF0000"/>
            </a:solidFill>
          </a:ln>
        </p:spPr>
        <p:txBody>
          <a:bodyPr vert="horz" wrap="square" lIns="0" tIns="180000" rIns="0" bIns="180000" rtlCol="0" anchor="ctr">
            <a:spAutoFit/>
          </a:bodyPr>
          <a:lstStyle/>
          <a:p>
            <a:pPr marL="7045" algn="ctr">
              <a:spcBef>
                <a:spcPts val="1481"/>
              </a:spcBef>
            </a:pPr>
            <a:r>
              <a:rPr sz="1200" b="1" dirty="0">
                <a:solidFill>
                  <a:srgbClr val="191919"/>
                </a:solidFill>
                <a:latin typeface="Suisse Intl" panose="020B0504000000000000" pitchFamily="34" charset="-78"/>
                <a:cs typeface="Suisse Intl" panose="020B0504000000000000" pitchFamily="34" charset="-78"/>
              </a:rPr>
              <a:t>DATE</a:t>
            </a:r>
            <a:endParaRPr sz="1200" dirty="0">
              <a:latin typeface="Suisse Intl" panose="020B0504000000000000" pitchFamily="34" charset="-78"/>
              <a:cs typeface="Suisse Intl" panose="020B0504000000000000" pitchFamily="34" charset="-78"/>
            </a:endParaRPr>
          </a:p>
          <a:p>
            <a:pPr marL="7045" algn="ctr">
              <a:spcBef>
                <a:spcPts val="591"/>
              </a:spcBef>
            </a:pPr>
            <a:r>
              <a:rPr lang="en-AU" sz="1200" dirty="0">
                <a:solidFill>
                  <a:srgbClr val="191919"/>
                </a:solidFill>
                <a:latin typeface="Suisse Intl" panose="020B0504000000000000" pitchFamily="34" charset="-78"/>
                <a:cs typeface="Suisse Intl" panose="020B0504000000000000" pitchFamily="34" charset="-78"/>
              </a:rPr>
              <a:t>26/08/2025</a:t>
            </a:r>
            <a:endParaRPr sz="1200" dirty="0">
              <a:latin typeface="Suisse Intl" panose="020B0504000000000000" pitchFamily="34" charset="-78"/>
              <a:cs typeface="Suisse Intl" panose="020B0504000000000000" pitchFamily="34" charset="-78"/>
            </a:endParaRPr>
          </a:p>
        </p:txBody>
      </p:sp>
      <p:sp>
        <p:nvSpPr>
          <p:cNvPr id="10" name="object 10"/>
          <p:cNvSpPr txBox="1"/>
          <p:nvPr/>
        </p:nvSpPr>
        <p:spPr>
          <a:xfrm>
            <a:off x="5087796" y="1323405"/>
            <a:ext cx="1989589" cy="822103"/>
          </a:xfrm>
          <a:prstGeom prst="rect">
            <a:avLst/>
          </a:prstGeom>
          <a:ln w="14160">
            <a:solidFill>
              <a:srgbClr val="FF0000"/>
            </a:solidFill>
          </a:ln>
        </p:spPr>
        <p:txBody>
          <a:bodyPr vert="horz" wrap="square" lIns="0" tIns="180000" rIns="0" bIns="180000" rtlCol="0" anchor="ctr">
            <a:spAutoFit/>
          </a:bodyPr>
          <a:lstStyle/>
          <a:p>
            <a:pPr marL="13261" algn="ctr">
              <a:spcBef>
                <a:spcPts val="1481"/>
              </a:spcBef>
            </a:pPr>
            <a:r>
              <a:rPr sz="1200" b="1" dirty="0">
                <a:solidFill>
                  <a:srgbClr val="191919"/>
                </a:solidFill>
                <a:latin typeface="Suisse Intl" panose="020B0504000000000000" pitchFamily="34" charset="-78"/>
                <a:cs typeface="Suisse Intl" panose="020B0504000000000000" pitchFamily="34" charset="-78"/>
              </a:rPr>
              <a:t>AUTHORISED PERSON</a:t>
            </a:r>
            <a:endParaRPr sz="1200" dirty="0">
              <a:latin typeface="Suisse Intl" panose="020B0504000000000000" pitchFamily="34" charset="-78"/>
              <a:cs typeface="Suisse Intl" panose="020B0504000000000000" pitchFamily="34" charset="-78"/>
            </a:endParaRPr>
          </a:p>
          <a:p>
            <a:pPr algn="ctr">
              <a:spcBef>
                <a:spcPts val="591"/>
              </a:spcBef>
            </a:pPr>
            <a:r>
              <a:rPr lang="en-AU" sz="1200" dirty="0">
                <a:solidFill>
                  <a:schemeClr val="tx1"/>
                </a:solidFill>
                <a:latin typeface="Suisse Intl" panose="020B0504000000000000" pitchFamily="34" charset="-78"/>
                <a:cs typeface="Suisse Intl" panose="020B0504000000000000" pitchFamily="34" charset="-78"/>
              </a:rPr>
              <a:t>Etex </a:t>
            </a:r>
            <a:endParaRPr sz="1200" dirty="0">
              <a:solidFill>
                <a:schemeClr val="tx1"/>
              </a:solidFill>
              <a:latin typeface="Suisse Intl" panose="020B0504000000000000" pitchFamily="34" charset="-78"/>
              <a:cs typeface="Suisse Intl" panose="020B0504000000000000" pitchFamily="34" charset="-78"/>
            </a:endParaRPr>
          </a:p>
        </p:txBody>
      </p:sp>
      <p:sp>
        <p:nvSpPr>
          <p:cNvPr id="11" name="object 11"/>
          <p:cNvSpPr txBox="1"/>
          <p:nvPr/>
        </p:nvSpPr>
        <p:spPr>
          <a:xfrm>
            <a:off x="471096" y="8675181"/>
            <a:ext cx="5025464" cy="223813"/>
          </a:xfrm>
          <a:prstGeom prst="rect">
            <a:avLst/>
          </a:prstGeom>
        </p:spPr>
        <p:txBody>
          <a:bodyPr vert="horz" wrap="square" lIns="0" tIns="8288" rIns="0" bIns="0" rtlCol="0">
            <a:spAutoFit/>
          </a:bodyPr>
          <a:lstStyle/>
          <a:p>
            <a:pPr marL="8288">
              <a:spcBef>
                <a:spcPts val="65"/>
              </a:spcBef>
            </a:pPr>
            <a:r>
              <a:rPr lang="en-AU" sz="1400" b="1" dirty="0">
                <a:solidFill>
                  <a:srgbClr val="191919"/>
                </a:solidFill>
                <a:latin typeface="Suisse Intl" panose="020B0504000000000000" pitchFamily="34" charset="-78"/>
                <a:cs typeface="Suisse Intl" panose="020B0504000000000000" pitchFamily="34" charset="-78"/>
              </a:rPr>
              <a:t>THIS QUOTE IS VALID TILL</a:t>
            </a:r>
            <a:endParaRPr lang="en-AU" sz="1400" dirty="0">
              <a:latin typeface="Suisse Intl" panose="020B0504000000000000" pitchFamily="34" charset="-78"/>
              <a:cs typeface="Suisse Intl" panose="020B0504000000000000" pitchFamily="34" charset="-78"/>
            </a:endParaRPr>
          </a:p>
        </p:txBody>
      </p:sp>
      <p:sp>
        <p:nvSpPr>
          <p:cNvPr id="12" name="object 12"/>
          <p:cNvSpPr/>
          <p:nvPr/>
        </p:nvSpPr>
        <p:spPr>
          <a:xfrm>
            <a:off x="483749" y="8969137"/>
            <a:ext cx="6592456" cy="1011164"/>
          </a:xfrm>
          <a:custGeom>
            <a:avLst/>
            <a:gdLst/>
            <a:ahLst/>
            <a:cxnLst/>
            <a:rect l="l" t="t" r="r" b="b"/>
            <a:pathLst>
              <a:path w="10101580" h="1549400">
                <a:moveTo>
                  <a:pt x="10101160" y="1549158"/>
                </a:moveTo>
                <a:lnTo>
                  <a:pt x="0" y="1549158"/>
                </a:lnTo>
                <a:lnTo>
                  <a:pt x="0" y="0"/>
                </a:lnTo>
                <a:lnTo>
                  <a:pt x="10101160" y="0"/>
                </a:lnTo>
                <a:lnTo>
                  <a:pt x="10101160" y="1549158"/>
                </a:lnTo>
                <a:close/>
              </a:path>
            </a:pathLst>
          </a:custGeom>
          <a:ln w="12814">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3" name="object 13"/>
          <p:cNvSpPr txBox="1"/>
          <p:nvPr/>
        </p:nvSpPr>
        <p:spPr>
          <a:xfrm>
            <a:off x="949779" y="9133269"/>
            <a:ext cx="2296658" cy="499150"/>
          </a:xfrm>
          <a:prstGeom prst="rect">
            <a:avLst/>
          </a:prstGeom>
        </p:spPr>
        <p:txBody>
          <a:bodyPr vert="horz" wrap="square" lIns="0" tIns="65063" rIns="0" bIns="0" rtlCol="0">
            <a:spAutoFit/>
          </a:bodyPr>
          <a:lstStyle/>
          <a:p>
            <a:pPr>
              <a:spcBef>
                <a:spcPts val="512"/>
              </a:spcBef>
            </a:pPr>
            <a:r>
              <a:rPr sz="1200" b="1" dirty="0">
                <a:solidFill>
                  <a:srgbClr val="191919"/>
                </a:solidFill>
                <a:latin typeface="Suisse Intl" panose="020B0504000000000000" pitchFamily="34" charset="-78"/>
                <a:cs typeface="Suisse Intl" panose="020B0504000000000000" pitchFamily="34" charset="-78"/>
              </a:rPr>
              <a:t>Company Name:</a:t>
            </a:r>
            <a:endParaRPr sz="1200" dirty="0">
              <a:latin typeface="Suisse Intl" panose="020B0504000000000000" pitchFamily="34" charset="-78"/>
              <a:cs typeface="Suisse Intl" panose="020B0504000000000000" pitchFamily="34" charset="-78"/>
            </a:endParaRPr>
          </a:p>
          <a:p>
            <a:pPr>
              <a:spcBef>
                <a:spcPts val="450"/>
              </a:spcBef>
            </a:pPr>
            <a:r>
              <a:rPr lang="en-AU" sz="1200" dirty="0">
                <a:solidFill>
                  <a:schemeClr val="tx1"/>
                </a:solidFill>
                <a:latin typeface="Suisse Intl" panose="020B0504000000000000" pitchFamily="34" charset="-78"/>
                <a:cs typeface="Suisse Intl" panose="020B0504000000000000" pitchFamily="34" charset="-78"/>
              </a:rPr>
              <a:t>Etex Australia Pty Ltd</a:t>
            </a:r>
            <a:endParaRPr sz="1200" dirty="0">
              <a:solidFill>
                <a:schemeClr val="tx1"/>
              </a:solidFill>
              <a:latin typeface="Suisse Intl" panose="020B0504000000000000" pitchFamily="34" charset="-78"/>
              <a:cs typeface="Suisse Intl" panose="020B0504000000000000" pitchFamily="34" charset="-78"/>
            </a:endParaRPr>
          </a:p>
        </p:txBody>
      </p:sp>
      <p:sp>
        <p:nvSpPr>
          <p:cNvPr id="14" name="object 14"/>
          <p:cNvSpPr txBox="1"/>
          <p:nvPr/>
        </p:nvSpPr>
        <p:spPr>
          <a:xfrm>
            <a:off x="3856039" y="9133269"/>
            <a:ext cx="2846485" cy="499150"/>
          </a:xfrm>
          <a:prstGeom prst="rect">
            <a:avLst/>
          </a:prstGeom>
        </p:spPr>
        <p:txBody>
          <a:bodyPr vert="horz" wrap="square" lIns="0" tIns="65063" rIns="0" bIns="0" rtlCol="0">
            <a:spAutoFit/>
          </a:bodyPr>
          <a:lstStyle/>
          <a:p>
            <a:pPr>
              <a:spcBef>
                <a:spcPts val="512"/>
              </a:spcBef>
            </a:pPr>
            <a:r>
              <a:rPr sz="1200" b="1" dirty="0">
                <a:solidFill>
                  <a:srgbClr val="191919"/>
                </a:solidFill>
                <a:latin typeface="Suisse Intl" panose="020B0504000000000000" pitchFamily="34" charset="-78"/>
                <a:cs typeface="Suisse Intl" panose="020B0504000000000000" pitchFamily="34" charset="-78"/>
              </a:rPr>
              <a:t>Company Address:</a:t>
            </a:r>
            <a:endParaRPr sz="1200" dirty="0">
              <a:latin typeface="Suisse Intl" panose="020B0504000000000000" pitchFamily="34" charset="-78"/>
              <a:cs typeface="Suisse Intl" panose="020B0504000000000000" pitchFamily="34" charset="-78"/>
            </a:endParaRPr>
          </a:p>
          <a:p>
            <a:pPr>
              <a:spcBef>
                <a:spcPts val="450"/>
              </a:spcBef>
            </a:pPr>
            <a:r>
              <a:rPr lang="en-AU" sz="1200" dirty="0">
                <a:solidFill>
                  <a:schemeClr val="tx1"/>
                </a:solidFill>
                <a:latin typeface="Suisse Intl" panose="020B0504000000000000" pitchFamily="34" charset="-78"/>
                <a:cs typeface="Suisse Intl" panose="020B0504000000000000" pitchFamily="34" charset="-78"/>
              </a:rPr>
              <a:t>290 Bushmead Road, HAZELMERE, WA 6055, Australia</a:t>
            </a:r>
            <a:endParaRPr sz="1200" dirty="0">
              <a:solidFill>
                <a:schemeClr val="tx1"/>
              </a:solidFill>
              <a:latin typeface="Suisse Intl" panose="020B0504000000000000" pitchFamily="34" charset="-78"/>
              <a:cs typeface="Suisse Intl" panose="020B0504000000000000" pitchFamily="34" charset="-78"/>
            </a:endParaRPr>
          </a:p>
        </p:txBody>
      </p:sp>
      <p:sp>
        <p:nvSpPr>
          <p:cNvPr id="16" name="object 16"/>
          <p:cNvSpPr/>
          <p:nvPr/>
        </p:nvSpPr>
        <p:spPr>
          <a:xfrm>
            <a:off x="478577" y="445066"/>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7" name="object 8">
            <a:extLst>
              <a:ext uri="{FF2B5EF4-FFF2-40B4-BE49-F238E27FC236}">
                <a16:creationId xmlns:a16="http://schemas.microsoft.com/office/drawing/2014/main" id="{B558A038-7FEC-403B-AC83-74B2FE550E88}"/>
              </a:ext>
            </a:extLst>
          </p:cNvPr>
          <p:cNvSpPr txBox="1"/>
          <p:nvPr/>
        </p:nvSpPr>
        <p:spPr>
          <a:xfrm>
            <a:off x="478570" y="607543"/>
            <a:ext cx="4165248" cy="395020"/>
          </a:xfrm>
          <a:prstGeom prst="rect">
            <a:avLst/>
          </a:prstGeom>
          <a:solidFill>
            <a:srgbClr val="FF0000"/>
          </a:solidFill>
        </p:spPr>
        <p:txBody>
          <a:bodyPr vert="horz" wrap="square" lIns="0" tIns="43200" rIns="0" bIns="43200" rtlCol="0">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PROJECT COST</a:t>
            </a:r>
            <a:endParaRPr sz="2000">
              <a:latin typeface="Suisse Intl" panose="020B0504000000000000" pitchFamily="34" charset="-78"/>
              <a:cs typeface="Suisse Intl" panose="020B0504000000000000" pitchFamily="34" charset="-78"/>
            </a:endParaRPr>
          </a:p>
        </p:txBody>
      </p:sp>
      <p:sp>
        <p:nvSpPr>
          <p:cNvPr id="32" name="object 5">
            <a:extLst>
              <a:ext uri="{FF2B5EF4-FFF2-40B4-BE49-F238E27FC236}">
                <a16:creationId xmlns:a16="http://schemas.microsoft.com/office/drawing/2014/main" id="{EADDF207-E46A-350E-98A2-AB632BCC3A3A}"/>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pic>
        <p:nvPicPr>
          <p:cNvPr id="2" name="object 3">
            <a:extLst>
              <a:ext uri="{FF2B5EF4-FFF2-40B4-BE49-F238E27FC236}">
                <a16:creationId xmlns:a16="http://schemas.microsoft.com/office/drawing/2014/main" id="{1FC03A19-EFAC-D655-0FB8-99BD99140785}"/>
              </a:ext>
            </a:extLst>
          </p:cNvPr>
          <p:cNvPicPr/>
          <p:nvPr/>
        </p:nvPicPr>
        <p:blipFill>
          <a:blip r:embed="rId3" cstate="print"/>
          <a:stretch>
            <a:fillRect/>
          </a:stretch>
        </p:blipFill>
        <p:spPr>
          <a:xfrm>
            <a:off x="6286040" y="10185564"/>
            <a:ext cx="788774" cy="271025"/>
          </a:xfrm>
          <a:prstGeom prst="rect">
            <a:avLst/>
          </a:prstGeom>
        </p:spPr>
      </p:pic>
      <p:sp>
        <p:nvSpPr>
          <p:cNvPr id="5" name="object 36">
            <a:extLst>
              <a:ext uri="{FF2B5EF4-FFF2-40B4-BE49-F238E27FC236}">
                <a16:creationId xmlns:a16="http://schemas.microsoft.com/office/drawing/2014/main" id="{78671872-0720-9F91-E0EA-D9610F83F704}"/>
              </a:ext>
            </a:extLst>
          </p:cNvPr>
          <p:cNvSpPr txBox="1"/>
          <p:nvPr/>
        </p:nvSpPr>
        <p:spPr>
          <a:xfrm>
            <a:off x="3805090" y="10261420"/>
            <a:ext cx="203347" cy="103406"/>
          </a:xfrm>
          <a:prstGeom prst="rect">
            <a:avLst/>
          </a:prstGeom>
        </p:spPr>
        <p:txBody>
          <a:bodyPr vert="horz" wrap="square" lIns="0" tIns="2901" rIns="0" bIns="0" rtlCol="0">
            <a:spAutoFit/>
          </a:bodyPr>
          <a:lstStyle/>
          <a:p>
            <a:pPr marL="8288">
              <a:spcBef>
                <a:spcPts val="23"/>
              </a:spcBef>
            </a:pPr>
            <a:r>
              <a:rPr lang="en-AU" sz="653">
                <a:solidFill>
                  <a:srgbClr val="FF0000"/>
                </a:solidFill>
                <a:latin typeface="Suisse Intl" panose="020B0504000000000000" pitchFamily="34" charset="-78"/>
                <a:cs typeface="Suisse Intl" panose="020B0504000000000000" pitchFamily="34" charset="-78"/>
              </a:rPr>
              <a:t>10</a:t>
            </a:r>
            <a:endParaRPr sz="653">
              <a:latin typeface="Suisse Intl" panose="020B0504000000000000" pitchFamily="34" charset="-78"/>
              <a:cs typeface="Suisse Intl" panose="020B0504000000000000" pitchFamily="34" charset="-78"/>
            </a:endParaRPr>
          </a:p>
        </p:txBody>
      </p:sp>
      <p:sp>
        <p:nvSpPr>
          <p:cNvPr id="15" name="object 22">
            <a:extLst>
              <a:ext uri="{FF2B5EF4-FFF2-40B4-BE49-F238E27FC236}">
                <a16:creationId xmlns:a16="http://schemas.microsoft.com/office/drawing/2014/main" id="{12BC7475-0F58-71CE-FD1D-C680B7279E68}"/>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graphicFrame>
        <p:nvGraphicFramePr>
          <p:cNvPr id="21" name="Table 6">
            <a:extLst>
              <a:ext uri="{FF2B5EF4-FFF2-40B4-BE49-F238E27FC236}">
                <a16:creationId xmlns:a16="http://schemas.microsoft.com/office/drawing/2014/main" id="{818CB1F1-BA62-B232-69FC-F91C30993607}"/>
              </a:ext>
            </a:extLst>
          </p:cNvPr>
          <p:cNvGraphicFramePr>
            <a:graphicFrameLocks noGrp="1"/>
          </p:cNvGraphicFramePr>
          <p:nvPr>
            <p:extLst>
              <p:ext uri="{D42A27DB-BD31-4B8C-83A1-F6EECF244321}">
                <p14:modId xmlns:p14="http://schemas.microsoft.com/office/powerpoint/2010/main" val="1495025378"/>
              </p:ext>
            </p:extLst>
          </p:nvPr>
        </p:nvGraphicFramePr>
        <p:xfrm>
          <a:off x="400480" y="3044720"/>
          <a:ext cx="6681040" cy="3125516"/>
        </p:xfrm>
        <a:graphic>
          <a:graphicData uri="http://schemas.openxmlformats.org/drawingml/2006/table">
            <a:tbl>
              <a:tblPr firstRow="1">
                <a:tableStyleId>{2D5ABB26-0587-4C30-8999-92F81FD0307C}</a:tableStyleId>
              </a:tblPr>
              <a:tblGrid>
                <a:gridCol w="4237453">
                  <a:extLst>
                    <a:ext uri="{9D8B030D-6E8A-4147-A177-3AD203B41FA5}">
                      <a16:colId xmlns:a16="http://schemas.microsoft.com/office/drawing/2014/main" val="1036623646"/>
                    </a:ext>
                  </a:extLst>
                </a:gridCol>
                <a:gridCol w="2443587">
                  <a:extLst>
                    <a:ext uri="{9D8B030D-6E8A-4147-A177-3AD203B41FA5}">
                      <a16:colId xmlns:a16="http://schemas.microsoft.com/office/drawing/2014/main" val="2304456971"/>
                    </a:ext>
                  </a:extLst>
                </a:gridCol>
              </a:tblGrid>
              <a:tr h="948160">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Suisse Intl" panose="020B0504000000000000" pitchFamily="34" charset="-78"/>
                          <a:cs typeface="Suisse Intl" panose="020B0504000000000000" pitchFamily="34" charset="-78"/>
                        </a:rPr>
                        <a:t>Procurement, delivery, installation, commissioning and monitoring of </a:t>
                      </a:r>
                      <a:r>
                        <a:rPr lang="en-AU" sz="1200" b="0" dirty="0">
                          <a:solidFill>
                            <a:schemeClr val="tx1"/>
                          </a:solidFill>
                          <a:latin typeface="Suisse Intl" panose="020B0504000000000000" pitchFamily="34" charset="-78"/>
                          <a:cs typeface="Suisse Intl" panose="020B0504000000000000" pitchFamily="34" charset="-78"/>
                        </a:rPr>
                        <a:t>2,000.0 kWp / 1,666.7 kW Solar </a:t>
                      </a:r>
                      <a:r>
                        <a:rPr lang="en-US" sz="1200" b="0" dirty="0">
                          <a:solidFill>
                            <a:schemeClr val="tx1"/>
                          </a:solidFill>
                          <a:latin typeface="Suisse Intl" panose="020B0504000000000000" pitchFamily="34" charset="-78"/>
                          <a:cs typeface="Suisse Intl" panose="020B0504000000000000" pitchFamily="34" charset="-78"/>
                        </a:rPr>
                        <a:t>for </a:t>
                      </a:r>
                      <a:r>
                        <a:rPr lang="en-AU" sz="1200" b="0" dirty="0">
                          <a:solidFill>
                            <a:schemeClr val="tx1"/>
                          </a:solidFill>
                          <a:effectLst/>
                          <a:latin typeface="Suisse Intl" panose="020B0504000000000000" pitchFamily="34" charset="-78"/>
                          <a:cs typeface="Suisse Intl" panose="020B0504000000000000" pitchFamily="34" charset="-78"/>
                        </a:rPr>
                        <a:t>Etex Australia Pty Ltd at 290 Bushmead Road, HAZELMERE, WA 6055, Australia</a:t>
                      </a:r>
                      <a:r>
                        <a:rPr lang="en-AU" sz="1200" b="0" dirty="0">
                          <a:solidFill>
                            <a:schemeClr val="tx1"/>
                          </a:solidFill>
                          <a:latin typeface="Suisse Intl" panose="020B0504000000000000" pitchFamily="34" charset="-78"/>
                          <a:cs typeface="Suisse Intl" panose="020B0504000000000000" pitchFamily="34" charset="-78"/>
                        </a:rPr>
                        <a:t>.</a:t>
                      </a:r>
                      <a:endParaRPr lang="en-US" sz="1200" dirty="0">
                        <a:solidFill>
                          <a:schemeClr val="tx1"/>
                        </a:solidFill>
                        <a:latin typeface="Suisse Intl" panose="020B0504000000000000" pitchFamily="34" charset="-78"/>
                        <a:cs typeface="Suisse Intl" panose="020B0504000000000000" pitchFamily="34" charset="-78"/>
                      </a:endParaRPr>
                    </a:p>
                  </a:txBody>
                  <a:tcPr>
                    <a:lnB w="19050" cap="flat" cmpd="sng" algn="ctr">
                      <a:solidFill>
                        <a:schemeClr val="tx1"/>
                      </a:solidFill>
                      <a:prstDash val="solid"/>
                      <a:round/>
                      <a:headEnd type="none" w="med" len="med"/>
                      <a:tailEnd type="none" w="med" len="med"/>
                    </a:lnB>
                  </a:tcPr>
                </a:tc>
                <a:tc hMerge="1">
                  <a:txBody>
                    <a:bodyPr/>
                    <a:lstStyle/>
                    <a:p>
                      <a:endParaRPr lang="en-US" dirty="0"/>
                    </a:p>
                  </a:txBody>
                  <a:tcPr>
                    <a:lnL w="12700" cmpd="sng">
                      <a:noFill/>
                    </a:lnL>
                  </a:tcPr>
                </a:tc>
                <a:extLst>
                  <a:ext uri="{0D108BD9-81ED-4DB2-BD59-A6C34878D82A}">
                    <a16:rowId xmlns:a16="http://schemas.microsoft.com/office/drawing/2014/main" val="3486289787"/>
                  </a:ext>
                </a:extLst>
              </a:tr>
              <a:tr h="336090">
                <a:tc>
                  <a:txBody>
                    <a:bodyPr/>
                    <a:lstStyle/>
                    <a:p>
                      <a:pPr marL="0" algn="l" defTabSz="685800" rtl="0" eaLnBrk="1" latinLnBrk="0" hangingPunct="1"/>
                      <a:r>
                        <a:rPr lang="en-US" sz="1200" b="1" kern="1200" dirty="0">
                          <a:solidFill>
                            <a:schemeClr val="tx1"/>
                          </a:solidFill>
                          <a:latin typeface="Suisse Intl" panose="020B0504000000000000" pitchFamily="34" charset="-78"/>
                          <a:cs typeface="Suisse Intl" panose="020B0504000000000000" pitchFamily="34" charset="-78"/>
                        </a:rPr>
                        <a:t>Item description</a:t>
                      </a:r>
                      <a:endParaRPr lang="en-US" sz="1200" b="1" i="1" kern="1200" dirty="0">
                        <a:solidFill>
                          <a:schemeClr val="tx1"/>
                        </a:solidFill>
                        <a:latin typeface="Suisse Intl" panose="020B0504000000000000" pitchFamily="34" charset="-78"/>
                        <a:ea typeface="+mn-ea"/>
                        <a:cs typeface="Suisse Intl" panose="020B0504000000000000" pitchFamily="34" charset="-78"/>
                      </a:endParaRPr>
                    </a:p>
                  </a:txBody>
                  <a:tcPr marT="9720" marB="9720" anchor="b">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Suisse Intl" panose="020B0504000000000000" pitchFamily="34" charset="-78"/>
                          <a:cs typeface="Suisse Intl" panose="020B0504000000000000" pitchFamily="34" charset="-78"/>
                        </a:rPr>
                        <a:t>Total (ex GST)</a:t>
                      </a:r>
                      <a:endParaRPr lang="en-US" sz="1200" b="1" i="1" kern="1200" dirty="0">
                        <a:solidFill>
                          <a:schemeClr val="tx1"/>
                        </a:solidFill>
                        <a:latin typeface="Suisse Intl" panose="020B0504000000000000" pitchFamily="34" charset="-78"/>
                        <a:ea typeface="+mn-ea"/>
                        <a:cs typeface="Suisse Intl" panose="020B0504000000000000" pitchFamily="34" charset="-78"/>
                      </a:endParaRPr>
                    </a:p>
                  </a:txBody>
                  <a:tcPr marT="9720" marB="9720" anchor="b">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69368755"/>
                  </a:ext>
                </a:extLst>
              </a:tr>
              <a:tr h="394557">
                <a:tc>
                  <a:txBody>
                    <a:bodyPr/>
                    <a:lstStyle/>
                    <a:p>
                      <a:r>
                        <a:rPr lang="en-US" sz="1200" dirty="0">
                          <a:solidFill>
                            <a:schemeClr val="tx1"/>
                          </a:solidFill>
                          <a:latin typeface="Suisse Intl" panose="020B0504000000000000" pitchFamily="34" charset="-78"/>
                          <a:cs typeface="Suisse Intl" panose="020B0504000000000000" pitchFamily="34" charset="-78"/>
                        </a:rPr>
                        <a:t>Solar panels, inverter, wiring, installation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r"/>
                      <a:r>
                        <a:rPr lang="en-AU" sz="1200" b="0" kern="1200" dirty="0">
                          <a:solidFill>
                            <a:schemeClr val="tx1"/>
                          </a:solidFill>
                          <a:effectLst/>
                          <a:latin typeface="Suisse Intl" panose="020B0504000000000000" pitchFamily="34" charset="-78"/>
                          <a:cs typeface="Suisse Intl" panose="020B0504000000000000" pitchFamily="34" charset="-78"/>
                        </a:rPr>
                        <a:t>$2,400,000</a:t>
                      </a:r>
                      <a:endParaRPr lang="en-US" sz="1200" dirty="0">
                        <a:solidFill>
                          <a:schemeClr val="tx1"/>
                        </a:solidFill>
                        <a:latin typeface="Suisse Intl" panose="020B0504000000000000" pitchFamily="34" charset="-78"/>
                        <a:cs typeface="Suisse Intl" panose="020B0504000000000000" pitchFamily="34" charset="-78"/>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430942671"/>
                  </a:ext>
                </a:extLst>
              </a:tr>
              <a:tr h="394557">
                <a:tc>
                  <a:txBody>
                    <a:bodyPr/>
                    <a:lstStyle/>
                    <a:p>
                      <a:r>
                        <a:rPr lang="en-US" sz="1200" dirty="0">
                          <a:solidFill>
                            <a:schemeClr val="tx1"/>
                          </a:solidFill>
                          <a:latin typeface="Suisse Intl" panose="020B0504000000000000" pitchFamily="34" charset="-78"/>
                          <a:cs typeface="Suisse Intl" panose="020B0504000000000000" pitchFamily="34" charset="-78"/>
                        </a:rPr>
                        <a:t>Siteworks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r"/>
                      <a:r>
                        <a:rPr lang="en-US" sz="1200" dirty="0">
                          <a:solidFill>
                            <a:schemeClr val="tx1"/>
                          </a:solidFill>
                          <a:latin typeface="Suisse Intl" panose="020B0504000000000000" pitchFamily="34" charset="-78"/>
                          <a:cs typeface="Suisse Intl" panose="020B0504000000000000" pitchFamily="34" charset="-78"/>
                        </a:rPr>
                        <a:t>Included</a:t>
                      </a: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190666283"/>
                  </a:ext>
                </a:extLst>
              </a:tr>
              <a:tr h="394557">
                <a:tc>
                  <a:txBody>
                    <a:bodyPr/>
                    <a:lstStyle/>
                    <a:p>
                      <a:endParaRPr lang="en-US" sz="1200" dirty="0">
                        <a:solidFill>
                          <a:schemeClr val="tx1"/>
                        </a:solidFill>
                        <a:latin typeface="Suisse Intl" panose="020B0504000000000000" pitchFamily="34" charset="-78"/>
                        <a:cs typeface="Suisse Intl" panose="020B0504000000000000" pitchFamily="34" charset="-78"/>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r"/>
                      <a:endParaRPr lang="en-US" sz="1200" dirty="0">
                        <a:solidFill>
                          <a:schemeClr val="tx1"/>
                        </a:solidFill>
                        <a:latin typeface="Suisse Intl" panose="020B0504000000000000" pitchFamily="34" charset="-78"/>
                        <a:cs typeface="Suisse Intl" panose="020B0504000000000000" pitchFamily="34" charset="-78"/>
                      </a:endParaRPr>
                    </a:p>
                  </a:txBody>
                  <a:tcPr marL="45720" marR="4572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739082293"/>
                  </a:ext>
                </a:extLst>
              </a:tr>
              <a:tr h="657595">
                <a:tc>
                  <a:txBody>
                    <a:bodyPr/>
                    <a:lstStyle/>
                    <a:p>
                      <a:r>
                        <a:rPr lang="en-US" sz="1200" b="1" dirty="0">
                          <a:solidFill>
                            <a:schemeClr val="tx1"/>
                          </a:solidFill>
                          <a:latin typeface="Suisse Intl" panose="020B0504000000000000" pitchFamily="34" charset="-78"/>
                          <a:cs typeface="Suisse Intl" panose="020B0504000000000000" pitchFamily="34" charset="-78"/>
                        </a:rPr>
                        <a:t>Total</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AU" sz="1200" b="1" kern="1200" dirty="0">
                          <a:solidFill>
                            <a:schemeClr val="tx1"/>
                          </a:solidFill>
                          <a:effectLst/>
                          <a:latin typeface="Suisse Intl" panose="020B0504000000000000" pitchFamily="34" charset="-78"/>
                          <a:cs typeface="Suisse Intl" panose="020B0504000000000000" pitchFamily="34" charset="-78"/>
                        </a:rPr>
                        <a:t>$2,400,000</a:t>
                      </a:r>
                      <a:endParaRPr lang="en-US" sz="1200" b="1" dirty="0">
                        <a:solidFill>
                          <a:schemeClr val="tx1"/>
                        </a:solidFill>
                        <a:latin typeface="Suisse Intl" panose="020B0504000000000000" pitchFamily="34" charset="-78"/>
                        <a:cs typeface="Suisse Intl" panose="020B0504000000000000" pitchFamily="34" charset="-78"/>
                      </a:endParaRPr>
                    </a:p>
                  </a:txBody>
                  <a:tcPr marL="45720" marR="4572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4677017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0283" y="1215940"/>
            <a:ext cx="6611301" cy="4562851"/>
            <a:chOff x="707290" y="1863178"/>
            <a:chExt cx="10130458" cy="6991629"/>
          </a:xfrm>
        </p:grpSpPr>
        <p:pic>
          <p:nvPicPr>
            <p:cNvPr id="3" name="object 3"/>
            <p:cNvPicPr/>
            <p:nvPr/>
          </p:nvPicPr>
          <p:blipFill>
            <a:blip r:embed="rId2" cstate="print"/>
            <a:stretch>
              <a:fillRect/>
            </a:stretch>
          </p:blipFill>
          <p:spPr>
            <a:xfrm>
              <a:off x="712762" y="1863178"/>
              <a:ext cx="10124986" cy="6991629"/>
            </a:xfrm>
            <a:prstGeom prst="rect">
              <a:avLst/>
            </a:prstGeom>
          </p:spPr>
        </p:pic>
        <p:sp>
          <p:nvSpPr>
            <p:cNvPr id="4" name="object 4"/>
            <p:cNvSpPr/>
            <p:nvPr/>
          </p:nvSpPr>
          <p:spPr>
            <a:xfrm>
              <a:off x="707290" y="1869307"/>
              <a:ext cx="2171065" cy="576581"/>
            </a:xfrm>
            <a:custGeom>
              <a:avLst/>
              <a:gdLst/>
              <a:ahLst/>
              <a:cxnLst/>
              <a:rect l="l" t="t" r="r" b="b"/>
              <a:pathLst>
                <a:path w="2171065" h="576580">
                  <a:moveTo>
                    <a:pt x="2170810" y="0"/>
                  </a:moveTo>
                  <a:lnTo>
                    <a:pt x="0" y="0"/>
                  </a:lnTo>
                  <a:lnTo>
                    <a:pt x="0" y="576300"/>
                  </a:lnTo>
                  <a:lnTo>
                    <a:pt x="2022449" y="576300"/>
                  </a:lnTo>
                  <a:lnTo>
                    <a:pt x="2170810"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8" name="object 8"/>
          <p:cNvSpPr txBox="1"/>
          <p:nvPr/>
        </p:nvSpPr>
        <p:spPr>
          <a:xfrm>
            <a:off x="478570" y="607535"/>
            <a:ext cx="4165248" cy="395020"/>
          </a:xfrm>
          <a:prstGeom prst="rect">
            <a:avLst/>
          </a:prstGeom>
          <a:solidFill>
            <a:srgbClr val="FF0000"/>
          </a:solidFill>
        </p:spPr>
        <p:txBody>
          <a:bodyPr vert="horz" wrap="square" lIns="0" tIns="43200" rIns="0" bIns="43200" rtlCol="0" anchor="ctr">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RECENT INSTALLS</a:t>
            </a:r>
            <a:endParaRPr sz="2000">
              <a:latin typeface="Suisse Intl" panose="020B0504000000000000" pitchFamily="34" charset="-78"/>
              <a:cs typeface="Suisse Intl" panose="020B0504000000000000" pitchFamily="34" charset="-78"/>
            </a:endParaRPr>
          </a:p>
        </p:txBody>
      </p:sp>
      <p:sp>
        <p:nvSpPr>
          <p:cNvPr id="9" name="object 9"/>
          <p:cNvSpPr txBox="1"/>
          <p:nvPr/>
        </p:nvSpPr>
        <p:spPr>
          <a:xfrm>
            <a:off x="460361" y="6011610"/>
            <a:ext cx="6602816" cy="2931733"/>
          </a:xfrm>
          <a:prstGeom prst="rect">
            <a:avLst/>
          </a:prstGeom>
        </p:spPr>
        <p:txBody>
          <a:bodyPr vert="horz" wrap="square" lIns="0" tIns="8288" rIns="0" bIns="0" rtlCol="0">
            <a:spAutoFit/>
          </a:bodyPr>
          <a:lstStyle/>
          <a:p>
            <a:pPr marL="8288">
              <a:spcBef>
                <a:spcPts val="65"/>
              </a:spcBef>
            </a:pPr>
            <a:r>
              <a:rPr sz="1400" b="1">
                <a:solidFill>
                  <a:srgbClr val="FF0000"/>
                </a:solidFill>
                <a:latin typeface="Suisse Intl" panose="020B0504000000000000" pitchFamily="34" charset="-78"/>
                <a:cs typeface="Suisse Intl" panose="020B0504000000000000" pitchFamily="34" charset="-78"/>
              </a:rPr>
              <a:t>DELLA ROSA FRESH FOODS</a:t>
            </a:r>
            <a:endParaRPr sz="1400">
              <a:latin typeface="Suisse Intl" panose="020B0504000000000000" pitchFamily="34" charset="-78"/>
              <a:cs typeface="Suisse Intl" panose="020B0504000000000000" pitchFamily="34" charset="-78"/>
            </a:endParaRPr>
          </a:p>
          <a:p>
            <a:pPr marL="18234" marR="113546">
              <a:lnSpc>
                <a:spcPct val="115799"/>
              </a:lnSpc>
              <a:spcBef>
                <a:spcPts val="1067"/>
              </a:spcBef>
            </a:pPr>
            <a:r>
              <a:rPr sz="1200">
                <a:solidFill>
                  <a:srgbClr val="191919"/>
                </a:solidFill>
                <a:latin typeface="Suisse Intl" panose="020B0504000000000000" pitchFamily="34" charset="-78"/>
                <a:cs typeface="Suisse Intl" panose="020B0504000000000000" pitchFamily="34" charset="-78"/>
              </a:rPr>
              <a:t>This commitment earned the company the prestigious 2019 "Energy Efficiency Project of the Year" award from Master Electricians. An annual performance review revealed that actual production exceeded estimates by 2%, enabling the company to save nearly $13,000 in energy costs each month.</a:t>
            </a:r>
            <a:endParaRPr sz="1200">
              <a:latin typeface="Suisse Intl" panose="020B0504000000000000" pitchFamily="34" charset="-78"/>
              <a:cs typeface="Suisse Intl" panose="020B0504000000000000" pitchFamily="34" charset="-78"/>
            </a:endParaRPr>
          </a:p>
          <a:p>
            <a:pPr>
              <a:spcBef>
                <a:spcPts val="267"/>
              </a:spcBef>
            </a:pPr>
            <a:endParaRPr sz="1200">
              <a:latin typeface="Suisse Intl" panose="020B0504000000000000" pitchFamily="34" charset="-78"/>
              <a:cs typeface="Suisse Intl" panose="020B0504000000000000" pitchFamily="34" charset="-78"/>
            </a:endParaRPr>
          </a:p>
          <a:p>
            <a:pPr marL="18234" marR="3315">
              <a:lnSpc>
                <a:spcPct val="115700"/>
              </a:lnSpc>
            </a:pPr>
            <a:r>
              <a:rPr sz="1200">
                <a:solidFill>
                  <a:srgbClr val="191919"/>
                </a:solidFill>
                <a:latin typeface="Suisse Intl" panose="020B0504000000000000" pitchFamily="34" charset="-78"/>
                <a:cs typeface="Suisse Intl" panose="020B0504000000000000" pitchFamily="34" charset="-78"/>
              </a:rPr>
              <a:t>The facility boasts state-of-the-art production systems, featuring cold storage and chilling units that operate 24/7, ensuring uninterrupted service. Their extensive product offerings include dairy, fresh meats, deli items, seafood, and branded grocery products.</a:t>
            </a:r>
            <a:endParaRPr sz="1200">
              <a:latin typeface="Suisse Intl" panose="020B0504000000000000" pitchFamily="34" charset="-78"/>
              <a:cs typeface="Suisse Intl" panose="020B0504000000000000" pitchFamily="34" charset="-78"/>
            </a:endParaRPr>
          </a:p>
          <a:p>
            <a:pPr>
              <a:spcBef>
                <a:spcPts val="264"/>
              </a:spcBef>
            </a:pPr>
            <a:endParaRPr sz="1200">
              <a:latin typeface="Suisse Intl" panose="020B0504000000000000" pitchFamily="34" charset="-78"/>
              <a:cs typeface="Suisse Intl" panose="020B0504000000000000" pitchFamily="34" charset="-78"/>
            </a:endParaRPr>
          </a:p>
          <a:p>
            <a:pPr marL="18234" marR="337737">
              <a:lnSpc>
                <a:spcPct val="115799"/>
              </a:lnSpc>
              <a:spcBef>
                <a:spcPts val="3"/>
              </a:spcBef>
            </a:pPr>
            <a:r>
              <a:rPr sz="1200">
                <a:solidFill>
                  <a:srgbClr val="191919"/>
                </a:solidFill>
                <a:latin typeface="Suisse Intl" panose="020B0504000000000000" pitchFamily="34" charset="-78"/>
                <a:cs typeface="Suisse Intl" panose="020B0504000000000000" pitchFamily="34" charset="-78"/>
              </a:rPr>
              <a:t>Their energy-efficient installations generate an average of 606.204 MWh daily, leading to an impressive reduction of 673.879 tonnes of carbon dioxide emissions annually.</a:t>
            </a:r>
            <a:endParaRPr lang="en-AU" sz="1200">
              <a:solidFill>
                <a:srgbClr val="191919"/>
              </a:solidFill>
              <a:latin typeface="Suisse Intl" panose="020B0504000000000000" pitchFamily="34" charset="-78"/>
              <a:cs typeface="Suisse Intl" panose="020B0504000000000000" pitchFamily="34" charset="-78"/>
            </a:endParaRPr>
          </a:p>
          <a:p>
            <a:pPr marL="18234" marR="337737">
              <a:lnSpc>
                <a:spcPct val="115799"/>
              </a:lnSpc>
              <a:spcBef>
                <a:spcPts val="3"/>
              </a:spcBef>
            </a:pPr>
            <a:endParaRPr sz="1200">
              <a:latin typeface="Suisse Intl" panose="020B0504000000000000" pitchFamily="34" charset="-78"/>
              <a:cs typeface="Suisse Intl" panose="020B0504000000000000" pitchFamily="34" charset="-78"/>
            </a:endParaRPr>
          </a:p>
        </p:txBody>
      </p:sp>
      <p:sp>
        <p:nvSpPr>
          <p:cNvPr id="10" name="object 10"/>
          <p:cNvSpPr/>
          <p:nvPr/>
        </p:nvSpPr>
        <p:spPr>
          <a:xfrm>
            <a:off x="511843" y="6468266"/>
            <a:ext cx="28594" cy="13676"/>
          </a:xfrm>
          <a:custGeom>
            <a:avLst/>
            <a:gdLst/>
            <a:ahLst/>
            <a:cxnLst/>
            <a:rect l="l" t="t" r="r" b="b"/>
            <a:pathLst>
              <a:path w="43815" h="20954">
                <a:moveTo>
                  <a:pt x="27035" y="0"/>
                </a:moveTo>
                <a:lnTo>
                  <a:pt x="15133" y="184"/>
                </a:lnTo>
                <a:lnTo>
                  <a:pt x="6527" y="1031"/>
                </a:lnTo>
                <a:lnTo>
                  <a:pt x="1739" y="4117"/>
                </a:lnTo>
                <a:lnTo>
                  <a:pt x="0" y="16119"/>
                </a:lnTo>
                <a:lnTo>
                  <a:pt x="12590" y="19381"/>
                </a:lnTo>
                <a:lnTo>
                  <a:pt x="25619" y="20559"/>
                </a:lnTo>
                <a:lnTo>
                  <a:pt x="36690" y="17082"/>
                </a:lnTo>
                <a:lnTo>
                  <a:pt x="43408" y="6378"/>
                </a:lnTo>
                <a:lnTo>
                  <a:pt x="37903" y="1667"/>
                </a:lnTo>
                <a:lnTo>
                  <a:pt x="27035"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1" name="object 11"/>
          <p:cNvSpPr txBox="1"/>
          <p:nvPr/>
        </p:nvSpPr>
        <p:spPr>
          <a:xfrm>
            <a:off x="741312" y="1254055"/>
            <a:ext cx="981125" cy="316146"/>
          </a:xfrm>
          <a:prstGeom prst="rect">
            <a:avLst/>
          </a:prstGeom>
        </p:spPr>
        <p:txBody>
          <a:bodyPr vert="horz" wrap="square" lIns="0" tIns="8288" rIns="0" bIns="0" rtlCol="0">
            <a:spAutoFit/>
          </a:bodyPr>
          <a:lstStyle/>
          <a:p>
            <a:pPr marL="8288">
              <a:spcBef>
                <a:spcPts val="65"/>
              </a:spcBef>
            </a:pPr>
            <a:r>
              <a:rPr lang="en-AU" sz="2000" b="1">
                <a:solidFill>
                  <a:srgbClr val="FFFFFF"/>
                </a:solidFill>
                <a:latin typeface="Suisse Intl" panose="020B0504000000000000" pitchFamily="34" charset="-78"/>
                <a:cs typeface="Suisse Intl" panose="020B0504000000000000" pitchFamily="34" charset="-78"/>
              </a:rPr>
              <a:t>525 kW</a:t>
            </a:r>
            <a:endParaRPr sz="2000">
              <a:latin typeface="Suisse Intl" panose="020B0504000000000000" pitchFamily="34" charset="-78"/>
              <a:cs typeface="Suisse Intl" panose="020B0504000000000000" pitchFamily="34" charset="-78"/>
            </a:endParaRPr>
          </a:p>
        </p:txBody>
      </p:sp>
      <p:sp>
        <p:nvSpPr>
          <p:cNvPr id="12" name="object 12"/>
          <p:cNvSpPr/>
          <p:nvPr/>
        </p:nvSpPr>
        <p:spPr>
          <a:xfrm>
            <a:off x="825464" y="9169593"/>
            <a:ext cx="414826" cy="414826"/>
          </a:xfrm>
          <a:custGeom>
            <a:avLst/>
            <a:gdLst/>
            <a:ahLst/>
            <a:cxnLst/>
            <a:rect l="l" t="t" r="r" b="b"/>
            <a:pathLst>
              <a:path w="635635" h="635634">
                <a:moveTo>
                  <a:pt x="635444" y="317728"/>
                </a:moveTo>
                <a:lnTo>
                  <a:pt x="631999" y="364680"/>
                </a:lnTo>
                <a:lnTo>
                  <a:pt x="621992" y="409492"/>
                </a:lnTo>
                <a:lnTo>
                  <a:pt x="605913" y="451674"/>
                </a:lnTo>
                <a:lnTo>
                  <a:pt x="584256" y="490734"/>
                </a:lnTo>
                <a:lnTo>
                  <a:pt x="557510" y="526181"/>
                </a:lnTo>
                <a:lnTo>
                  <a:pt x="526168" y="557523"/>
                </a:lnTo>
                <a:lnTo>
                  <a:pt x="490722" y="584268"/>
                </a:lnTo>
                <a:lnTo>
                  <a:pt x="451661" y="605926"/>
                </a:lnTo>
                <a:lnTo>
                  <a:pt x="409479" y="622004"/>
                </a:lnTo>
                <a:lnTo>
                  <a:pt x="364667" y="632012"/>
                </a:lnTo>
                <a:lnTo>
                  <a:pt x="317715" y="635457"/>
                </a:lnTo>
                <a:lnTo>
                  <a:pt x="270764" y="632012"/>
                </a:lnTo>
                <a:lnTo>
                  <a:pt x="225953" y="622004"/>
                </a:lnTo>
                <a:lnTo>
                  <a:pt x="183772" y="605926"/>
                </a:lnTo>
                <a:lnTo>
                  <a:pt x="144713" y="584268"/>
                </a:lnTo>
                <a:lnTo>
                  <a:pt x="109268" y="557523"/>
                </a:lnTo>
                <a:lnTo>
                  <a:pt x="77928" y="526181"/>
                </a:lnTo>
                <a:lnTo>
                  <a:pt x="51184" y="490734"/>
                </a:lnTo>
                <a:lnTo>
                  <a:pt x="29528" y="451674"/>
                </a:lnTo>
                <a:lnTo>
                  <a:pt x="13451" y="409492"/>
                </a:lnTo>
                <a:lnTo>
                  <a:pt x="3444" y="364680"/>
                </a:lnTo>
                <a:lnTo>
                  <a:pt x="0" y="317728"/>
                </a:lnTo>
                <a:lnTo>
                  <a:pt x="3444" y="270777"/>
                </a:lnTo>
                <a:lnTo>
                  <a:pt x="13451" y="225964"/>
                </a:lnTo>
                <a:lnTo>
                  <a:pt x="29528" y="183782"/>
                </a:lnTo>
                <a:lnTo>
                  <a:pt x="51184" y="144722"/>
                </a:lnTo>
                <a:lnTo>
                  <a:pt x="77928" y="109275"/>
                </a:lnTo>
                <a:lnTo>
                  <a:pt x="109268" y="77933"/>
                </a:lnTo>
                <a:lnTo>
                  <a:pt x="144713" y="51188"/>
                </a:lnTo>
                <a:lnTo>
                  <a:pt x="183772" y="29530"/>
                </a:lnTo>
                <a:lnTo>
                  <a:pt x="225953" y="13452"/>
                </a:lnTo>
                <a:lnTo>
                  <a:pt x="270764" y="3445"/>
                </a:lnTo>
                <a:lnTo>
                  <a:pt x="317715" y="0"/>
                </a:lnTo>
                <a:lnTo>
                  <a:pt x="364667" y="3445"/>
                </a:lnTo>
                <a:lnTo>
                  <a:pt x="409479" y="13452"/>
                </a:lnTo>
                <a:lnTo>
                  <a:pt x="451661" y="29530"/>
                </a:lnTo>
                <a:lnTo>
                  <a:pt x="490722" y="51188"/>
                </a:lnTo>
                <a:lnTo>
                  <a:pt x="526168" y="77933"/>
                </a:lnTo>
                <a:lnTo>
                  <a:pt x="557510" y="109275"/>
                </a:lnTo>
                <a:lnTo>
                  <a:pt x="584256" y="144722"/>
                </a:lnTo>
                <a:lnTo>
                  <a:pt x="605913" y="183782"/>
                </a:lnTo>
                <a:lnTo>
                  <a:pt x="621992" y="225964"/>
                </a:lnTo>
                <a:lnTo>
                  <a:pt x="631999" y="270777"/>
                </a:lnTo>
                <a:lnTo>
                  <a:pt x="635444" y="317728"/>
                </a:lnTo>
                <a:close/>
              </a:path>
            </a:pathLst>
          </a:custGeom>
          <a:ln w="127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3" name="object 13"/>
          <p:cNvSpPr txBox="1"/>
          <p:nvPr/>
        </p:nvSpPr>
        <p:spPr>
          <a:xfrm>
            <a:off x="495138" y="9073453"/>
            <a:ext cx="3231994" cy="614806"/>
          </a:xfrm>
          <a:prstGeom prst="rect">
            <a:avLst/>
          </a:prstGeom>
          <a:ln w="12255">
            <a:solidFill>
              <a:srgbClr val="FF0000"/>
            </a:solidFill>
          </a:ln>
        </p:spPr>
        <p:txBody>
          <a:bodyPr vert="horz" wrap="square" lIns="0" tIns="115200" rIns="0" bIns="115200" rtlCol="0">
            <a:spAutoFit/>
          </a:bodyPr>
          <a:lstStyle/>
          <a:p>
            <a:pPr marL="924114">
              <a:spcBef>
                <a:spcPts val="839"/>
              </a:spcBef>
            </a:pPr>
            <a:r>
              <a:rPr sz="1200">
                <a:solidFill>
                  <a:srgbClr val="191919"/>
                </a:solidFill>
                <a:latin typeface="Suisse Intl" panose="020B0504000000000000" pitchFamily="34" charset="-78"/>
                <a:cs typeface="Suisse Intl" panose="020B0504000000000000" pitchFamily="34" charset="-78"/>
              </a:rPr>
              <a:t>Annual Solar Generation</a:t>
            </a:r>
            <a:endParaRPr sz="1200">
              <a:latin typeface="Suisse Intl" panose="020B0504000000000000" pitchFamily="34" charset="-78"/>
              <a:cs typeface="Suisse Intl" panose="020B0504000000000000" pitchFamily="34" charset="-78"/>
            </a:endParaRPr>
          </a:p>
          <a:p>
            <a:pPr marL="924114">
              <a:spcBef>
                <a:spcPts val="91"/>
              </a:spcBef>
            </a:pPr>
            <a:r>
              <a:rPr sz="1200" b="1">
                <a:solidFill>
                  <a:srgbClr val="191919"/>
                </a:solidFill>
                <a:latin typeface="Suisse Intl" panose="020B0504000000000000" pitchFamily="34" charset="-78"/>
                <a:cs typeface="Suisse Intl" panose="020B0504000000000000" pitchFamily="34" charset="-78"/>
              </a:rPr>
              <a:t>606.204 MWh</a:t>
            </a:r>
            <a:endParaRPr sz="1200">
              <a:latin typeface="Suisse Intl" panose="020B0504000000000000" pitchFamily="34" charset="-78"/>
              <a:cs typeface="Suisse Intl" panose="020B0504000000000000" pitchFamily="34" charset="-78"/>
            </a:endParaRPr>
          </a:p>
        </p:txBody>
      </p:sp>
      <p:sp>
        <p:nvSpPr>
          <p:cNvPr id="14" name="object 14"/>
          <p:cNvSpPr/>
          <p:nvPr/>
        </p:nvSpPr>
        <p:spPr>
          <a:xfrm>
            <a:off x="4237037" y="9173443"/>
            <a:ext cx="414826" cy="414826"/>
          </a:xfrm>
          <a:custGeom>
            <a:avLst/>
            <a:gdLst/>
            <a:ahLst/>
            <a:cxnLst/>
            <a:rect l="l" t="t" r="r" b="b"/>
            <a:pathLst>
              <a:path w="635634" h="635634">
                <a:moveTo>
                  <a:pt x="635444" y="317728"/>
                </a:moveTo>
                <a:lnTo>
                  <a:pt x="631999" y="364680"/>
                </a:lnTo>
                <a:lnTo>
                  <a:pt x="621992" y="409492"/>
                </a:lnTo>
                <a:lnTo>
                  <a:pt x="605913" y="451674"/>
                </a:lnTo>
                <a:lnTo>
                  <a:pt x="584256" y="490734"/>
                </a:lnTo>
                <a:lnTo>
                  <a:pt x="557510" y="526181"/>
                </a:lnTo>
                <a:lnTo>
                  <a:pt x="526168" y="557523"/>
                </a:lnTo>
                <a:lnTo>
                  <a:pt x="490722" y="584268"/>
                </a:lnTo>
                <a:lnTo>
                  <a:pt x="451661" y="605926"/>
                </a:lnTo>
                <a:lnTo>
                  <a:pt x="409479" y="622004"/>
                </a:lnTo>
                <a:lnTo>
                  <a:pt x="364667" y="632012"/>
                </a:lnTo>
                <a:lnTo>
                  <a:pt x="317715" y="635457"/>
                </a:lnTo>
                <a:lnTo>
                  <a:pt x="270764" y="632012"/>
                </a:lnTo>
                <a:lnTo>
                  <a:pt x="225953" y="622004"/>
                </a:lnTo>
                <a:lnTo>
                  <a:pt x="183772" y="605926"/>
                </a:lnTo>
                <a:lnTo>
                  <a:pt x="144713" y="584268"/>
                </a:lnTo>
                <a:lnTo>
                  <a:pt x="109268" y="557523"/>
                </a:lnTo>
                <a:lnTo>
                  <a:pt x="77928" y="526181"/>
                </a:lnTo>
                <a:lnTo>
                  <a:pt x="51184" y="490734"/>
                </a:lnTo>
                <a:lnTo>
                  <a:pt x="29528" y="451674"/>
                </a:lnTo>
                <a:lnTo>
                  <a:pt x="13451" y="409492"/>
                </a:lnTo>
                <a:lnTo>
                  <a:pt x="3444" y="364680"/>
                </a:lnTo>
                <a:lnTo>
                  <a:pt x="0" y="317728"/>
                </a:lnTo>
                <a:lnTo>
                  <a:pt x="3444" y="270777"/>
                </a:lnTo>
                <a:lnTo>
                  <a:pt x="13451" y="225964"/>
                </a:lnTo>
                <a:lnTo>
                  <a:pt x="29528" y="183782"/>
                </a:lnTo>
                <a:lnTo>
                  <a:pt x="51184" y="144722"/>
                </a:lnTo>
                <a:lnTo>
                  <a:pt x="77928" y="109275"/>
                </a:lnTo>
                <a:lnTo>
                  <a:pt x="109268" y="77933"/>
                </a:lnTo>
                <a:lnTo>
                  <a:pt x="144713" y="51188"/>
                </a:lnTo>
                <a:lnTo>
                  <a:pt x="183772" y="29530"/>
                </a:lnTo>
                <a:lnTo>
                  <a:pt x="225953" y="13452"/>
                </a:lnTo>
                <a:lnTo>
                  <a:pt x="270764" y="3445"/>
                </a:lnTo>
                <a:lnTo>
                  <a:pt x="317715" y="0"/>
                </a:lnTo>
                <a:lnTo>
                  <a:pt x="364667" y="3445"/>
                </a:lnTo>
                <a:lnTo>
                  <a:pt x="409479" y="13452"/>
                </a:lnTo>
                <a:lnTo>
                  <a:pt x="451661" y="29530"/>
                </a:lnTo>
                <a:lnTo>
                  <a:pt x="490722" y="51188"/>
                </a:lnTo>
                <a:lnTo>
                  <a:pt x="526168" y="77933"/>
                </a:lnTo>
                <a:lnTo>
                  <a:pt x="557510" y="109275"/>
                </a:lnTo>
                <a:lnTo>
                  <a:pt x="584256" y="144722"/>
                </a:lnTo>
                <a:lnTo>
                  <a:pt x="605913" y="183782"/>
                </a:lnTo>
                <a:lnTo>
                  <a:pt x="621992" y="225964"/>
                </a:lnTo>
                <a:lnTo>
                  <a:pt x="631999" y="270777"/>
                </a:lnTo>
                <a:lnTo>
                  <a:pt x="635444" y="317728"/>
                </a:lnTo>
                <a:close/>
              </a:path>
            </a:pathLst>
          </a:custGeom>
          <a:ln w="127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nvGrpSpPr>
          <p:cNvPr id="16" name="object 16"/>
          <p:cNvGrpSpPr/>
          <p:nvPr/>
        </p:nvGrpSpPr>
        <p:grpSpPr>
          <a:xfrm>
            <a:off x="901579" y="9211385"/>
            <a:ext cx="270611" cy="272683"/>
            <a:chOff x="1368162" y="14114550"/>
            <a:chExt cx="414655" cy="417830"/>
          </a:xfrm>
        </p:grpSpPr>
        <p:pic>
          <p:nvPicPr>
            <p:cNvPr id="17" name="object 17"/>
            <p:cNvPicPr/>
            <p:nvPr/>
          </p:nvPicPr>
          <p:blipFill>
            <a:blip r:embed="rId3" cstate="print"/>
            <a:stretch>
              <a:fillRect/>
            </a:stretch>
          </p:blipFill>
          <p:spPr>
            <a:xfrm>
              <a:off x="1368162" y="14114550"/>
              <a:ext cx="414524" cy="417570"/>
            </a:xfrm>
            <a:prstGeom prst="rect">
              <a:avLst/>
            </a:prstGeom>
          </p:spPr>
        </p:pic>
        <p:pic>
          <p:nvPicPr>
            <p:cNvPr id="18" name="object 18"/>
            <p:cNvPicPr/>
            <p:nvPr/>
          </p:nvPicPr>
          <p:blipFill>
            <a:blip r:embed="rId4" cstate="print"/>
            <a:stretch>
              <a:fillRect/>
            </a:stretch>
          </p:blipFill>
          <p:spPr>
            <a:xfrm>
              <a:off x="1580649" y="14438225"/>
              <a:ext cx="180886" cy="71856"/>
            </a:xfrm>
            <a:prstGeom prst="rect">
              <a:avLst/>
            </a:prstGeom>
          </p:spPr>
        </p:pic>
        <p:pic>
          <p:nvPicPr>
            <p:cNvPr id="19" name="object 19"/>
            <p:cNvPicPr/>
            <p:nvPr/>
          </p:nvPicPr>
          <p:blipFill>
            <a:blip r:embed="rId5" cstate="print"/>
            <a:stretch>
              <a:fillRect/>
            </a:stretch>
          </p:blipFill>
          <p:spPr>
            <a:xfrm>
              <a:off x="1379420" y="14438376"/>
              <a:ext cx="178955" cy="71704"/>
            </a:xfrm>
            <a:prstGeom prst="rect">
              <a:avLst/>
            </a:prstGeom>
          </p:spPr>
        </p:pic>
        <p:pic>
          <p:nvPicPr>
            <p:cNvPr id="20" name="object 20"/>
            <p:cNvPicPr/>
            <p:nvPr/>
          </p:nvPicPr>
          <p:blipFill>
            <a:blip r:embed="rId6" cstate="print"/>
            <a:stretch>
              <a:fillRect/>
            </a:stretch>
          </p:blipFill>
          <p:spPr>
            <a:xfrm>
              <a:off x="1419993" y="14129158"/>
              <a:ext cx="298753" cy="286651"/>
            </a:xfrm>
            <a:prstGeom prst="rect">
              <a:avLst/>
            </a:prstGeom>
          </p:spPr>
        </p:pic>
      </p:grpSp>
      <p:grpSp>
        <p:nvGrpSpPr>
          <p:cNvPr id="21" name="object 21"/>
          <p:cNvGrpSpPr/>
          <p:nvPr/>
        </p:nvGrpSpPr>
        <p:grpSpPr>
          <a:xfrm>
            <a:off x="4318158" y="9249488"/>
            <a:ext cx="260665" cy="262737"/>
            <a:chOff x="7433681" y="14129791"/>
            <a:chExt cx="399415" cy="402590"/>
          </a:xfrm>
        </p:grpSpPr>
        <p:pic>
          <p:nvPicPr>
            <p:cNvPr id="22" name="object 22"/>
            <p:cNvPicPr/>
            <p:nvPr/>
          </p:nvPicPr>
          <p:blipFill>
            <a:blip r:embed="rId7" cstate="print"/>
            <a:stretch>
              <a:fillRect/>
            </a:stretch>
          </p:blipFill>
          <p:spPr>
            <a:xfrm>
              <a:off x="7433681" y="14129791"/>
              <a:ext cx="399284" cy="402330"/>
            </a:xfrm>
            <a:prstGeom prst="rect">
              <a:avLst/>
            </a:prstGeom>
          </p:spPr>
        </p:pic>
        <p:sp>
          <p:nvSpPr>
            <p:cNvPr id="23" name="object 23"/>
            <p:cNvSpPr/>
            <p:nvPr/>
          </p:nvSpPr>
          <p:spPr>
            <a:xfrm>
              <a:off x="7446150" y="14203324"/>
              <a:ext cx="225425" cy="302895"/>
            </a:xfrm>
            <a:custGeom>
              <a:avLst/>
              <a:gdLst/>
              <a:ahLst/>
              <a:cxnLst/>
              <a:rect l="l" t="t" r="r" b="b"/>
              <a:pathLst>
                <a:path w="225425" h="302894">
                  <a:moveTo>
                    <a:pt x="41783" y="16967"/>
                  </a:moveTo>
                  <a:lnTo>
                    <a:pt x="37528" y="7734"/>
                  </a:lnTo>
                  <a:lnTo>
                    <a:pt x="29679" y="1879"/>
                  </a:lnTo>
                  <a:lnTo>
                    <a:pt x="20066" y="0"/>
                  </a:lnTo>
                  <a:lnTo>
                    <a:pt x="10464" y="2692"/>
                  </a:lnTo>
                  <a:lnTo>
                    <a:pt x="5156" y="5765"/>
                  </a:lnTo>
                  <a:lnTo>
                    <a:pt x="2120" y="10680"/>
                  </a:lnTo>
                  <a:lnTo>
                    <a:pt x="0" y="16256"/>
                  </a:lnTo>
                  <a:lnTo>
                    <a:pt x="0" y="26149"/>
                  </a:lnTo>
                  <a:lnTo>
                    <a:pt x="774" y="27863"/>
                  </a:lnTo>
                  <a:lnTo>
                    <a:pt x="5105" y="35267"/>
                  </a:lnTo>
                  <a:lnTo>
                    <a:pt x="10871" y="40132"/>
                  </a:lnTo>
                  <a:lnTo>
                    <a:pt x="17653" y="42418"/>
                  </a:lnTo>
                  <a:lnTo>
                    <a:pt x="25006" y="42125"/>
                  </a:lnTo>
                  <a:lnTo>
                    <a:pt x="32499" y="39090"/>
                  </a:lnTo>
                  <a:lnTo>
                    <a:pt x="38303" y="33655"/>
                  </a:lnTo>
                  <a:lnTo>
                    <a:pt x="41643" y="26162"/>
                  </a:lnTo>
                  <a:lnTo>
                    <a:pt x="41783" y="16967"/>
                  </a:lnTo>
                  <a:close/>
                </a:path>
                <a:path w="225425" h="302894">
                  <a:moveTo>
                    <a:pt x="224828" y="59918"/>
                  </a:moveTo>
                  <a:lnTo>
                    <a:pt x="200672" y="28244"/>
                  </a:lnTo>
                  <a:lnTo>
                    <a:pt x="163042" y="12166"/>
                  </a:lnTo>
                  <a:lnTo>
                    <a:pt x="149123" y="10668"/>
                  </a:lnTo>
                  <a:lnTo>
                    <a:pt x="134797" y="11239"/>
                  </a:lnTo>
                  <a:lnTo>
                    <a:pt x="92583" y="22847"/>
                  </a:lnTo>
                  <a:lnTo>
                    <a:pt x="58724" y="51879"/>
                  </a:lnTo>
                  <a:lnTo>
                    <a:pt x="43167" y="94107"/>
                  </a:lnTo>
                  <a:lnTo>
                    <a:pt x="41770" y="116052"/>
                  </a:lnTo>
                  <a:lnTo>
                    <a:pt x="42087" y="122847"/>
                  </a:lnTo>
                  <a:lnTo>
                    <a:pt x="48793" y="169684"/>
                  </a:lnTo>
                  <a:lnTo>
                    <a:pt x="62572" y="216738"/>
                  </a:lnTo>
                  <a:lnTo>
                    <a:pt x="76809" y="256743"/>
                  </a:lnTo>
                  <a:lnTo>
                    <a:pt x="103974" y="291465"/>
                  </a:lnTo>
                  <a:lnTo>
                    <a:pt x="128790" y="301002"/>
                  </a:lnTo>
                  <a:lnTo>
                    <a:pt x="134239" y="302412"/>
                  </a:lnTo>
                  <a:lnTo>
                    <a:pt x="150495" y="302412"/>
                  </a:lnTo>
                  <a:lnTo>
                    <a:pt x="156311" y="301015"/>
                  </a:lnTo>
                  <a:lnTo>
                    <a:pt x="192278" y="276593"/>
                  </a:lnTo>
                  <a:lnTo>
                    <a:pt x="202260" y="244030"/>
                  </a:lnTo>
                  <a:lnTo>
                    <a:pt x="202742" y="239687"/>
                  </a:lnTo>
                  <a:lnTo>
                    <a:pt x="169405" y="239649"/>
                  </a:lnTo>
                  <a:lnTo>
                    <a:pt x="163131" y="240436"/>
                  </a:lnTo>
                  <a:lnTo>
                    <a:pt x="157200" y="239356"/>
                  </a:lnTo>
                  <a:lnTo>
                    <a:pt x="122110" y="219341"/>
                  </a:lnTo>
                  <a:lnTo>
                    <a:pt x="108585" y="182905"/>
                  </a:lnTo>
                  <a:lnTo>
                    <a:pt x="108521" y="111213"/>
                  </a:lnTo>
                  <a:lnTo>
                    <a:pt x="109207" y="105791"/>
                  </a:lnTo>
                  <a:lnTo>
                    <a:pt x="132867" y="70218"/>
                  </a:lnTo>
                  <a:lnTo>
                    <a:pt x="166230" y="59918"/>
                  </a:lnTo>
                  <a:lnTo>
                    <a:pt x="224828" y="59918"/>
                  </a:lnTo>
                  <a:close/>
                </a:path>
              </a:pathLst>
            </a:custGeom>
            <a:solidFill>
              <a:srgbClr val="999999"/>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4" name="object 24"/>
            <p:cNvSpPr/>
            <p:nvPr/>
          </p:nvSpPr>
          <p:spPr>
            <a:xfrm>
              <a:off x="7575823" y="14284096"/>
              <a:ext cx="232410" cy="138430"/>
            </a:xfrm>
            <a:custGeom>
              <a:avLst/>
              <a:gdLst/>
              <a:ahLst/>
              <a:cxnLst/>
              <a:rect l="l" t="t" r="r" b="b"/>
              <a:pathLst>
                <a:path w="232409" h="138430">
                  <a:moveTo>
                    <a:pt x="193560" y="0"/>
                  </a:moveTo>
                  <a:lnTo>
                    <a:pt x="38386" y="0"/>
                  </a:lnTo>
                  <a:lnTo>
                    <a:pt x="29594" y="767"/>
                  </a:lnTo>
                  <a:lnTo>
                    <a:pt x="0" y="26441"/>
                  </a:lnTo>
                  <a:lnTo>
                    <a:pt x="52" y="104305"/>
                  </a:lnTo>
                  <a:lnTo>
                    <a:pt x="23690" y="135749"/>
                  </a:lnTo>
                  <a:lnTo>
                    <a:pt x="36512" y="138087"/>
                  </a:lnTo>
                  <a:lnTo>
                    <a:pt x="197584" y="138087"/>
                  </a:lnTo>
                  <a:lnTo>
                    <a:pt x="230034" y="113432"/>
                  </a:lnTo>
                  <a:lnTo>
                    <a:pt x="230325" y="111810"/>
                  </a:lnTo>
                  <a:lnTo>
                    <a:pt x="199047" y="111810"/>
                  </a:lnTo>
                  <a:lnTo>
                    <a:pt x="181711" y="111175"/>
                  </a:lnTo>
                  <a:lnTo>
                    <a:pt x="178447" y="108902"/>
                  </a:lnTo>
                  <a:lnTo>
                    <a:pt x="175799" y="104305"/>
                  </a:lnTo>
                  <a:lnTo>
                    <a:pt x="50713" y="104305"/>
                  </a:lnTo>
                  <a:lnTo>
                    <a:pt x="18188" y="80352"/>
                  </a:lnTo>
                  <a:lnTo>
                    <a:pt x="15582" y="70446"/>
                  </a:lnTo>
                  <a:lnTo>
                    <a:pt x="14338" y="65468"/>
                  </a:lnTo>
                  <a:lnTo>
                    <a:pt x="42659" y="28511"/>
                  </a:lnTo>
                  <a:lnTo>
                    <a:pt x="50984" y="27095"/>
                  </a:lnTo>
                  <a:lnTo>
                    <a:pt x="230782" y="27095"/>
                  </a:lnTo>
                  <a:lnTo>
                    <a:pt x="229001" y="21743"/>
                  </a:lnTo>
                  <a:lnTo>
                    <a:pt x="201155" y="603"/>
                  </a:lnTo>
                  <a:lnTo>
                    <a:pt x="193560" y="0"/>
                  </a:lnTo>
                  <a:close/>
                </a:path>
                <a:path w="232409" h="138430">
                  <a:moveTo>
                    <a:pt x="232111" y="48704"/>
                  </a:moveTo>
                  <a:lnTo>
                    <a:pt x="189382" y="48704"/>
                  </a:lnTo>
                  <a:lnTo>
                    <a:pt x="205930" y="51460"/>
                  </a:lnTo>
                  <a:lnTo>
                    <a:pt x="211912" y="56527"/>
                  </a:lnTo>
                  <a:lnTo>
                    <a:pt x="215963" y="72567"/>
                  </a:lnTo>
                  <a:lnTo>
                    <a:pt x="213754" y="79044"/>
                  </a:lnTo>
                  <a:lnTo>
                    <a:pt x="213689" y="79235"/>
                  </a:lnTo>
                  <a:lnTo>
                    <a:pt x="213596" y="79507"/>
                  </a:lnTo>
                  <a:lnTo>
                    <a:pt x="213532" y="79667"/>
                  </a:lnTo>
                  <a:lnTo>
                    <a:pt x="209188" y="85899"/>
                  </a:lnTo>
                  <a:lnTo>
                    <a:pt x="206311" y="89903"/>
                  </a:lnTo>
                  <a:lnTo>
                    <a:pt x="211924" y="90893"/>
                  </a:lnTo>
                  <a:lnTo>
                    <a:pt x="215658" y="93637"/>
                  </a:lnTo>
                  <a:lnTo>
                    <a:pt x="217487" y="105651"/>
                  </a:lnTo>
                  <a:lnTo>
                    <a:pt x="212636" y="110731"/>
                  </a:lnTo>
                  <a:lnTo>
                    <a:pt x="199047" y="111810"/>
                  </a:lnTo>
                  <a:lnTo>
                    <a:pt x="230325" y="111810"/>
                  </a:lnTo>
                  <a:lnTo>
                    <a:pt x="231952" y="102755"/>
                  </a:lnTo>
                  <a:lnTo>
                    <a:pt x="232077" y="93129"/>
                  </a:lnTo>
                  <a:lnTo>
                    <a:pt x="232111" y="48704"/>
                  </a:lnTo>
                  <a:close/>
                </a:path>
                <a:path w="232409" h="138430">
                  <a:moveTo>
                    <a:pt x="91623" y="74180"/>
                  </a:moveTo>
                  <a:lnTo>
                    <a:pt x="75031" y="74180"/>
                  </a:lnTo>
                  <a:lnTo>
                    <a:pt x="82765" y="82194"/>
                  </a:lnTo>
                  <a:lnTo>
                    <a:pt x="83604" y="88176"/>
                  </a:lnTo>
                  <a:lnTo>
                    <a:pt x="79070" y="93129"/>
                  </a:lnTo>
                  <a:lnTo>
                    <a:pt x="72832" y="98622"/>
                  </a:lnTo>
                  <a:lnTo>
                    <a:pt x="65874" y="102296"/>
                  </a:lnTo>
                  <a:lnTo>
                    <a:pt x="57654" y="104305"/>
                  </a:lnTo>
                  <a:lnTo>
                    <a:pt x="126453" y="104305"/>
                  </a:lnTo>
                  <a:lnTo>
                    <a:pt x="112914" y="100927"/>
                  </a:lnTo>
                  <a:lnTo>
                    <a:pt x="101526" y="92859"/>
                  </a:lnTo>
                  <a:lnTo>
                    <a:pt x="93478" y="81366"/>
                  </a:lnTo>
                  <a:lnTo>
                    <a:pt x="91623" y="74180"/>
                  </a:lnTo>
                  <a:close/>
                </a:path>
                <a:path w="232409" h="138430">
                  <a:moveTo>
                    <a:pt x="230782" y="27095"/>
                  </a:moveTo>
                  <a:lnTo>
                    <a:pt x="50984" y="27095"/>
                  </a:lnTo>
                  <a:lnTo>
                    <a:pt x="60173" y="27330"/>
                  </a:lnTo>
                  <a:lnTo>
                    <a:pt x="128498" y="27330"/>
                  </a:lnTo>
                  <a:lnTo>
                    <a:pt x="143523" y="29877"/>
                  </a:lnTo>
                  <a:lnTo>
                    <a:pt x="155487" y="37871"/>
                  </a:lnTo>
                  <a:lnTo>
                    <a:pt x="163615" y="49265"/>
                  </a:lnTo>
                  <a:lnTo>
                    <a:pt x="167132" y="62014"/>
                  </a:lnTo>
                  <a:lnTo>
                    <a:pt x="164798" y="78308"/>
                  </a:lnTo>
                  <a:lnTo>
                    <a:pt x="164692" y="79044"/>
                  </a:lnTo>
                  <a:lnTo>
                    <a:pt x="164626" y="79507"/>
                  </a:lnTo>
                  <a:lnTo>
                    <a:pt x="155762" y="92859"/>
                  </a:lnTo>
                  <a:lnTo>
                    <a:pt x="155531" y="93129"/>
                  </a:lnTo>
                  <a:lnTo>
                    <a:pt x="142100" y="101744"/>
                  </a:lnTo>
                  <a:lnTo>
                    <a:pt x="141805" y="101744"/>
                  </a:lnTo>
                  <a:lnTo>
                    <a:pt x="126453" y="104305"/>
                  </a:lnTo>
                  <a:lnTo>
                    <a:pt x="175799" y="104305"/>
                  </a:lnTo>
                  <a:lnTo>
                    <a:pt x="173854" y="100927"/>
                  </a:lnTo>
                  <a:lnTo>
                    <a:pt x="174573" y="98622"/>
                  </a:lnTo>
                  <a:lnTo>
                    <a:pt x="175056" y="97167"/>
                  </a:lnTo>
                  <a:lnTo>
                    <a:pt x="180632" y="88950"/>
                  </a:lnTo>
                  <a:lnTo>
                    <a:pt x="184315" y="84366"/>
                  </a:lnTo>
                  <a:lnTo>
                    <a:pt x="187833" y="79667"/>
                  </a:lnTo>
                  <a:lnTo>
                    <a:pt x="187941" y="79507"/>
                  </a:lnTo>
                  <a:lnTo>
                    <a:pt x="181163" y="79507"/>
                  </a:lnTo>
                  <a:lnTo>
                    <a:pt x="171970" y="71348"/>
                  </a:lnTo>
                  <a:lnTo>
                    <a:pt x="172318" y="67716"/>
                  </a:lnTo>
                  <a:lnTo>
                    <a:pt x="172363" y="67246"/>
                  </a:lnTo>
                  <a:lnTo>
                    <a:pt x="172478" y="66040"/>
                  </a:lnTo>
                  <a:lnTo>
                    <a:pt x="181879" y="51460"/>
                  </a:lnTo>
                  <a:lnTo>
                    <a:pt x="181631" y="51460"/>
                  </a:lnTo>
                  <a:lnTo>
                    <a:pt x="189382" y="48704"/>
                  </a:lnTo>
                  <a:lnTo>
                    <a:pt x="232111" y="48704"/>
                  </a:lnTo>
                  <a:lnTo>
                    <a:pt x="232003" y="37871"/>
                  </a:lnTo>
                  <a:lnTo>
                    <a:pt x="231978" y="35306"/>
                  </a:lnTo>
                  <a:lnTo>
                    <a:pt x="231358" y="29877"/>
                  </a:lnTo>
                  <a:lnTo>
                    <a:pt x="231287" y="29258"/>
                  </a:lnTo>
                  <a:lnTo>
                    <a:pt x="231175" y="28273"/>
                  </a:lnTo>
                  <a:lnTo>
                    <a:pt x="230861" y="27330"/>
                  </a:lnTo>
                  <a:lnTo>
                    <a:pt x="230782" y="27095"/>
                  </a:lnTo>
                  <a:close/>
                </a:path>
                <a:path w="232409" h="138430">
                  <a:moveTo>
                    <a:pt x="54318" y="48298"/>
                  </a:moveTo>
                  <a:lnTo>
                    <a:pt x="46710" y="49436"/>
                  </a:lnTo>
                  <a:lnTo>
                    <a:pt x="40617" y="53757"/>
                  </a:lnTo>
                  <a:lnTo>
                    <a:pt x="36741" y="61137"/>
                  </a:lnTo>
                  <a:lnTo>
                    <a:pt x="35001" y="67246"/>
                  </a:lnTo>
                  <a:lnTo>
                    <a:pt x="37490" y="75450"/>
                  </a:lnTo>
                  <a:lnTo>
                    <a:pt x="48133" y="83261"/>
                  </a:lnTo>
                  <a:lnTo>
                    <a:pt x="54267" y="84988"/>
                  </a:lnTo>
                  <a:lnTo>
                    <a:pt x="61899" y="80352"/>
                  </a:lnTo>
                  <a:lnTo>
                    <a:pt x="63149" y="79507"/>
                  </a:lnTo>
                  <a:lnTo>
                    <a:pt x="63403" y="79235"/>
                  </a:lnTo>
                  <a:lnTo>
                    <a:pt x="67756" y="74180"/>
                  </a:lnTo>
                  <a:lnTo>
                    <a:pt x="91623" y="74180"/>
                  </a:lnTo>
                  <a:lnTo>
                    <a:pt x="89954" y="67716"/>
                  </a:lnTo>
                  <a:lnTo>
                    <a:pt x="92226" y="53757"/>
                  </a:lnTo>
                  <a:lnTo>
                    <a:pt x="92335" y="53091"/>
                  </a:lnTo>
                  <a:lnTo>
                    <a:pt x="92371" y="52870"/>
                  </a:lnTo>
                  <a:lnTo>
                    <a:pt x="73990" y="52870"/>
                  </a:lnTo>
                  <a:lnTo>
                    <a:pt x="66497" y="52527"/>
                  </a:lnTo>
                  <a:lnTo>
                    <a:pt x="64858" y="51460"/>
                  </a:lnTo>
                  <a:lnTo>
                    <a:pt x="62738" y="50469"/>
                  </a:lnTo>
                  <a:lnTo>
                    <a:pt x="54318" y="48298"/>
                  </a:lnTo>
                  <a:close/>
                </a:path>
                <a:path w="232409" h="138430">
                  <a:moveTo>
                    <a:pt x="188379" y="78308"/>
                  </a:moveTo>
                  <a:lnTo>
                    <a:pt x="184531" y="79235"/>
                  </a:lnTo>
                  <a:lnTo>
                    <a:pt x="177680" y="79507"/>
                  </a:lnTo>
                  <a:lnTo>
                    <a:pt x="188001" y="79507"/>
                  </a:lnTo>
                  <a:lnTo>
                    <a:pt x="188087" y="79044"/>
                  </a:lnTo>
                  <a:lnTo>
                    <a:pt x="188379" y="78308"/>
                  </a:lnTo>
                  <a:close/>
                </a:path>
                <a:path w="232409" h="138430">
                  <a:moveTo>
                    <a:pt x="128498" y="27330"/>
                  </a:moveTo>
                  <a:lnTo>
                    <a:pt x="59285" y="27330"/>
                  </a:lnTo>
                  <a:lnTo>
                    <a:pt x="67169" y="29258"/>
                  </a:lnTo>
                  <a:lnTo>
                    <a:pt x="74866" y="33070"/>
                  </a:lnTo>
                  <a:lnTo>
                    <a:pt x="79311" y="35902"/>
                  </a:lnTo>
                  <a:lnTo>
                    <a:pt x="81114" y="40741"/>
                  </a:lnTo>
                  <a:lnTo>
                    <a:pt x="77927" y="49822"/>
                  </a:lnTo>
                  <a:lnTo>
                    <a:pt x="73990" y="52870"/>
                  </a:lnTo>
                  <a:lnTo>
                    <a:pt x="92371" y="52870"/>
                  </a:lnTo>
                  <a:lnTo>
                    <a:pt x="92485" y="52169"/>
                  </a:lnTo>
                  <a:lnTo>
                    <a:pt x="92540" y="51829"/>
                  </a:lnTo>
                  <a:lnTo>
                    <a:pt x="101092" y="38550"/>
                  </a:lnTo>
                  <a:lnTo>
                    <a:pt x="113538" y="29877"/>
                  </a:lnTo>
                  <a:lnTo>
                    <a:pt x="112980" y="29877"/>
                  </a:lnTo>
                  <a:lnTo>
                    <a:pt x="128498" y="27330"/>
                  </a:lnTo>
                  <a:close/>
                </a:path>
              </a:pathLst>
            </a:custGeom>
            <a:solidFill>
              <a:srgbClr val="009245"/>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5" name="object 25"/>
            <p:cNvSpPr/>
            <p:nvPr/>
          </p:nvSpPr>
          <p:spPr>
            <a:xfrm>
              <a:off x="7509878" y="14144041"/>
              <a:ext cx="203835" cy="69215"/>
            </a:xfrm>
            <a:custGeom>
              <a:avLst/>
              <a:gdLst/>
              <a:ahLst/>
              <a:cxnLst/>
              <a:rect l="l" t="t" r="r" b="b"/>
              <a:pathLst>
                <a:path w="203834" h="69215">
                  <a:moveTo>
                    <a:pt x="42252" y="34493"/>
                  </a:moveTo>
                  <a:lnTo>
                    <a:pt x="40944" y="26314"/>
                  </a:lnTo>
                  <a:lnTo>
                    <a:pt x="36322" y="19532"/>
                  </a:lnTo>
                  <a:lnTo>
                    <a:pt x="29273" y="14973"/>
                  </a:lnTo>
                  <a:lnTo>
                    <a:pt x="20688" y="13423"/>
                  </a:lnTo>
                  <a:lnTo>
                    <a:pt x="12103" y="15265"/>
                  </a:lnTo>
                  <a:lnTo>
                    <a:pt x="5613" y="19862"/>
                  </a:lnTo>
                  <a:lnTo>
                    <a:pt x="1485" y="26555"/>
                  </a:lnTo>
                  <a:lnTo>
                    <a:pt x="0" y="34658"/>
                  </a:lnTo>
                  <a:lnTo>
                    <a:pt x="1524" y="42621"/>
                  </a:lnTo>
                  <a:lnTo>
                    <a:pt x="5943" y="49403"/>
                  </a:lnTo>
                  <a:lnTo>
                    <a:pt x="12776" y="54102"/>
                  </a:lnTo>
                  <a:lnTo>
                    <a:pt x="21539" y="55867"/>
                  </a:lnTo>
                  <a:lnTo>
                    <a:pt x="29032" y="54190"/>
                  </a:lnTo>
                  <a:lnTo>
                    <a:pt x="36004" y="49606"/>
                  </a:lnTo>
                  <a:lnTo>
                    <a:pt x="40906" y="42799"/>
                  </a:lnTo>
                  <a:lnTo>
                    <a:pt x="42252" y="34493"/>
                  </a:lnTo>
                  <a:close/>
                </a:path>
                <a:path w="203834" h="69215">
                  <a:moveTo>
                    <a:pt x="117856" y="21285"/>
                  </a:moveTo>
                  <a:lnTo>
                    <a:pt x="116586" y="13004"/>
                  </a:lnTo>
                  <a:lnTo>
                    <a:pt x="111988" y="6184"/>
                  </a:lnTo>
                  <a:lnTo>
                    <a:pt x="104978" y="1587"/>
                  </a:lnTo>
                  <a:lnTo>
                    <a:pt x="96507" y="0"/>
                  </a:lnTo>
                  <a:lnTo>
                    <a:pt x="87858" y="1778"/>
                  </a:lnTo>
                  <a:lnTo>
                    <a:pt x="81330" y="6311"/>
                  </a:lnTo>
                  <a:lnTo>
                    <a:pt x="77165" y="12954"/>
                  </a:lnTo>
                  <a:lnTo>
                    <a:pt x="75603" y="21018"/>
                  </a:lnTo>
                  <a:lnTo>
                    <a:pt x="77076" y="29070"/>
                  </a:lnTo>
                  <a:lnTo>
                    <a:pt x="81508" y="35941"/>
                  </a:lnTo>
                  <a:lnTo>
                    <a:pt x="88404" y="40703"/>
                  </a:lnTo>
                  <a:lnTo>
                    <a:pt x="97282" y="42443"/>
                  </a:lnTo>
                  <a:lnTo>
                    <a:pt x="104711" y="40728"/>
                  </a:lnTo>
                  <a:lnTo>
                    <a:pt x="111607" y="36169"/>
                  </a:lnTo>
                  <a:lnTo>
                    <a:pt x="116471" y="29451"/>
                  </a:lnTo>
                  <a:lnTo>
                    <a:pt x="117856" y="21285"/>
                  </a:lnTo>
                  <a:close/>
                </a:path>
                <a:path w="203834" h="69215">
                  <a:moveTo>
                    <a:pt x="203581" y="29146"/>
                  </a:moveTo>
                  <a:lnTo>
                    <a:pt x="178904" y="647"/>
                  </a:lnTo>
                  <a:lnTo>
                    <a:pt x="171132" y="1536"/>
                  </a:lnTo>
                  <a:lnTo>
                    <a:pt x="145681" y="30200"/>
                  </a:lnTo>
                  <a:lnTo>
                    <a:pt x="144564" y="38811"/>
                  </a:lnTo>
                  <a:lnTo>
                    <a:pt x="145478" y="47866"/>
                  </a:lnTo>
                  <a:lnTo>
                    <a:pt x="170903" y="68935"/>
                  </a:lnTo>
                  <a:lnTo>
                    <a:pt x="176974" y="67754"/>
                  </a:lnTo>
                  <a:lnTo>
                    <a:pt x="203581" y="29146"/>
                  </a:lnTo>
                  <a:close/>
                </a:path>
              </a:pathLst>
            </a:custGeom>
            <a:solidFill>
              <a:srgbClr val="999999"/>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6" name="object 26"/>
            <p:cNvSpPr/>
            <p:nvPr/>
          </p:nvSpPr>
          <p:spPr>
            <a:xfrm>
              <a:off x="7686956" y="14332623"/>
              <a:ext cx="34925" cy="34925"/>
            </a:xfrm>
            <a:custGeom>
              <a:avLst/>
              <a:gdLst/>
              <a:ahLst/>
              <a:cxnLst/>
              <a:rect l="l" t="t" r="r" b="b"/>
              <a:pathLst>
                <a:path w="34925" h="34925">
                  <a:moveTo>
                    <a:pt x="27076" y="0"/>
                  </a:moveTo>
                  <a:lnTo>
                    <a:pt x="17335" y="0"/>
                  </a:lnTo>
                  <a:lnTo>
                    <a:pt x="6921" y="0"/>
                  </a:lnTo>
                  <a:lnTo>
                    <a:pt x="482" y="6705"/>
                  </a:lnTo>
                  <a:lnTo>
                    <a:pt x="17729" y="34709"/>
                  </a:lnTo>
                  <a:lnTo>
                    <a:pt x="24662" y="33086"/>
                  </a:lnTo>
                  <a:lnTo>
                    <a:pt x="30033" y="29068"/>
                  </a:lnTo>
                  <a:lnTo>
                    <a:pt x="33507" y="22934"/>
                  </a:lnTo>
                  <a:lnTo>
                    <a:pt x="34747" y="14960"/>
                  </a:lnTo>
                  <a:lnTo>
                    <a:pt x="34747" y="6604"/>
                  </a:lnTo>
                  <a:lnTo>
                    <a:pt x="27076"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27" name="object 27"/>
            <p:cNvSpPr/>
            <p:nvPr/>
          </p:nvSpPr>
          <p:spPr>
            <a:xfrm>
              <a:off x="7672667" y="14332623"/>
              <a:ext cx="111125" cy="177165"/>
            </a:xfrm>
            <a:custGeom>
              <a:avLst/>
              <a:gdLst/>
              <a:ahLst/>
              <a:cxnLst/>
              <a:rect l="l" t="t" r="r" b="b"/>
              <a:pathLst>
                <a:path w="111125" h="177165">
                  <a:moveTo>
                    <a:pt x="49034" y="6604"/>
                  </a:moveTo>
                  <a:lnTo>
                    <a:pt x="41363" y="0"/>
                  </a:lnTo>
                  <a:lnTo>
                    <a:pt x="31623" y="0"/>
                  </a:lnTo>
                  <a:lnTo>
                    <a:pt x="21209" y="0"/>
                  </a:lnTo>
                  <a:lnTo>
                    <a:pt x="14770" y="6705"/>
                  </a:lnTo>
                  <a:lnTo>
                    <a:pt x="14287" y="16954"/>
                  </a:lnTo>
                  <a:lnTo>
                    <a:pt x="15621" y="23736"/>
                  </a:lnTo>
                  <a:lnTo>
                    <a:pt x="19672" y="29489"/>
                  </a:lnTo>
                  <a:lnTo>
                    <a:pt x="25450" y="33413"/>
                  </a:lnTo>
                  <a:lnTo>
                    <a:pt x="32016" y="34709"/>
                  </a:lnTo>
                  <a:lnTo>
                    <a:pt x="38950" y="33096"/>
                  </a:lnTo>
                  <a:lnTo>
                    <a:pt x="44323" y="29070"/>
                  </a:lnTo>
                  <a:lnTo>
                    <a:pt x="47790" y="22936"/>
                  </a:lnTo>
                  <a:lnTo>
                    <a:pt x="49034" y="14960"/>
                  </a:lnTo>
                  <a:lnTo>
                    <a:pt x="49034" y="6604"/>
                  </a:lnTo>
                  <a:close/>
                </a:path>
                <a:path w="111125" h="177165">
                  <a:moveTo>
                    <a:pt x="111048" y="122453"/>
                  </a:moveTo>
                  <a:lnTo>
                    <a:pt x="107823" y="117944"/>
                  </a:lnTo>
                  <a:lnTo>
                    <a:pt x="106057" y="117398"/>
                  </a:lnTo>
                  <a:lnTo>
                    <a:pt x="84302" y="117221"/>
                  </a:lnTo>
                  <a:lnTo>
                    <a:pt x="84112" y="117030"/>
                  </a:lnTo>
                  <a:lnTo>
                    <a:pt x="84112" y="106845"/>
                  </a:lnTo>
                  <a:lnTo>
                    <a:pt x="26581" y="106997"/>
                  </a:lnTo>
                  <a:lnTo>
                    <a:pt x="26479" y="117119"/>
                  </a:lnTo>
                  <a:lnTo>
                    <a:pt x="26289" y="117309"/>
                  </a:lnTo>
                  <a:lnTo>
                    <a:pt x="3530" y="117398"/>
                  </a:lnTo>
                  <a:lnTo>
                    <a:pt x="1765" y="118579"/>
                  </a:lnTo>
                  <a:lnTo>
                    <a:pt x="0" y="122961"/>
                  </a:lnTo>
                  <a:lnTo>
                    <a:pt x="520" y="125285"/>
                  </a:lnTo>
                  <a:lnTo>
                    <a:pt x="49860" y="173494"/>
                  </a:lnTo>
                  <a:lnTo>
                    <a:pt x="53505" y="176618"/>
                  </a:lnTo>
                  <a:lnTo>
                    <a:pt x="56807" y="176618"/>
                  </a:lnTo>
                  <a:lnTo>
                    <a:pt x="59715" y="174536"/>
                  </a:lnTo>
                  <a:lnTo>
                    <a:pt x="110197" y="125234"/>
                  </a:lnTo>
                  <a:lnTo>
                    <a:pt x="111048" y="122453"/>
                  </a:lnTo>
                  <a:close/>
                </a:path>
              </a:pathLst>
            </a:custGeom>
            <a:solidFill>
              <a:srgbClr val="009245"/>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28" name="object 13">
            <a:extLst>
              <a:ext uri="{FF2B5EF4-FFF2-40B4-BE49-F238E27FC236}">
                <a16:creationId xmlns:a16="http://schemas.microsoft.com/office/drawing/2014/main" id="{7E4F642B-D979-841F-7408-09F2FE1E8490}"/>
              </a:ext>
            </a:extLst>
          </p:cNvPr>
          <p:cNvSpPr txBox="1"/>
          <p:nvPr/>
        </p:nvSpPr>
        <p:spPr>
          <a:xfrm>
            <a:off x="3932237" y="9079706"/>
            <a:ext cx="3231994" cy="614806"/>
          </a:xfrm>
          <a:prstGeom prst="rect">
            <a:avLst/>
          </a:prstGeom>
          <a:ln w="12255">
            <a:solidFill>
              <a:srgbClr val="FF0000"/>
            </a:solidFill>
          </a:ln>
        </p:spPr>
        <p:txBody>
          <a:bodyPr vert="horz" wrap="square" lIns="0" tIns="115200" rIns="0" bIns="115200" rtlCol="0">
            <a:spAutoFit/>
          </a:bodyPr>
          <a:lstStyle/>
          <a:p>
            <a:pPr marL="924114">
              <a:spcBef>
                <a:spcPts val="839"/>
              </a:spcBef>
            </a:pPr>
            <a:r>
              <a:rPr lang="en-AU" sz="1200">
                <a:solidFill>
                  <a:srgbClr val="191919"/>
                </a:solidFill>
                <a:latin typeface="Suisse Intl" panose="020B0504000000000000" pitchFamily="34" charset="-78"/>
                <a:cs typeface="Suisse Intl" panose="020B0504000000000000" pitchFamily="34" charset="-78"/>
              </a:rPr>
              <a:t>CO2 Savings</a:t>
            </a:r>
            <a:endParaRPr sz="1200">
              <a:latin typeface="Suisse Intl" panose="020B0504000000000000" pitchFamily="34" charset="-78"/>
              <a:cs typeface="Suisse Intl" panose="020B0504000000000000" pitchFamily="34" charset="-78"/>
            </a:endParaRPr>
          </a:p>
          <a:p>
            <a:pPr marL="924114">
              <a:spcBef>
                <a:spcPts val="91"/>
              </a:spcBef>
            </a:pPr>
            <a:r>
              <a:rPr lang="en-AU" sz="1200" b="1">
                <a:solidFill>
                  <a:srgbClr val="191919"/>
                </a:solidFill>
                <a:latin typeface="Suisse Intl" panose="020B0504000000000000" pitchFamily="34" charset="-78"/>
                <a:cs typeface="Suisse Intl" panose="020B0504000000000000" pitchFamily="34" charset="-78"/>
              </a:rPr>
              <a:t>673.879 Tonnes</a:t>
            </a:r>
            <a:endParaRPr sz="1200">
              <a:latin typeface="Suisse Intl" panose="020B0504000000000000" pitchFamily="34" charset="-78"/>
              <a:cs typeface="Suisse Intl" panose="020B0504000000000000" pitchFamily="34" charset="-78"/>
            </a:endParaRPr>
          </a:p>
        </p:txBody>
      </p:sp>
      <p:sp>
        <p:nvSpPr>
          <p:cNvPr id="30" name="object 5">
            <a:extLst>
              <a:ext uri="{FF2B5EF4-FFF2-40B4-BE49-F238E27FC236}">
                <a16:creationId xmlns:a16="http://schemas.microsoft.com/office/drawing/2014/main" id="{7CAE8EDA-5A6B-89D9-3CA9-E5A5BEDC9BF5}"/>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31" name="object 6">
            <a:extLst>
              <a:ext uri="{FF2B5EF4-FFF2-40B4-BE49-F238E27FC236}">
                <a16:creationId xmlns:a16="http://schemas.microsoft.com/office/drawing/2014/main" id="{741EDC65-57E5-5800-9B16-25DD97E42704}"/>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pic>
        <p:nvPicPr>
          <p:cNvPr id="6" name="object 3">
            <a:extLst>
              <a:ext uri="{FF2B5EF4-FFF2-40B4-BE49-F238E27FC236}">
                <a16:creationId xmlns:a16="http://schemas.microsoft.com/office/drawing/2014/main" id="{AAAADD22-5C49-0E27-EF05-9CC16F22EA3C}"/>
              </a:ext>
            </a:extLst>
          </p:cNvPr>
          <p:cNvPicPr/>
          <p:nvPr/>
        </p:nvPicPr>
        <p:blipFill>
          <a:blip r:embed="rId8" cstate="print"/>
          <a:stretch>
            <a:fillRect/>
          </a:stretch>
        </p:blipFill>
        <p:spPr>
          <a:xfrm>
            <a:off x="6286040" y="10185564"/>
            <a:ext cx="788774" cy="271025"/>
          </a:xfrm>
          <a:prstGeom prst="rect">
            <a:avLst/>
          </a:prstGeom>
        </p:spPr>
      </p:pic>
      <p:sp>
        <p:nvSpPr>
          <p:cNvPr id="15" name="object 36">
            <a:extLst>
              <a:ext uri="{FF2B5EF4-FFF2-40B4-BE49-F238E27FC236}">
                <a16:creationId xmlns:a16="http://schemas.microsoft.com/office/drawing/2014/main" id="{63B94C6A-F612-0F3B-530B-CE19A852F129}"/>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1</a:t>
            </a:r>
            <a:r>
              <a:rPr lang="en-AU" sz="653">
                <a:solidFill>
                  <a:srgbClr val="FF0000"/>
                </a:solidFill>
                <a:latin typeface="Suisse Intl" panose="020B0504000000000000" pitchFamily="34" charset="-78"/>
                <a:cs typeface="Suisse Intl" panose="020B0504000000000000" pitchFamily="34" charset="-78"/>
              </a:rPr>
              <a:t>3</a:t>
            </a:r>
            <a:endParaRPr sz="653">
              <a:latin typeface="Suisse Intl" panose="020B0504000000000000" pitchFamily="34" charset="-78"/>
              <a:cs typeface="Suisse Intl" panose="020B0504000000000000" pitchFamily="34" charset="-78"/>
            </a:endParaRPr>
          </a:p>
        </p:txBody>
      </p:sp>
      <p:sp>
        <p:nvSpPr>
          <p:cNvPr id="32" name="object 22">
            <a:extLst>
              <a:ext uri="{FF2B5EF4-FFF2-40B4-BE49-F238E27FC236}">
                <a16:creationId xmlns:a16="http://schemas.microsoft.com/office/drawing/2014/main" id="{933C35D4-F39A-720E-63C8-C9D523386837}"/>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0283" y="1215940"/>
            <a:ext cx="6611301" cy="4562851"/>
            <a:chOff x="707290" y="1863178"/>
            <a:chExt cx="10130458" cy="6991629"/>
          </a:xfrm>
        </p:grpSpPr>
        <p:pic>
          <p:nvPicPr>
            <p:cNvPr id="3" name="object 3"/>
            <p:cNvPicPr/>
            <p:nvPr/>
          </p:nvPicPr>
          <p:blipFill>
            <a:blip r:embed="rId2" cstate="print"/>
            <a:stretch>
              <a:fillRect/>
            </a:stretch>
          </p:blipFill>
          <p:spPr>
            <a:xfrm>
              <a:off x="712762" y="1863178"/>
              <a:ext cx="10124986" cy="6991629"/>
            </a:xfrm>
            <a:prstGeom prst="rect">
              <a:avLst/>
            </a:prstGeom>
          </p:spPr>
        </p:pic>
        <p:sp>
          <p:nvSpPr>
            <p:cNvPr id="4" name="object 4"/>
            <p:cNvSpPr/>
            <p:nvPr/>
          </p:nvSpPr>
          <p:spPr>
            <a:xfrm>
              <a:off x="707290" y="1869307"/>
              <a:ext cx="2171065" cy="576581"/>
            </a:xfrm>
            <a:custGeom>
              <a:avLst/>
              <a:gdLst/>
              <a:ahLst/>
              <a:cxnLst/>
              <a:rect l="l" t="t" r="r" b="b"/>
              <a:pathLst>
                <a:path w="2171065" h="576580">
                  <a:moveTo>
                    <a:pt x="2170810" y="0"/>
                  </a:moveTo>
                  <a:lnTo>
                    <a:pt x="0" y="0"/>
                  </a:lnTo>
                  <a:lnTo>
                    <a:pt x="0" y="576300"/>
                  </a:lnTo>
                  <a:lnTo>
                    <a:pt x="2022449" y="576300"/>
                  </a:lnTo>
                  <a:lnTo>
                    <a:pt x="2170810"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9" name="object 9"/>
          <p:cNvSpPr txBox="1"/>
          <p:nvPr/>
        </p:nvSpPr>
        <p:spPr>
          <a:xfrm>
            <a:off x="460353" y="6011610"/>
            <a:ext cx="6546041" cy="2926027"/>
          </a:xfrm>
          <a:prstGeom prst="rect">
            <a:avLst/>
          </a:prstGeom>
        </p:spPr>
        <p:txBody>
          <a:bodyPr vert="horz" wrap="square" lIns="0" tIns="8288" rIns="0" bIns="0" rtlCol="0" anchor="t">
            <a:spAutoFit/>
          </a:bodyPr>
          <a:lstStyle/>
          <a:p>
            <a:pPr marL="8255">
              <a:spcBef>
                <a:spcPts val="65"/>
              </a:spcBef>
            </a:pPr>
            <a:r>
              <a:rPr sz="1400" b="1" dirty="0">
                <a:solidFill>
                  <a:srgbClr val="FF0000"/>
                </a:solidFill>
                <a:latin typeface="Suisse Intl" panose="020B0504000000000000" pitchFamily="34" charset="-78"/>
                <a:cs typeface="Suisse Intl"/>
              </a:rPr>
              <a:t>AMERICOLD LAVERTON</a:t>
            </a:r>
            <a:endParaRPr sz="1400" dirty="0">
              <a:latin typeface="Suisse Intl" panose="020B0504000000000000" pitchFamily="34" charset="-78"/>
              <a:cs typeface="Suisse Intl"/>
            </a:endParaRPr>
          </a:p>
          <a:p>
            <a:pPr marL="17780" marR="13970">
              <a:lnSpc>
                <a:spcPct val="115799"/>
              </a:lnSpc>
              <a:spcBef>
                <a:spcPts val="1067"/>
              </a:spcBef>
            </a:pPr>
            <a:r>
              <a:rPr sz="1200" dirty="0">
                <a:solidFill>
                  <a:srgbClr val="191919"/>
                </a:solidFill>
                <a:latin typeface="Suisse Intl" panose="020B0504000000000000" pitchFamily="34" charset="-78"/>
                <a:cs typeface="Suisse Intl"/>
              </a:rPr>
              <a:t>Americold chose Kuga E</a:t>
            </a:r>
            <a:r>
              <a:rPr lang="en-AU" sz="1200" dirty="0" err="1">
                <a:solidFill>
                  <a:srgbClr val="191919"/>
                </a:solidFill>
                <a:latin typeface="Suisse Intl" panose="020B0504000000000000" pitchFamily="34" charset="-78"/>
                <a:cs typeface="Suisse Intl"/>
              </a:rPr>
              <a:t>nergy</a:t>
            </a:r>
            <a:r>
              <a:rPr sz="1200" dirty="0">
                <a:solidFill>
                  <a:srgbClr val="191919"/>
                </a:solidFill>
                <a:latin typeface="Suisse Intl" panose="020B0504000000000000" pitchFamily="34" charset="-78"/>
                <a:cs typeface="Suisse Intl"/>
              </a:rPr>
              <a:t> as their Engineering, Procurement, and Construction (EPC) partner to address the challenge of expanding solar capacity by utilizing the vacant land adjacent to the main road. The primary objective was to maximize solar production while maintaining peak efficiency. Furthermore, </a:t>
            </a:r>
            <a:r>
              <a:rPr sz="1200" dirty="0" err="1">
                <a:solidFill>
                  <a:srgbClr val="191919"/>
                </a:solidFill>
                <a:latin typeface="Suisse Intl" panose="020B0504000000000000" pitchFamily="34" charset="-78"/>
                <a:cs typeface="Suisse Intl"/>
              </a:rPr>
              <a:t>tomeet</a:t>
            </a:r>
            <a:r>
              <a:rPr sz="1200" dirty="0">
                <a:solidFill>
                  <a:srgbClr val="191919"/>
                </a:solidFill>
                <a:latin typeface="Suisse Intl" panose="020B0504000000000000" pitchFamily="34" charset="-78"/>
                <a:cs typeface="Suisse Intl"/>
              </a:rPr>
              <a:t> the energy demands of Americold operations, a solution was needed that could </a:t>
            </a:r>
            <a:r>
              <a:rPr sz="1200" dirty="0" err="1">
                <a:solidFill>
                  <a:srgbClr val="191919"/>
                </a:solidFill>
                <a:latin typeface="Suisse Intl" panose="020B0504000000000000" pitchFamily="34" charset="-78"/>
                <a:cs typeface="Suisse Intl"/>
              </a:rPr>
              <a:t>susbstantially</a:t>
            </a:r>
            <a:r>
              <a:rPr sz="1200" dirty="0">
                <a:solidFill>
                  <a:srgbClr val="191919"/>
                </a:solidFill>
                <a:latin typeface="Suisse Intl" panose="020B0504000000000000" pitchFamily="34" charset="-78"/>
                <a:cs typeface="Suisse Intl"/>
              </a:rPr>
              <a:t> enhance solar yield.</a:t>
            </a:r>
            <a:endParaRPr sz="1200" dirty="0">
              <a:latin typeface="Suisse Intl" panose="020B0504000000000000" pitchFamily="34" charset="-78"/>
              <a:cs typeface="Suisse Intl"/>
            </a:endParaRPr>
          </a:p>
          <a:p>
            <a:pPr>
              <a:spcBef>
                <a:spcPts val="267"/>
              </a:spcBef>
            </a:pPr>
            <a:endParaRPr sz="1200" dirty="0">
              <a:latin typeface="Suisse Intl" panose="020B0504000000000000" pitchFamily="34" charset="-78"/>
              <a:cs typeface="Suisse Intl" panose="020B0504000000000000" pitchFamily="34" charset="-78"/>
            </a:endParaRPr>
          </a:p>
          <a:p>
            <a:pPr marL="17780" marR="3175">
              <a:lnSpc>
                <a:spcPct val="115700"/>
              </a:lnSpc>
            </a:pPr>
            <a:r>
              <a:rPr sz="1200" dirty="0">
                <a:solidFill>
                  <a:srgbClr val="191919"/>
                </a:solidFill>
                <a:latin typeface="Suisse Intl" panose="020B0504000000000000" pitchFamily="34" charset="-78"/>
                <a:cs typeface="Suisse Intl"/>
              </a:rPr>
              <a:t>KUGA’s solution was to develop a cutting-edge 1.56MW </a:t>
            </a:r>
            <a:r>
              <a:rPr sz="1200" dirty="0" err="1">
                <a:solidFill>
                  <a:srgbClr val="191919"/>
                </a:solidFill>
                <a:latin typeface="Suisse Intl" panose="020B0504000000000000" pitchFamily="34" charset="-78"/>
                <a:cs typeface="Suisse Intl"/>
              </a:rPr>
              <a:t>singl</a:t>
            </a:r>
            <a:r>
              <a:rPr sz="1200" dirty="0">
                <a:solidFill>
                  <a:srgbClr val="191919"/>
                </a:solidFill>
                <a:latin typeface="Suisse Intl" panose="020B0504000000000000" pitchFamily="34" charset="-78"/>
                <a:cs typeface="Suisse Intl"/>
              </a:rPr>
              <a:t>-axis tracking ground mounted system, which significantly enhances solar by approximately 30%. This solar installation is projected to deliver a 2608MWh of clean energy annually to the site, significantly reducing 2597 </a:t>
            </a:r>
            <a:r>
              <a:rPr sz="1200" dirty="0" err="1">
                <a:solidFill>
                  <a:srgbClr val="191919"/>
                </a:solidFill>
                <a:latin typeface="Suisse Intl" panose="020B0504000000000000" pitchFamily="34" charset="-78"/>
                <a:cs typeface="Suisse Intl"/>
              </a:rPr>
              <a:t>tonnes</a:t>
            </a:r>
            <a:r>
              <a:rPr sz="1200" dirty="0">
                <a:solidFill>
                  <a:srgbClr val="191919"/>
                </a:solidFill>
                <a:latin typeface="Suisse Intl" panose="020B0504000000000000" pitchFamily="34" charset="-78"/>
                <a:cs typeface="Suisse Intl"/>
              </a:rPr>
              <a:t> of </a:t>
            </a:r>
            <a:r>
              <a:rPr lang="en-US" sz="1200" dirty="0">
                <a:solidFill>
                  <a:srgbClr val="191919"/>
                </a:solidFill>
                <a:latin typeface="Suisse Intl" panose="020B0504000000000000" pitchFamily="34" charset="-78"/>
                <a:cs typeface="Suisse Intl"/>
              </a:rPr>
              <a:t>carbon</a:t>
            </a:r>
            <a:r>
              <a:rPr sz="1200" dirty="0">
                <a:solidFill>
                  <a:srgbClr val="191919"/>
                </a:solidFill>
                <a:latin typeface="Suisse Intl" panose="020B0504000000000000" pitchFamily="34" charset="-78"/>
                <a:cs typeface="Suisse Intl"/>
              </a:rPr>
              <a:t> footprint. By completing all elements of the civil, electrical and mechanical works in-house and with KUGA’s own assets, the return of the project was able to hit the metrics set by Americold.</a:t>
            </a:r>
            <a:endParaRPr sz="1200" dirty="0">
              <a:latin typeface="Suisse Intl" panose="020B0504000000000000" pitchFamily="34" charset="-78"/>
              <a:cs typeface="Suisse Intl"/>
            </a:endParaRPr>
          </a:p>
        </p:txBody>
      </p:sp>
      <p:sp>
        <p:nvSpPr>
          <p:cNvPr id="10" name="object 10"/>
          <p:cNvSpPr/>
          <p:nvPr/>
        </p:nvSpPr>
        <p:spPr>
          <a:xfrm>
            <a:off x="511843" y="6468266"/>
            <a:ext cx="28594" cy="13676"/>
          </a:xfrm>
          <a:custGeom>
            <a:avLst/>
            <a:gdLst/>
            <a:ahLst/>
            <a:cxnLst/>
            <a:rect l="l" t="t" r="r" b="b"/>
            <a:pathLst>
              <a:path w="43815" h="20954">
                <a:moveTo>
                  <a:pt x="27035" y="0"/>
                </a:moveTo>
                <a:lnTo>
                  <a:pt x="15133" y="184"/>
                </a:lnTo>
                <a:lnTo>
                  <a:pt x="6527" y="1031"/>
                </a:lnTo>
                <a:lnTo>
                  <a:pt x="1739" y="4117"/>
                </a:lnTo>
                <a:lnTo>
                  <a:pt x="0" y="16119"/>
                </a:lnTo>
                <a:lnTo>
                  <a:pt x="12590" y="19381"/>
                </a:lnTo>
                <a:lnTo>
                  <a:pt x="25619" y="20559"/>
                </a:lnTo>
                <a:lnTo>
                  <a:pt x="36690" y="17082"/>
                </a:lnTo>
                <a:lnTo>
                  <a:pt x="43408" y="6378"/>
                </a:lnTo>
                <a:lnTo>
                  <a:pt x="37903" y="1667"/>
                </a:lnTo>
                <a:lnTo>
                  <a:pt x="27035"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11" name="object 11"/>
          <p:cNvSpPr txBox="1"/>
          <p:nvPr/>
        </p:nvSpPr>
        <p:spPr>
          <a:xfrm>
            <a:off x="741303" y="1254055"/>
            <a:ext cx="1080621" cy="309670"/>
          </a:xfrm>
          <a:prstGeom prst="rect">
            <a:avLst/>
          </a:prstGeom>
        </p:spPr>
        <p:txBody>
          <a:bodyPr vert="horz" wrap="square" lIns="0" tIns="8288" rIns="0" bIns="0" rtlCol="0">
            <a:spAutoFit/>
          </a:bodyPr>
          <a:lstStyle/>
          <a:p>
            <a:pPr marL="8288">
              <a:spcBef>
                <a:spcPts val="65"/>
              </a:spcBef>
            </a:pPr>
            <a:r>
              <a:rPr sz="1958" b="1" dirty="0">
                <a:solidFill>
                  <a:srgbClr val="FFFFFF"/>
                </a:solidFill>
                <a:latin typeface="Suisse Intl" panose="020B0504000000000000" pitchFamily="34" charset="-78"/>
                <a:cs typeface="Suisse Intl" panose="020B0504000000000000" pitchFamily="34" charset="-78"/>
              </a:rPr>
              <a:t>1.56 MW</a:t>
            </a:r>
            <a:endParaRPr sz="1958" dirty="0">
              <a:latin typeface="Suisse Intl" panose="020B0504000000000000" pitchFamily="34" charset="-78"/>
              <a:cs typeface="Suisse Intl" panose="020B0504000000000000" pitchFamily="34" charset="-78"/>
            </a:endParaRPr>
          </a:p>
        </p:txBody>
      </p:sp>
      <p:sp>
        <p:nvSpPr>
          <p:cNvPr id="28" name="object 12">
            <a:extLst>
              <a:ext uri="{FF2B5EF4-FFF2-40B4-BE49-F238E27FC236}">
                <a16:creationId xmlns:a16="http://schemas.microsoft.com/office/drawing/2014/main" id="{DBA4465F-CECF-A783-992B-B4078C705697}"/>
              </a:ext>
            </a:extLst>
          </p:cNvPr>
          <p:cNvSpPr/>
          <p:nvPr/>
        </p:nvSpPr>
        <p:spPr>
          <a:xfrm>
            <a:off x="825464" y="9169593"/>
            <a:ext cx="414826" cy="414826"/>
          </a:xfrm>
          <a:custGeom>
            <a:avLst/>
            <a:gdLst/>
            <a:ahLst/>
            <a:cxnLst/>
            <a:rect l="l" t="t" r="r" b="b"/>
            <a:pathLst>
              <a:path w="635635" h="635634">
                <a:moveTo>
                  <a:pt x="635444" y="317728"/>
                </a:moveTo>
                <a:lnTo>
                  <a:pt x="631999" y="364680"/>
                </a:lnTo>
                <a:lnTo>
                  <a:pt x="621992" y="409492"/>
                </a:lnTo>
                <a:lnTo>
                  <a:pt x="605913" y="451674"/>
                </a:lnTo>
                <a:lnTo>
                  <a:pt x="584256" y="490734"/>
                </a:lnTo>
                <a:lnTo>
                  <a:pt x="557510" y="526181"/>
                </a:lnTo>
                <a:lnTo>
                  <a:pt x="526168" y="557523"/>
                </a:lnTo>
                <a:lnTo>
                  <a:pt x="490722" y="584268"/>
                </a:lnTo>
                <a:lnTo>
                  <a:pt x="451661" y="605926"/>
                </a:lnTo>
                <a:lnTo>
                  <a:pt x="409479" y="622004"/>
                </a:lnTo>
                <a:lnTo>
                  <a:pt x="364667" y="632012"/>
                </a:lnTo>
                <a:lnTo>
                  <a:pt x="317715" y="635457"/>
                </a:lnTo>
                <a:lnTo>
                  <a:pt x="270764" y="632012"/>
                </a:lnTo>
                <a:lnTo>
                  <a:pt x="225953" y="622004"/>
                </a:lnTo>
                <a:lnTo>
                  <a:pt x="183772" y="605926"/>
                </a:lnTo>
                <a:lnTo>
                  <a:pt x="144713" y="584268"/>
                </a:lnTo>
                <a:lnTo>
                  <a:pt x="109268" y="557523"/>
                </a:lnTo>
                <a:lnTo>
                  <a:pt x="77928" y="526181"/>
                </a:lnTo>
                <a:lnTo>
                  <a:pt x="51184" y="490734"/>
                </a:lnTo>
                <a:lnTo>
                  <a:pt x="29528" y="451674"/>
                </a:lnTo>
                <a:lnTo>
                  <a:pt x="13451" y="409492"/>
                </a:lnTo>
                <a:lnTo>
                  <a:pt x="3444" y="364680"/>
                </a:lnTo>
                <a:lnTo>
                  <a:pt x="0" y="317728"/>
                </a:lnTo>
                <a:lnTo>
                  <a:pt x="3444" y="270777"/>
                </a:lnTo>
                <a:lnTo>
                  <a:pt x="13451" y="225964"/>
                </a:lnTo>
                <a:lnTo>
                  <a:pt x="29528" y="183782"/>
                </a:lnTo>
                <a:lnTo>
                  <a:pt x="51184" y="144722"/>
                </a:lnTo>
                <a:lnTo>
                  <a:pt x="77928" y="109275"/>
                </a:lnTo>
                <a:lnTo>
                  <a:pt x="109268" y="77933"/>
                </a:lnTo>
                <a:lnTo>
                  <a:pt x="144713" y="51188"/>
                </a:lnTo>
                <a:lnTo>
                  <a:pt x="183772" y="29530"/>
                </a:lnTo>
                <a:lnTo>
                  <a:pt x="225953" y="13452"/>
                </a:lnTo>
                <a:lnTo>
                  <a:pt x="270764" y="3445"/>
                </a:lnTo>
                <a:lnTo>
                  <a:pt x="317715" y="0"/>
                </a:lnTo>
                <a:lnTo>
                  <a:pt x="364667" y="3445"/>
                </a:lnTo>
                <a:lnTo>
                  <a:pt x="409479" y="13452"/>
                </a:lnTo>
                <a:lnTo>
                  <a:pt x="451661" y="29530"/>
                </a:lnTo>
                <a:lnTo>
                  <a:pt x="490722" y="51188"/>
                </a:lnTo>
                <a:lnTo>
                  <a:pt x="526168" y="77933"/>
                </a:lnTo>
                <a:lnTo>
                  <a:pt x="557510" y="109275"/>
                </a:lnTo>
                <a:lnTo>
                  <a:pt x="584256" y="144722"/>
                </a:lnTo>
                <a:lnTo>
                  <a:pt x="605913" y="183782"/>
                </a:lnTo>
                <a:lnTo>
                  <a:pt x="621992" y="225964"/>
                </a:lnTo>
                <a:lnTo>
                  <a:pt x="631999" y="270777"/>
                </a:lnTo>
                <a:lnTo>
                  <a:pt x="635444" y="317728"/>
                </a:lnTo>
                <a:close/>
              </a:path>
            </a:pathLst>
          </a:custGeom>
          <a:ln w="127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30" name="object 13">
            <a:extLst>
              <a:ext uri="{FF2B5EF4-FFF2-40B4-BE49-F238E27FC236}">
                <a16:creationId xmlns:a16="http://schemas.microsoft.com/office/drawing/2014/main" id="{CC45257F-F807-15EE-E26B-9A50AAA005AD}"/>
              </a:ext>
            </a:extLst>
          </p:cNvPr>
          <p:cNvSpPr txBox="1"/>
          <p:nvPr/>
        </p:nvSpPr>
        <p:spPr>
          <a:xfrm>
            <a:off x="495138" y="9073453"/>
            <a:ext cx="3231994" cy="614806"/>
          </a:xfrm>
          <a:prstGeom prst="rect">
            <a:avLst/>
          </a:prstGeom>
          <a:ln w="12255">
            <a:solidFill>
              <a:srgbClr val="FF0000"/>
            </a:solidFill>
          </a:ln>
        </p:spPr>
        <p:txBody>
          <a:bodyPr vert="horz" wrap="square" lIns="0" tIns="115200" rIns="0" bIns="115200" rtlCol="0">
            <a:spAutoFit/>
          </a:bodyPr>
          <a:lstStyle/>
          <a:p>
            <a:pPr marL="924114">
              <a:spcBef>
                <a:spcPts val="839"/>
              </a:spcBef>
            </a:pPr>
            <a:r>
              <a:rPr sz="1200">
                <a:solidFill>
                  <a:srgbClr val="191919"/>
                </a:solidFill>
                <a:latin typeface="Suisse Intl" panose="020B0504000000000000" pitchFamily="34" charset="-78"/>
                <a:cs typeface="Suisse Intl" panose="020B0504000000000000" pitchFamily="34" charset="-78"/>
              </a:rPr>
              <a:t>Annual Solar Generation</a:t>
            </a:r>
            <a:endParaRPr sz="1200">
              <a:latin typeface="Suisse Intl" panose="020B0504000000000000" pitchFamily="34" charset="-78"/>
              <a:cs typeface="Suisse Intl" panose="020B0504000000000000" pitchFamily="34" charset="-78"/>
            </a:endParaRPr>
          </a:p>
          <a:p>
            <a:pPr marL="924114">
              <a:spcBef>
                <a:spcPts val="91"/>
              </a:spcBef>
            </a:pPr>
            <a:r>
              <a:rPr sz="1200" b="1">
                <a:solidFill>
                  <a:srgbClr val="191919"/>
                </a:solidFill>
                <a:latin typeface="Suisse Intl" panose="020B0504000000000000" pitchFamily="34" charset="-78"/>
                <a:cs typeface="Suisse Intl" panose="020B0504000000000000" pitchFamily="34" charset="-78"/>
              </a:rPr>
              <a:t>606.204 MWh</a:t>
            </a:r>
            <a:endParaRPr sz="1200">
              <a:latin typeface="Suisse Intl" panose="020B0504000000000000" pitchFamily="34" charset="-78"/>
              <a:cs typeface="Suisse Intl" panose="020B0504000000000000" pitchFamily="34" charset="-78"/>
            </a:endParaRPr>
          </a:p>
        </p:txBody>
      </p:sp>
      <p:sp>
        <p:nvSpPr>
          <p:cNvPr id="31" name="object 14">
            <a:extLst>
              <a:ext uri="{FF2B5EF4-FFF2-40B4-BE49-F238E27FC236}">
                <a16:creationId xmlns:a16="http://schemas.microsoft.com/office/drawing/2014/main" id="{950AA279-C32A-C847-4B7D-5DA7F8393222}"/>
              </a:ext>
            </a:extLst>
          </p:cNvPr>
          <p:cNvSpPr/>
          <p:nvPr/>
        </p:nvSpPr>
        <p:spPr>
          <a:xfrm>
            <a:off x="4237037" y="9173443"/>
            <a:ext cx="414826" cy="414826"/>
          </a:xfrm>
          <a:custGeom>
            <a:avLst/>
            <a:gdLst/>
            <a:ahLst/>
            <a:cxnLst/>
            <a:rect l="l" t="t" r="r" b="b"/>
            <a:pathLst>
              <a:path w="635634" h="635634">
                <a:moveTo>
                  <a:pt x="635444" y="317728"/>
                </a:moveTo>
                <a:lnTo>
                  <a:pt x="631999" y="364680"/>
                </a:lnTo>
                <a:lnTo>
                  <a:pt x="621992" y="409492"/>
                </a:lnTo>
                <a:lnTo>
                  <a:pt x="605913" y="451674"/>
                </a:lnTo>
                <a:lnTo>
                  <a:pt x="584256" y="490734"/>
                </a:lnTo>
                <a:lnTo>
                  <a:pt x="557510" y="526181"/>
                </a:lnTo>
                <a:lnTo>
                  <a:pt x="526168" y="557523"/>
                </a:lnTo>
                <a:lnTo>
                  <a:pt x="490722" y="584268"/>
                </a:lnTo>
                <a:lnTo>
                  <a:pt x="451661" y="605926"/>
                </a:lnTo>
                <a:lnTo>
                  <a:pt x="409479" y="622004"/>
                </a:lnTo>
                <a:lnTo>
                  <a:pt x="364667" y="632012"/>
                </a:lnTo>
                <a:lnTo>
                  <a:pt x="317715" y="635457"/>
                </a:lnTo>
                <a:lnTo>
                  <a:pt x="270764" y="632012"/>
                </a:lnTo>
                <a:lnTo>
                  <a:pt x="225953" y="622004"/>
                </a:lnTo>
                <a:lnTo>
                  <a:pt x="183772" y="605926"/>
                </a:lnTo>
                <a:lnTo>
                  <a:pt x="144713" y="584268"/>
                </a:lnTo>
                <a:lnTo>
                  <a:pt x="109268" y="557523"/>
                </a:lnTo>
                <a:lnTo>
                  <a:pt x="77928" y="526181"/>
                </a:lnTo>
                <a:lnTo>
                  <a:pt x="51184" y="490734"/>
                </a:lnTo>
                <a:lnTo>
                  <a:pt x="29528" y="451674"/>
                </a:lnTo>
                <a:lnTo>
                  <a:pt x="13451" y="409492"/>
                </a:lnTo>
                <a:lnTo>
                  <a:pt x="3444" y="364680"/>
                </a:lnTo>
                <a:lnTo>
                  <a:pt x="0" y="317728"/>
                </a:lnTo>
                <a:lnTo>
                  <a:pt x="3444" y="270777"/>
                </a:lnTo>
                <a:lnTo>
                  <a:pt x="13451" y="225964"/>
                </a:lnTo>
                <a:lnTo>
                  <a:pt x="29528" y="183782"/>
                </a:lnTo>
                <a:lnTo>
                  <a:pt x="51184" y="144722"/>
                </a:lnTo>
                <a:lnTo>
                  <a:pt x="77928" y="109275"/>
                </a:lnTo>
                <a:lnTo>
                  <a:pt x="109268" y="77933"/>
                </a:lnTo>
                <a:lnTo>
                  <a:pt x="144713" y="51188"/>
                </a:lnTo>
                <a:lnTo>
                  <a:pt x="183772" y="29530"/>
                </a:lnTo>
                <a:lnTo>
                  <a:pt x="225953" y="13452"/>
                </a:lnTo>
                <a:lnTo>
                  <a:pt x="270764" y="3445"/>
                </a:lnTo>
                <a:lnTo>
                  <a:pt x="317715" y="0"/>
                </a:lnTo>
                <a:lnTo>
                  <a:pt x="364667" y="3445"/>
                </a:lnTo>
                <a:lnTo>
                  <a:pt x="409479" y="13452"/>
                </a:lnTo>
                <a:lnTo>
                  <a:pt x="451661" y="29530"/>
                </a:lnTo>
                <a:lnTo>
                  <a:pt x="490722" y="51188"/>
                </a:lnTo>
                <a:lnTo>
                  <a:pt x="526168" y="77933"/>
                </a:lnTo>
                <a:lnTo>
                  <a:pt x="557510" y="109275"/>
                </a:lnTo>
                <a:lnTo>
                  <a:pt x="584256" y="144722"/>
                </a:lnTo>
                <a:lnTo>
                  <a:pt x="605913" y="183782"/>
                </a:lnTo>
                <a:lnTo>
                  <a:pt x="621992" y="225964"/>
                </a:lnTo>
                <a:lnTo>
                  <a:pt x="631999" y="270777"/>
                </a:lnTo>
                <a:lnTo>
                  <a:pt x="635444" y="317728"/>
                </a:lnTo>
                <a:close/>
              </a:path>
            </a:pathLst>
          </a:custGeom>
          <a:ln w="127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grpSp>
        <p:nvGrpSpPr>
          <p:cNvPr id="32" name="object 16">
            <a:extLst>
              <a:ext uri="{FF2B5EF4-FFF2-40B4-BE49-F238E27FC236}">
                <a16:creationId xmlns:a16="http://schemas.microsoft.com/office/drawing/2014/main" id="{3BB4071E-F686-AACB-2001-D8806B67F194}"/>
              </a:ext>
            </a:extLst>
          </p:cNvPr>
          <p:cNvGrpSpPr/>
          <p:nvPr/>
        </p:nvGrpSpPr>
        <p:grpSpPr>
          <a:xfrm>
            <a:off x="901579" y="9211385"/>
            <a:ext cx="270611" cy="272683"/>
            <a:chOff x="1368162" y="14114550"/>
            <a:chExt cx="414655" cy="417830"/>
          </a:xfrm>
        </p:grpSpPr>
        <p:pic>
          <p:nvPicPr>
            <p:cNvPr id="33" name="object 17">
              <a:extLst>
                <a:ext uri="{FF2B5EF4-FFF2-40B4-BE49-F238E27FC236}">
                  <a16:creationId xmlns:a16="http://schemas.microsoft.com/office/drawing/2014/main" id="{4F950FFB-B0D3-38CD-ED80-E0B292854B3E}"/>
                </a:ext>
              </a:extLst>
            </p:cNvPr>
            <p:cNvPicPr/>
            <p:nvPr/>
          </p:nvPicPr>
          <p:blipFill>
            <a:blip r:embed="rId3" cstate="print"/>
            <a:stretch>
              <a:fillRect/>
            </a:stretch>
          </p:blipFill>
          <p:spPr>
            <a:xfrm>
              <a:off x="1368162" y="14114550"/>
              <a:ext cx="414524" cy="417570"/>
            </a:xfrm>
            <a:prstGeom prst="rect">
              <a:avLst/>
            </a:prstGeom>
          </p:spPr>
        </p:pic>
        <p:pic>
          <p:nvPicPr>
            <p:cNvPr id="34" name="object 18">
              <a:extLst>
                <a:ext uri="{FF2B5EF4-FFF2-40B4-BE49-F238E27FC236}">
                  <a16:creationId xmlns:a16="http://schemas.microsoft.com/office/drawing/2014/main" id="{78ECDB02-75DB-8B06-DE80-2F539AA1642E}"/>
                </a:ext>
              </a:extLst>
            </p:cNvPr>
            <p:cNvPicPr/>
            <p:nvPr/>
          </p:nvPicPr>
          <p:blipFill>
            <a:blip r:embed="rId4" cstate="print"/>
            <a:stretch>
              <a:fillRect/>
            </a:stretch>
          </p:blipFill>
          <p:spPr>
            <a:xfrm>
              <a:off x="1580649" y="14438225"/>
              <a:ext cx="180886" cy="71856"/>
            </a:xfrm>
            <a:prstGeom prst="rect">
              <a:avLst/>
            </a:prstGeom>
          </p:spPr>
        </p:pic>
        <p:pic>
          <p:nvPicPr>
            <p:cNvPr id="35" name="object 19">
              <a:extLst>
                <a:ext uri="{FF2B5EF4-FFF2-40B4-BE49-F238E27FC236}">
                  <a16:creationId xmlns:a16="http://schemas.microsoft.com/office/drawing/2014/main" id="{1CF4D6A2-22A3-EF2B-9C30-64ED2A85BAD9}"/>
                </a:ext>
              </a:extLst>
            </p:cNvPr>
            <p:cNvPicPr/>
            <p:nvPr/>
          </p:nvPicPr>
          <p:blipFill>
            <a:blip r:embed="rId5" cstate="print"/>
            <a:stretch>
              <a:fillRect/>
            </a:stretch>
          </p:blipFill>
          <p:spPr>
            <a:xfrm>
              <a:off x="1379420" y="14438376"/>
              <a:ext cx="178955" cy="71704"/>
            </a:xfrm>
            <a:prstGeom prst="rect">
              <a:avLst/>
            </a:prstGeom>
          </p:spPr>
        </p:pic>
        <p:pic>
          <p:nvPicPr>
            <p:cNvPr id="36" name="object 20">
              <a:extLst>
                <a:ext uri="{FF2B5EF4-FFF2-40B4-BE49-F238E27FC236}">
                  <a16:creationId xmlns:a16="http://schemas.microsoft.com/office/drawing/2014/main" id="{0E6BB4D8-4204-4326-F63C-617481311631}"/>
                </a:ext>
              </a:extLst>
            </p:cNvPr>
            <p:cNvPicPr/>
            <p:nvPr/>
          </p:nvPicPr>
          <p:blipFill>
            <a:blip r:embed="rId6" cstate="print"/>
            <a:stretch>
              <a:fillRect/>
            </a:stretch>
          </p:blipFill>
          <p:spPr>
            <a:xfrm>
              <a:off x="1419993" y="14129158"/>
              <a:ext cx="298753" cy="286651"/>
            </a:xfrm>
            <a:prstGeom prst="rect">
              <a:avLst/>
            </a:prstGeom>
          </p:spPr>
        </p:pic>
      </p:grpSp>
      <p:grpSp>
        <p:nvGrpSpPr>
          <p:cNvPr id="37" name="object 21">
            <a:extLst>
              <a:ext uri="{FF2B5EF4-FFF2-40B4-BE49-F238E27FC236}">
                <a16:creationId xmlns:a16="http://schemas.microsoft.com/office/drawing/2014/main" id="{DAD9BCD0-90C2-BA2B-8C07-85526B6B19AD}"/>
              </a:ext>
            </a:extLst>
          </p:cNvPr>
          <p:cNvGrpSpPr/>
          <p:nvPr/>
        </p:nvGrpSpPr>
        <p:grpSpPr>
          <a:xfrm>
            <a:off x="4318158" y="9249488"/>
            <a:ext cx="260665" cy="262737"/>
            <a:chOff x="7433681" y="14129791"/>
            <a:chExt cx="399415" cy="402590"/>
          </a:xfrm>
        </p:grpSpPr>
        <p:pic>
          <p:nvPicPr>
            <p:cNvPr id="38" name="object 22">
              <a:extLst>
                <a:ext uri="{FF2B5EF4-FFF2-40B4-BE49-F238E27FC236}">
                  <a16:creationId xmlns:a16="http://schemas.microsoft.com/office/drawing/2014/main" id="{CD4234F6-D2C8-D830-2919-26F3BF66F9F1}"/>
                </a:ext>
              </a:extLst>
            </p:cNvPr>
            <p:cNvPicPr/>
            <p:nvPr/>
          </p:nvPicPr>
          <p:blipFill>
            <a:blip r:embed="rId7" cstate="print"/>
            <a:stretch>
              <a:fillRect/>
            </a:stretch>
          </p:blipFill>
          <p:spPr>
            <a:xfrm>
              <a:off x="7433681" y="14129791"/>
              <a:ext cx="399284" cy="402330"/>
            </a:xfrm>
            <a:prstGeom prst="rect">
              <a:avLst/>
            </a:prstGeom>
          </p:spPr>
        </p:pic>
        <p:sp>
          <p:nvSpPr>
            <p:cNvPr id="39" name="object 23">
              <a:extLst>
                <a:ext uri="{FF2B5EF4-FFF2-40B4-BE49-F238E27FC236}">
                  <a16:creationId xmlns:a16="http://schemas.microsoft.com/office/drawing/2014/main" id="{08AA1B61-0F2D-F1F6-2FFC-1F5114662A32}"/>
                </a:ext>
              </a:extLst>
            </p:cNvPr>
            <p:cNvSpPr/>
            <p:nvPr/>
          </p:nvSpPr>
          <p:spPr>
            <a:xfrm>
              <a:off x="7446150" y="14203324"/>
              <a:ext cx="225425" cy="302895"/>
            </a:xfrm>
            <a:custGeom>
              <a:avLst/>
              <a:gdLst/>
              <a:ahLst/>
              <a:cxnLst/>
              <a:rect l="l" t="t" r="r" b="b"/>
              <a:pathLst>
                <a:path w="225425" h="302894">
                  <a:moveTo>
                    <a:pt x="41783" y="16967"/>
                  </a:moveTo>
                  <a:lnTo>
                    <a:pt x="37528" y="7734"/>
                  </a:lnTo>
                  <a:lnTo>
                    <a:pt x="29679" y="1879"/>
                  </a:lnTo>
                  <a:lnTo>
                    <a:pt x="20066" y="0"/>
                  </a:lnTo>
                  <a:lnTo>
                    <a:pt x="10464" y="2692"/>
                  </a:lnTo>
                  <a:lnTo>
                    <a:pt x="5156" y="5765"/>
                  </a:lnTo>
                  <a:lnTo>
                    <a:pt x="2120" y="10680"/>
                  </a:lnTo>
                  <a:lnTo>
                    <a:pt x="0" y="16256"/>
                  </a:lnTo>
                  <a:lnTo>
                    <a:pt x="0" y="26149"/>
                  </a:lnTo>
                  <a:lnTo>
                    <a:pt x="774" y="27863"/>
                  </a:lnTo>
                  <a:lnTo>
                    <a:pt x="5105" y="35267"/>
                  </a:lnTo>
                  <a:lnTo>
                    <a:pt x="10871" y="40132"/>
                  </a:lnTo>
                  <a:lnTo>
                    <a:pt x="17653" y="42418"/>
                  </a:lnTo>
                  <a:lnTo>
                    <a:pt x="25006" y="42125"/>
                  </a:lnTo>
                  <a:lnTo>
                    <a:pt x="32499" y="39090"/>
                  </a:lnTo>
                  <a:lnTo>
                    <a:pt x="38303" y="33655"/>
                  </a:lnTo>
                  <a:lnTo>
                    <a:pt x="41643" y="26162"/>
                  </a:lnTo>
                  <a:lnTo>
                    <a:pt x="41783" y="16967"/>
                  </a:lnTo>
                  <a:close/>
                </a:path>
                <a:path w="225425" h="302894">
                  <a:moveTo>
                    <a:pt x="224828" y="59918"/>
                  </a:moveTo>
                  <a:lnTo>
                    <a:pt x="200672" y="28244"/>
                  </a:lnTo>
                  <a:lnTo>
                    <a:pt x="163042" y="12166"/>
                  </a:lnTo>
                  <a:lnTo>
                    <a:pt x="149123" y="10668"/>
                  </a:lnTo>
                  <a:lnTo>
                    <a:pt x="134797" y="11239"/>
                  </a:lnTo>
                  <a:lnTo>
                    <a:pt x="92583" y="22847"/>
                  </a:lnTo>
                  <a:lnTo>
                    <a:pt x="58724" y="51879"/>
                  </a:lnTo>
                  <a:lnTo>
                    <a:pt x="43167" y="94107"/>
                  </a:lnTo>
                  <a:lnTo>
                    <a:pt x="41770" y="116052"/>
                  </a:lnTo>
                  <a:lnTo>
                    <a:pt x="42087" y="122847"/>
                  </a:lnTo>
                  <a:lnTo>
                    <a:pt x="48793" y="169684"/>
                  </a:lnTo>
                  <a:lnTo>
                    <a:pt x="62572" y="216738"/>
                  </a:lnTo>
                  <a:lnTo>
                    <a:pt x="76809" y="256743"/>
                  </a:lnTo>
                  <a:lnTo>
                    <a:pt x="103974" y="291465"/>
                  </a:lnTo>
                  <a:lnTo>
                    <a:pt x="128790" y="301002"/>
                  </a:lnTo>
                  <a:lnTo>
                    <a:pt x="134239" y="302412"/>
                  </a:lnTo>
                  <a:lnTo>
                    <a:pt x="150495" y="302412"/>
                  </a:lnTo>
                  <a:lnTo>
                    <a:pt x="156311" y="301015"/>
                  </a:lnTo>
                  <a:lnTo>
                    <a:pt x="192278" y="276593"/>
                  </a:lnTo>
                  <a:lnTo>
                    <a:pt x="202260" y="244030"/>
                  </a:lnTo>
                  <a:lnTo>
                    <a:pt x="202742" y="239687"/>
                  </a:lnTo>
                  <a:lnTo>
                    <a:pt x="169405" y="239649"/>
                  </a:lnTo>
                  <a:lnTo>
                    <a:pt x="163131" y="240436"/>
                  </a:lnTo>
                  <a:lnTo>
                    <a:pt x="157200" y="239356"/>
                  </a:lnTo>
                  <a:lnTo>
                    <a:pt x="122110" y="219341"/>
                  </a:lnTo>
                  <a:lnTo>
                    <a:pt x="108585" y="182905"/>
                  </a:lnTo>
                  <a:lnTo>
                    <a:pt x="108521" y="111213"/>
                  </a:lnTo>
                  <a:lnTo>
                    <a:pt x="109207" y="105791"/>
                  </a:lnTo>
                  <a:lnTo>
                    <a:pt x="132867" y="70218"/>
                  </a:lnTo>
                  <a:lnTo>
                    <a:pt x="166230" y="59918"/>
                  </a:lnTo>
                  <a:lnTo>
                    <a:pt x="224828" y="59918"/>
                  </a:lnTo>
                  <a:close/>
                </a:path>
              </a:pathLst>
            </a:custGeom>
            <a:solidFill>
              <a:srgbClr val="999999"/>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0" name="object 24">
              <a:extLst>
                <a:ext uri="{FF2B5EF4-FFF2-40B4-BE49-F238E27FC236}">
                  <a16:creationId xmlns:a16="http://schemas.microsoft.com/office/drawing/2014/main" id="{80D76D5B-F27F-272C-C763-03142C968572}"/>
                </a:ext>
              </a:extLst>
            </p:cNvPr>
            <p:cNvSpPr/>
            <p:nvPr/>
          </p:nvSpPr>
          <p:spPr>
            <a:xfrm>
              <a:off x="7575823" y="14284096"/>
              <a:ext cx="232410" cy="138430"/>
            </a:xfrm>
            <a:custGeom>
              <a:avLst/>
              <a:gdLst/>
              <a:ahLst/>
              <a:cxnLst/>
              <a:rect l="l" t="t" r="r" b="b"/>
              <a:pathLst>
                <a:path w="232409" h="138430">
                  <a:moveTo>
                    <a:pt x="193560" y="0"/>
                  </a:moveTo>
                  <a:lnTo>
                    <a:pt x="38386" y="0"/>
                  </a:lnTo>
                  <a:lnTo>
                    <a:pt x="29594" y="767"/>
                  </a:lnTo>
                  <a:lnTo>
                    <a:pt x="0" y="26441"/>
                  </a:lnTo>
                  <a:lnTo>
                    <a:pt x="52" y="104305"/>
                  </a:lnTo>
                  <a:lnTo>
                    <a:pt x="23690" y="135749"/>
                  </a:lnTo>
                  <a:lnTo>
                    <a:pt x="36512" y="138087"/>
                  </a:lnTo>
                  <a:lnTo>
                    <a:pt x="197584" y="138087"/>
                  </a:lnTo>
                  <a:lnTo>
                    <a:pt x="230034" y="113432"/>
                  </a:lnTo>
                  <a:lnTo>
                    <a:pt x="230325" y="111810"/>
                  </a:lnTo>
                  <a:lnTo>
                    <a:pt x="199047" y="111810"/>
                  </a:lnTo>
                  <a:lnTo>
                    <a:pt x="181711" y="111175"/>
                  </a:lnTo>
                  <a:lnTo>
                    <a:pt x="178447" y="108902"/>
                  </a:lnTo>
                  <a:lnTo>
                    <a:pt x="175799" y="104305"/>
                  </a:lnTo>
                  <a:lnTo>
                    <a:pt x="50713" y="104305"/>
                  </a:lnTo>
                  <a:lnTo>
                    <a:pt x="18188" y="80352"/>
                  </a:lnTo>
                  <a:lnTo>
                    <a:pt x="15582" y="70446"/>
                  </a:lnTo>
                  <a:lnTo>
                    <a:pt x="14338" y="65468"/>
                  </a:lnTo>
                  <a:lnTo>
                    <a:pt x="42659" y="28511"/>
                  </a:lnTo>
                  <a:lnTo>
                    <a:pt x="50984" y="27095"/>
                  </a:lnTo>
                  <a:lnTo>
                    <a:pt x="230782" y="27095"/>
                  </a:lnTo>
                  <a:lnTo>
                    <a:pt x="229001" y="21743"/>
                  </a:lnTo>
                  <a:lnTo>
                    <a:pt x="201155" y="603"/>
                  </a:lnTo>
                  <a:lnTo>
                    <a:pt x="193560" y="0"/>
                  </a:lnTo>
                  <a:close/>
                </a:path>
                <a:path w="232409" h="138430">
                  <a:moveTo>
                    <a:pt x="232111" y="48704"/>
                  </a:moveTo>
                  <a:lnTo>
                    <a:pt x="189382" y="48704"/>
                  </a:lnTo>
                  <a:lnTo>
                    <a:pt x="205930" y="51460"/>
                  </a:lnTo>
                  <a:lnTo>
                    <a:pt x="211912" y="56527"/>
                  </a:lnTo>
                  <a:lnTo>
                    <a:pt x="215963" y="72567"/>
                  </a:lnTo>
                  <a:lnTo>
                    <a:pt x="213754" y="79044"/>
                  </a:lnTo>
                  <a:lnTo>
                    <a:pt x="213689" y="79235"/>
                  </a:lnTo>
                  <a:lnTo>
                    <a:pt x="213596" y="79507"/>
                  </a:lnTo>
                  <a:lnTo>
                    <a:pt x="213532" y="79667"/>
                  </a:lnTo>
                  <a:lnTo>
                    <a:pt x="209188" y="85899"/>
                  </a:lnTo>
                  <a:lnTo>
                    <a:pt x="206311" y="89903"/>
                  </a:lnTo>
                  <a:lnTo>
                    <a:pt x="211924" y="90893"/>
                  </a:lnTo>
                  <a:lnTo>
                    <a:pt x="215658" y="93637"/>
                  </a:lnTo>
                  <a:lnTo>
                    <a:pt x="217487" y="105651"/>
                  </a:lnTo>
                  <a:lnTo>
                    <a:pt x="212636" y="110731"/>
                  </a:lnTo>
                  <a:lnTo>
                    <a:pt x="199047" y="111810"/>
                  </a:lnTo>
                  <a:lnTo>
                    <a:pt x="230325" y="111810"/>
                  </a:lnTo>
                  <a:lnTo>
                    <a:pt x="231952" y="102755"/>
                  </a:lnTo>
                  <a:lnTo>
                    <a:pt x="232077" y="93129"/>
                  </a:lnTo>
                  <a:lnTo>
                    <a:pt x="232111" y="48704"/>
                  </a:lnTo>
                  <a:close/>
                </a:path>
                <a:path w="232409" h="138430">
                  <a:moveTo>
                    <a:pt x="91623" y="74180"/>
                  </a:moveTo>
                  <a:lnTo>
                    <a:pt x="75031" y="74180"/>
                  </a:lnTo>
                  <a:lnTo>
                    <a:pt x="82765" y="82194"/>
                  </a:lnTo>
                  <a:lnTo>
                    <a:pt x="83604" y="88176"/>
                  </a:lnTo>
                  <a:lnTo>
                    <a:pt x="79070" y="93129"/>
                  </a:lnTo>
                  <a:lnTo>
                    <a:pt x="72832" y="98622"/>
                  </a:lnTo>
                  <a:lnTo>
                    <a:pt x="65874" y="102296"/>
                  </a:lnTo>
                  <a:lnTo>
                    <a:pt x="57654" y="104305"/>
                  </a:lnTo>
                  <a:lnTo>
                    <a:pt x="126453" y="104305"/>
                  </a:lnTo>
                  <a:lnTo>
                    <a:pt x="112914" y="100927"/>
                  </a:lnTo>
                  <a:lnTo>
                    <a:pt x="101526" y="92859"/>
                  </a:lnTo>
                  <a:lnTo>
                    <a:pt x="93478" y="81366"/>
                  </a:lnTo>
                  <a:lnTo>
                    <a:pt x="91623" y="74180"/>
                  </a:lnTo>
                  <a:close/>
                </a:path>
                <a:path w="232409" h="138430">
                  <a:moveTo>
                    <a:pt x="230782" y="27095"/>
                  </a:moveTo>
                  <a:lnTo>
                    <a:pt x="50984" y="27095"/>
                  </a:lnTo>
                  <a:lnTo>
                    <a:pt x="60173" y="27330"/>
                  </a:lnTo>
                  <a:lnTo>
                    <a:pt x="128498" y="27330"/>
                  </a:lnTo>
                  <a:lnTo>
                    <a:pt x="143523" y="29877"/>
                  </a:lnTo>
                  <a:lnTo>
                    <a:pt x="155487" y="37871"/>
                  </a:lnTo>
                  <a:lnTo>
                    <a:pt x="163615" y="49265"/>
                  </a:lnTo>
                  <a:lnTo>
                    <a:pt x="167132" y="62014"/>
                  </a:lnTo>
                  <a:lnTo>
                    <a:pt x="164798" y="78308"/>
                  </a:lnTo>
                  <a:lnTo>
                    <a:pt x="164692" y="79044"/>
                  </a:lnTo>
                  <a:lnTo>
                    <a:pt x="164626" y="79507"/>
                  </a:lnTo>
                  <a:lnTo>
                    <a:pt x="155762" y="92859"/>
                  </a:lnTo>
                  <a:lnTo>
                    <a:pt x="155531" y="93129"/>
                  </a:lnTo>
                  <a:lnTo>
                    <a:pt x="142100" y="101744"/>
                  </a:lnTo>
                  <a:lnTo>
                    <a:pt x="141805" y="101744"/>
                  </a:lnTo>
                  <a:lnTo>
                    <a:pt x="126453" y="104305"/>
                  </a:lnTo>
                  <a:lnTo>
                    <a:pt x="175799" y="104305"/>
                  </a:lnTo>
                  <a:lnTo>
                    <a:pt x="173854" y="100927"/>
                  </a:lnTo>
                  <a:lnTo>
                    <a:pt x="174573" y="98622"/>
                  </a:lnTo>
                  <a:lnTo>
                    <a:pt x="175056" y="97167"/>
                  </a:lnTo>
                  <a:lnTo>
                    <a:pt x="180632" y="88950"/>
                  </a:lnTo>
                  <a:lnTo>
                    <a:pt x="184315" y="84366"/>
                  </a:lnTo>
                  <a:lnTo>
                    <a:pt x="187833" y="79667"/>
                  </a:lnTo>
                  <a:lnTo>
                    <a:pt x="187941" y="79507"/>
                  </a:lnTo>
                  <a:lnTo>
                    <a:pt x="181163" y="79507"/>
                  </a:lnTo>
                  <a:lnTo>
                    <a:pt x="171970" y="71348"/>
                  </a:lnTo>
                  <a:lnTo>
                    <a:pt x="172318" y="67716"/>
                  </a:lnTo>
                  <a:lnTo>
                    <a:pt x="172363" y="67246"/>
                  </a:lnTo>
                  <a:lnTo>
                    <a:pt x="172478" y="66040"/>
                  </a:lnTo>
                  <a:lnTo>
                    <a:pt x="181879" y="51460"/>
                  </a:lnTo>
                  <a:lnTo>
                    <a:pt x="181631" y="51460"/>
                  </a:lnTo>
                  <a:lnTo>
                    <a:pt x="189382" y="48704"/>
                  </a:lnTo>
                  <a:lnTo>
                    <a:pt x="232111" y="48704"/>
                  </a:lnTo>
                  <a:lnTo>
                    <a:pt x="232003" y="37871"/>
                  </a:lnTo>
                  <a:lnTo>
                    <a:pt x="231978" y="35306"/>
                  </a:lnTo>
                  <a:lnTo>
                    <a:pt x="231358" y="29877"/>
                  </a:lnTo>
                  <a:lnTo>
                    <a:pt x="231287" y="29258"/>
                  </a:lnTo>
                  <a:lnTo>
                    <a:pt x="231175" y="28273"/>
                  </a:lnTo>
                  <a:lnTo>
                    <a:pt x="230861" y="27330"/>
                  </a:lnTo>
                  <a:lnTo>
                    <a:pt x="230782" y="27095"/>
                  </a:lnTo>
                  <a:close/>
                </a:path>
                <a:path w="232409" h="138430">
                  <a:moveTo>
                    <a:pt x="54318" y="48298"/>
                  </a:moveTo>
                  <a:lnTo>
                    <a:pt x="46710" y="49436"/>
                  </a:lnTo>
                  <a:lnTo>
                    <a:pt x="40617" y="53757"/>
                  </a:lnTo>
                  <a:lnTo>
                    <a:pt x="36741" y="61137"/>
                  </a:lnTo>
                  <a:lnTo>
                    <a:pt x="35001" y="67246"/>
                  </a:lnTo>
                  <a:lnTo>
                    <a:pt x="37490" y="75450"/>
                  </a:lnTo>
                  <a:lnTo>
                    <a:pt x="48133" y="83261"/>
                  </a:lnTo>
                  <a:lnTo>
                    <a:pt x="54267" y="84988"/>
                  </a:lnTo>
                  <a:lnTo>
                    <a:pt x="61899" y="80352"/>
                  </a:lnTo>
                  <a:lnTo>
                    <a:pt x="63149" y="79507"/>
                  </a:lnTo>
                  <a:lnTo>
                    <a:pt x="63403" y="79235"/>
                  </a:lnTo>
                  <a:lnTo>
                    <a:pt x="67756" y="74180"/>
                  </a:lnTo>
                  <a:lnTo>
                    <a:pt x="91623" y="74180"/>
                  </a:lnTo>
                  <a:lnTo>
                    <a:pt x="89954" y="67716"/>
                  </a:lnTo>
                  <a:lnTo>
                    <a:pt x="92226" y="53757"/>
                  </a:lnTo>
                  <a:lnTo>
                    <a:pt x="92335" y="53091"/>
                  </a:lnTo>
                  <a:lnTo>
                    <a:pt x="92371" y="52870"/>
                  </a:lnTo>
                  <a:lnTo>
                    <a:pt x="73990" y="52870"/>
                  </a:lnTo>
                  <a:lnTo>
                    <a:pt x="66497" y="52527"/>
                  </a:lnTo>
                  <a:lnTo>
                    <a:pt x="64858" y="51460"/>
                  </a:lnTo>
                  <a:lnTo>
                    <a:pt x="62738" y="50469"/>
                  </a:lnTo>
                  <a:lnTo>
                    <a:pt x="54318" y="48298"/>
                  </a:lnTo>
                  <a:close/>
                </a:path>
                <a:path w="232409" h="138430">
                  <a:moveTo>
                    <a:pt x="188379" y="78308"/>
                  </a:moveTo>
                  <a:lnTo>
                    <a:pt x="184531" y="79235"/>
                  </a:lnTo>
                  <a:lnTo>
                    <a:pt x="177680" y="79507"/>
                  </a:lnTo>
                  <a:lnTo>
                    <a:pt x="188001" y="79507"/>
                  </a:lnTo>
                  <a:lnTo>
                    <a:pt x="188087" y="79044"/>
                  </a:lnTo>
                  <a:lnTo>
                    <a:pt x="188379" y="78308"/>
                  </a:lnTo>
                  <a:close/>
                </a:path>
                <a:path w="232409" h="138430">
                  <a:moveTo>
                    <a:pt x="128498" y="27330"/>
                  </a:moveTo>
                  <a:lnTo>
                    <a:pt x="59285" y="27330"/>
                  </a:lnTo>
                  <a:lnTo>
                    <a:pt x="67169" y="29258"/>
                  </a:lnTo>
                  <a:lnTo>
                    <a:pt x="74866" y="33070"/>
                  </a:lnTo>
                  <a:lnTo>
                    <a:pt x="79311" y="35902"/>
                  </a:lnTo>
                  <a:lnTo>
                    <a:pt x="81114" y="40741"/>
                  </a:lnTo>
                  <a:lnTo>
                    <a:pt x="77927" y="49822"/>
                  </a:lnTo>
                  <a:lnTo>
                    <a:pt x="73990" y="52870"/>
                  </a:lnTo>
                  <a:lnTo>
                    <a:pt x="92371" y="52870"/>
                  </a:lnTo>
                  <a:lnTo>
                    <a:pt x="92485" y="52169"/>
                  </a:lnTo>
                  <a:lnTo>
                    <a:pt x="92540" y="51829"/>
                  </a:lnTo>
                  <a:lnTo>
                    <a:pt x="101092" y="38550"/>
                  </a:lnTo>
                  <a:lnTo>
                    <a:pt x="113538" y="29877"/>
                  </a:lnTo>
                  <a:lnTo>
                    <a:pt x="112980" y="29877"/>
                  </a:lnTo>
                  <a:lnTo>
                    <a:pt x="128498" y="27330"/>
                  </a:lnTo>
                  <a:close/>
                </a:path>
              </a:pathLst>
            </a:custGeom>
            <a:solidFill>
              <a:srgbClr val="009245"/>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1" name="object 25">
              <a:extLst>
                <a:ext uri="{FF2B5EF4-FFF2-40B4-BE49-F238E27FC236}">
                  <a16:creationId xmlns:a16="http://schemas.microsoft.com/office/drawing/2014/main" id="{6A724EF8-36E5-626C-1F17-D1FF4FC20A95}"/>
                </a:ext>
              </a:extLst>
            </p:cNvPr>
            <p:cNvSpPr/>
            <p:nvPr/>
          </p:nvSpPr>
          <p:spPr>
            <a:xfrm>
              <a:off x="7509878" y="14144041"/>
              <a:ext cx="203835" cy="69215"/>
            </a:xfrm>
            <a:custGeom>
              <a:avLst/>
              <a:gdLst/>
              <a:ahLst/>
              <a:cxnLst/>
              <a:rect l="l" t="t" r="r" b="b"/>
              <a:pathLst>
                <a:path w="203834" h="69215">
                  <a:moveTo>
                    <a:pt x="42252" y="34493"/>
                  </a:moveTo>
                  <a:lnTo>
                    <a:pt x="40944" y="26314"/>
                  </a:lnTo>
                  <a:lnTo>
                    <a:pt x="36322" y="19532"/>
                  </a:lnTo>
                  <a:lnTo>
                    <a:pt x="29273" y="14973"/>
                  </a:lnTo>
                  <a:lnTo>
                    <a:pt x="20688" y="13423"/>
                  </a:lnTo>
                  <a:lnTo>
                    <a:pt x="12103" y="15265"/>
                  </a:lnTo>
                  <a:lnTo>
                    <a:pt x="5613" y="19862"/>
                  </a:lnTo>
                  <a:lnTo>
                    <a:pt x="1485" y="26555"/>
                  </a:lnTo>
                  <a:lnTo>
                    <a:pt x="0" y="34658"/>
                  </a:lnTo>
                  <a:lnTo>
                    <a:pt x="1524" y="42621"/>
                  </a:lnTo>
                  <a:lnTo>
                    <a:pt x="5943" y="49403"/>
                  </a:lnTo>
                  <a:lnTo>
                    <a:pt x="12776" y="54102"/>
                  </a:lnTo>
                  <a:lnTo>
                    <a:pt x="21539" y="55867"/>
                  </a:lnTo>
                  <a:lnTo>
                    <a:pt x="29032" y="54190"/>
                  </a:lnTo>
                  <a:lnTo>
                    <a:pt x="36004" y="49606"/>
                  </a:lnTo>
                  <a:lnTo>
                    <a:pt x="40906" y="42799"/>
                  </a:lnTo>
                  <a:lnTo>
                    <a:pt x="42252" y="34493"/>
                  </a:lnTo>
                  <a:close/>
                </a:path>
                <a:path w="203834" h="69215">
                  <a:moveTo>
                    <a:pt x="117856" y="21285"/>
                  </a:moveTo>
                  <a:lnTo>
                    <a:pt x="116586" y="13004"/>
                  </a:lnTo>
                  <a:lnTo>
                    <a:pt x="111988" y="6184"/>
                  </a:lnTo>
                  <a:lnTo>
                    <a:pt x="104978" y="1587"/>
                  </a:lnTo>
                  <a:lnTo>
                    <a:pt x="96507" y="0"/>
                  </a:lnTo>
                  <a:lnTo>
                    <a:pt x="87858" y="1778"/>
                  </a:lnTo>
                  <a:lnTo>
                    <a:pt x="81330" y="6311"/>
                  </a:lnTo>
                  <a:lnTo>
                    <a:pt x="77165" y="12954"/>
                  </a:lnTo>
                  <a:lnTo>
                    <a:pt x="75603" y="21018"/>
                  </a:lnTo>
                  <a:lnTo>
                    <a:pt x="77076" y="29070"/>
                  </a:lnTo>
                  <a:lnTo>
                    <a:pt x="81508" y="35941"/>
                  </a:lnTo>
                  <a:lnTo>
                    <a:pt x="88404" y="40703"/>
                  </a:lnTo>
                  <a:lnTo>
                    <a:pt x="97282" y="42443"/>
                  </a:lnTo>
                  <a:lnTo>
                    <a:pt x="104711" y="40728"/>
                  </a:lnTo>
                  <a:lnTo>
                    <a:pt x="111607" y="36169"/>
                  </a:lnTo>
                  <a:lnTo>
                    <a:pt x="116471" y="29451"/>
                  </a:lnTo>
                  <a:lnTo>
                    <a:pt x="117856" y="21285"/>
                  </a:lnTo>
                  <a:close/>
                </a:path>
                <a:path w="203834" h="69215">
                  <a:moveTo>
                    <a:pt x="203581" y="29146"/>
                  </a:moveTo>
                  <a:lnTo>
                    <a:pt x="178904" y="647"/>
                  </a:lnTo>
                  <a:lnTo>
                    <a:pt x="171132" y="1536"/>
                  </a:lnTo>
                  <a:lnTo>
                    <a:pt x="145681" y="30200"/>
                  </a:lnTo>
                  <a:lnTo>
                    <a:pt x="144564" y="38811"/>
                  </a:lnTo>
                  <a:lnTo>
                    <a:pt x="145478" y="47866"/>
                  </a:lnTo>
                  <a:lnTo>
                    <a:pt x="170903" y="68935"/>
                  </a:lnTo>
                  <a:lnTo>
                    <a:pt x="176974" y="67754"/>
                  </a:lnTo>
                  <a:lnTo>
                    <a:pt x="203581" y="29146"/>
                  </a:lnTo>
                  <a:close/>
                </a:path>
              </a:pathLst>
            </a:custGeom>
            <a:solidFill>
              <a:srgbClr val="999999"/>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2" name="object 26">
              <a:extLst>
                <a:ext uri="{FF2B5EF4-FFF2-40B4-BE49-F238E27FC236}">
                  <a16:creationId xmlns:a16="http://schemas.microsoft.com/office/drawing/2014/main" id="{6E875DAF-E9EE-4EBE-1D92-A4B44A335C4A}"/>
                </a:ext>
              </a:extLst>
            </p:cNvPr>
            <p:cNvSpPr/>
            <p:nvPr/>
          </p:nvSpPr>
          <p:spPr>
            <a:xfrm>
              <a:off x="7686956" y="14332623"/>
              <a:ext cx="34925" cy="34925"/>
            </a:xfrm>
            <a:custGeom>
              <a:avLst/>
              <a:gdLst/>
              <a:ahLst/>
              <a:cxnLst/>
              <a:rect l="l" t="t" r="r" b="b"/>
              <a:pathLst>
                <a:path w="34925" h="34925">
                  <a:moveTo>
                    <a:pt x="27076" y="0"/>
                  </a:moveTo>
                  <a:lnTo>
                    <a:pt x="17335" y="0"/>
                  </a:lnTo>
                  <a:lnTo>
                    <a:pt x="6921" y="0"/>
                  </a:lnTo>
                  <a:lnTo>
                    <a:pt x="482" y="6705"/>
                  </a:lnTo>
                  <a:lnTo>
                    <a:pt x="17729" y="34709"/>
                  </a:lnTo>
                  <a:lnTo>
                    <a:pt x="24662" y="33086"/>
                  </a:lnTo>
                  <a:lnTo>
                    <a:pt x="30033" y="29068"/>
                  </a:lnTo>
                  <a:lnTo>
                    <a:pt x="33507" y="22934"/>
                  </a:lnTo>
                  <a:lnTo>
                    <a:pt x="34747" y="14960"/>
                  </a:lnTo>
                  <a:lnTo>
                    <a:pt x="34747" y="6604"/>
                  </a:lnTo>
                  <a:lnTo>
                    <a:pt x="27076" y="0"/>
                  </a:lnTo>
                  <a:close/>
                </a:path>
              </a:pathLst>
            </a:custGeom>
            <a:solidFill>
              <a:srgbClr val="FF0000"/>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3" name="object 27">
              <a:extLst>
                <a:ext uri="{FF2B5EF4-FFF2-40B4-BE49-F238E27FC236}">
                  <a16:creationId xmlns:a16="http://schemas.microsoft.com/office/drawing/2014/main" id="{D8D6828D-CB17-0F4B-AA69-3E92028CDFE8}"/>
                </a:ext>
              </a:extLst>
            </p:cNvPr>
            <p:cNvSpPr/>
            <p:nvPr/>
          </p:nvSpPr>
          <p:spPr>
            <a:xfrm>
              <a:off x="7672667" y="14332623"/>
              <a:ext cx="111125" cy="177165"/>
            </a:xfrm>
            <a:custGeom>
              <a:avLst/>
              <a:gdLst/>
              <a:ahLst/>
              <a:cxnLst/>
              <a:rect l="l" t="t" r="r" b="b"/>
              <a:pathLst>
                <a:path w="111125" h="177165">
                  <a:moveTo>
                    <a:pt x="49034" y="6604"/>
                  </a:moveTo>
                  <a:lnTo>
                    <a:pt x="41363" y="0"/>
                  </a:lnTo>
                  <a:lnTo>
                    <a:pt x="31623" y="0"/>
                  </a:lnTo>
                  <a:lnTo>
                    <a:pt x="21209" y="0"/>
                  </a:lnTo>
                  <a:lnTo>
                    <a:pt x="14770" y="6705"/>
                  </a:lnTo>
                  <a:lnTo>
                    <a:pt x="14287" y="16954"/>
                  </a:lnTo>
                  <a:lnTo>
                    <a:pt x="15621" y="23736"/>
                  </a:lnTo>
                  <a:lnTo>
                    <a:pt x="19672" y="29489"/>
                  </a:lnTo>
                  <a:lnTo>
                    <a:pt x="25450" y="33413"/>
                  </a:lnTo>
                  <a:lnTo>
                    <a:pt x="32016" y="34709"/>
                  </a:lnTo>
                  <a:lnTo>
                    <a:pt x="38950" y="33096"/>
                  </a:lnTo>
                  <a:lnTo>
                    <a:pt x="44323" y="29070"/>
                  </a:lnTo>
                  <a:lnTo>
                    <a:pt x="47790" y="22936"/>
                  </a:lnTo>
                  <a:lnTo>
                    <a:pt x="49034" y="14960"/>
                  </a:lnTo>
                  <a:lnTo>
                    <a:pt x="49034" y="6604"/>
                  </a:lnTo>
                  <a:close/>
                </a:path>
                <a:path w="111125" h="177165">
                  <a:moveTo>
                    <a:pt x="111048" y="122453"/>
                  </a:moveTo>
                  <a:lnTo>
                    <a:pt x="107823" y="117944"/>
                  </a:lnTo>
                  <a:lnTo>
                    <a:pt x="106057" y="117398"/>
                  </a:lnTo>
                  <a:lnTo>
                    <a:pt x="84302" y="117221"/>
                  </a:lnTo>
                  <a:lnTo>
                    <a:pt x="84112" y="117030"/>
                  </a:lnTo>
                  <a:lnTo>
                    <a:pt x="84112" y="106845"/>
                  </a:lnTo>
                  <a:lnTo>
                    <a:pt x="26581" y="106997"/>
                  </a:lnTo>
                  <a:lnTo>
                    <a:pt x="26479" y="117119"/>
                  </a:lnTo>
                  <a:lnTo>
                    <a:pt x="26289" y="117309"/>
                  </a:lnTo>
                  <a:lnTo>
                    <a:pt x="3530" y="117398"/>
                  </a:lnTo>
                  <a:lnTo>
                    <a:pt x="1765" y="118579"/>
                  </a:lnTo>
                  <a:lnTo>
                    <a:pt x="0" y="122961"/>
                  </a:lnTo>
                  <a:lnTo>
                    <a:pt x="520" y="125285"/>
                  </a:lnTo>
                  <a:lnTo>
                    <a:pt x="49860" y="173494"/>
                  </a:lnTo>
                  <a:lnTo>
                    <a:pt x="53505" y="176618"/>
                  </a:lnTo>
                  <a:lnTo>
                    <a:pt x="56807" y="176618"/>
                  </a:lnTo>
                  <a:lnTo>
                    <a:pt x="59715" y="174536"/>
                  </a:lnTo>
                  <a:lnTo>
                    <a:pt x="110197" y="125234"/>
                  </a:lnTo>
                  <a:lnTo>
                    <a:pt x="111048" y="122453"/>
                  </a:lnTo>
                  <a:close/>
                </a:path>
              </a:pathLst>
            </a:custGeom>
            <a:solidFill>
              <a:srgbClr val="009245"/>
            </a:solidFill>
          </p:spPr>
          <p:txBody>
            <a:bodyPr wrap="square" lIns="0" tIns="0" rIns="0" bIns="0" rtlCol="0"/>
            <a:lstStyle/>
            <a:p>
              <a:endParaRPr>
                <a:latin typeface="Suisse Intl" panose="020B0504000000000000" pitchFamily="34" charset="-78"/>
                <a:cs typeface="Suisse Intl" panose="020B0504000000000000" pitchFamily="34" charset="-78"/>
              </a:endParaRPr>
            </a:p>
          </p:txBody>
        </p:sp>
      </p:grpSp>
      <p:sp>
        <p:nvSpPr>
          <p:cNvPr id="44" name="object 13">
            <a:extLst>
              <a:ext uri="{FF2B5EF4-FFF2-40B4-BE49-F238E27FC236}">
                <a16:creationId xmlns:a16="http://schemas.microsoft.com/office/drawing/2014/main" id="{AC51FB9C-537D-E40F-18AB-76B17E7ABE39}"/>
              </a:ext>
            </a:extLst>
          </p:cNvPr>
          <p:cNvSpPr txBox="1"/>
          <p:nvPr/>
        </p:nvSpPr>
        <p:spPr>
          <a:xfrm>
            <a:off x="3932237" y="9079706"/>
            <a:ext cx="3231994" cy="614806"/>
          </a:xfrm>
          <a:prstGeom prst="rect">
            <a:avLst/>
          </a:prstGeom>
          <a:ln w="12255">
            <a:solidFill>
              <a:srgbClr val="FF0000"/>
            </a:solidFill>
          </a:ln>
        </p:spPr>
        <p:txBody>
          <a:bodyPr vert="horz" wrap="square" lIns="0" tIns="115200" rIns="0" bIns="115200" rtlCol="0">
            <a:spAutoFit/>
          </a:bodyPr>
          <a:lstStyle/>
          <a:p>
            <a:pPr marL="924114">
              <a:spcBef>
                <a:spcPts val="839"/>
              </a:spcBef>
            </a:pPr>
            <a:r>
              <a:rPr lang="en-AU" sz="1200">
                <a:solidFill>
                  <a:srgbClr val="191919"/>
                </a:solidFill>
                <a:latin typeface="Suisse Intl" panose="020B0504000000000000" pitchFamily="34" charset="-78"/>
                <a:cs typeface="Suisse Intl" panose="020B0504000000000000" pitchFamily="34" charset="-78"/>
              </a:rPr>
              <a:t>CO2 Savings</a:t>
            </a:r>
            <a:endParaRPr sz="1200">
              <a:latin typeface="Suisse Intl" panose="020B0504000000000000" pitchFamily="34" charset="-78"/>
              <a:cs typeface="Suisse Intl" panose="020B0504000000000000" pitchFamily="34" charset="-78"/>
            </a:endParaRPr>
          </a:p>
          <a:p>
            <a:pPr marL="924114">
              <a:spcBef>
                <a:spcPts val="91"/>
              </a:spcBef>
            </a:pPr>
            <a:r>
              <a:rPr lang="en-AU" sz="1200" b="1">
                <a:solidFill>
                  <a:srgbClr val="191919"/>
                </a:solidFill>
                <a:latin typeface="Suisse Intl" panose="020B0504000000000000" pitchFamily="34" charset="-78"/>
                <a:cs typeface="Suisse Intl" panose="020B0504000000000000" pitchFamily="34" charset="-78"/>
              </a:rPr>
              <a:t>673.879 Tonnes</a:t>
            </a:r>
            <a:endParaRPr sz="1200">
              <a:latin typeface="Suisse Intl" panose="020B0504000000000000" pitchFamily="34" charset="-78"/>
              <a:cs typeface="Suisse Intl" panose="020B0504000000000000" pitchFamily="34" charset="-78"/>
            </a:endParaRPr>
          </a:p>
        </p:txBody>
      </p:sp>
      <p:sp>
        <p:nvSpPr>
          <p:cNvPr id="45" name="object 5">
            <a:extLst>
              <a:ext uri="{FF2B5EF4-FFF2-40B4-BE49-F238E27FC236}">
                <a16:creationId xmlns:a16="http://schemas.microsoft.com/office/drawing/2014/main" id="{60BBE423-5B88-725F-6CDB-23F952A0675D}"/>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46" name="object 6">
            <a:extLst>
              <a:ext uri="{FF2B5EF4-FFF2-40B4-BE49-F238E27FC236}">
                <a16:creationId xmlns:a16="http://schemas.microsoft.com/office/drawing/2014/main" id="{86A7C9F7-8827-401B-38B2-EEC74B0EC684}"/>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latin typeface="Suisse Intl" panose="020B0504000000000000" pitchFamily="34" charset="-78"/>
              <a:cs typeface="Suisse Intl" panose="020B0504000000000000" pitchFamily="34" charset="-78"/>
            </a:endParaRPr>
          </a:p>
        </p:txBody>
      </p:sp>
      <p:sp>
        <p:nvSpPr>
          <p:cNvPr id="47" name="object 8">
            <a:extLst>
              <a:ext uri="{FF2B5EF4-FFF2-40B4-BE49-F238E27FC236}">
                <a16:creationId xmlns:a16="http://schemas.microsoft.com/office/drawing/2014/main" id="{63D2D6CE-F505-C3CE-327F-ECB45F7D868F}"/>
              </a:ext>
            </a:extLst>
          </p:cNvPr>
          <p:cNvSpPr txBox="1"/>
          <p:nvPr/>
        </p:nvSpPr>
        <p:spPr>
          <a:xfrm>
            <a:off x="478570" y="607535"/>
            <a:ext cx="4165248" cy="395020"/>
          </a:xfrm>
          <a:prstGeom prst="rect">
            <a:avLst/>
          </a:prstGeom>
          <a:solidFill>
            <a:srgbClr val="FF0000"/>
          </a:solidFill>
        </p:spPr>
        <p:txBody>
          <a:bodyPr vert="horz" wrap="square" lIns="0" tIns="43200" rIns="0" bIns="43200" rtlCol="0" anchor="ctr">
            <a:spAutoFit/>
          </a:bodyPr>
          <a:lstStyle/>
          <a:p>
            <a:pPr marL="138824">
              <a:spcBef>
                <a:spcPts val="330"/>
              </a:spcBef>
            </a:pPr>
            <a:r>
              <a:rPr lang="en-AU" sz="2000" b="1">
                <a:solidFill>
                  <a:srgbClr val="FFFFFF"/>
                </a:solidFill>
                <a:latin typeface="Suisse Intl" panose="020B0504000000000000" pitchFamily="34" charset="-78"/>
                <a:cs typeface="Suisse Intl" panose="020B0504000000000000" pitchFamily="34" charset="-78"/>
              </a:rPr>
              <a:t>RECENT INSTALLS</a:t>
            </a:r>
            <a:endParaRPr sz="2000">
              <a:latin typeface="Suisse Intl" panose="020B0504000000000000" pitchFamily="34" charset="-78"/>
              <a:cs typeface="Suisse Intl" panose="020B0504000000000000" pitchFamily="34" charset="-78"/>
            </a:endParaRPr>
          </a:p>
        </p:txBody>
      </p:sp>
      <p:pic>
        <p:nvPicPr>
          <p:cNvPr id="6" name="object 3">
            <a:extLst>
              <a:ext uri="{FF2B5EF4-FFF2-40B4-BE49-F238E27FC236}">
                <a16:creationId xmlns:a16="http://schemas.microsoft.com/office/drawing/2014/main" id="{399C59F0-1D6A-E75C-2E06-DA519D2CD4F4}"/>
              </a:ext>
            </a:extLst>
          </p:cNvPr>
          <p:cNvPicPr/>
          <p:nvPr/>
        </p:nvPicPr>
        <p:blipFill>
          <a:blip r:embed="rId8" cstate="print"/>
          <a:stretch>
            <a:fillRect/>
          </a:stretch>
        </p:blipFill>
        <p:spPr>
          <a:xfrm>
            <a:off x="6286040" y="10185564"/>
            <a:ext cx="788774" cy="271025"/>
          </a:xfrm>
          <a:prstGeom prst="rect">
            <a:avLst/>
          </a:prstGeom>
        </p:spPr>
      </p:pic>
      <p:sp>
        <p:nvSpPr>
          <p:cNvPr id="8" name="object 36">
            <a:extLst>
              <a:ext uri="{FF2B5EF4-FFF2-40B4-BE49-F238E27FC236}">
                <a16:creationId xmlns:a16="http://schemas.microsoft.com/office/drawing/2014/main" id="{4ECF91FA-C5FF-E314-417C-3A49C727DB4E}"/>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lang="en-AU" sz="653">
                <a:solidFill>
                  <a:srgbClr val="FF0000"/>
                </a:solidFill>
                <a:latin typeface="Suisse Intl" panose="020B0504000000000000" pitchFamily="34" charset="-78"/>
                <a:cs typeface="Suisse Intl" panose="020B0504000000000000" pitchFamily="34" charset="-78"/>
              </a:rPr>
              <a:t>14</a:t>
            </a:r>
            <a:endParaRPr sz="653">
              <a:latin typeface="Suisse Intl" panose="020B0504000000000000" pitchFamily="34" charset="-78"/>
              <a:cs typeface="Suisse Intl" panose="020B0504000000000000" pitchFamily="34" charset="-78"/>
            </a:endParaRPr>
          </a:p>
        </p:txBody>
      </p:sp>
      <p:sp>
        <p:nvSpPr>
          <p:cNvPr id="12" name="object 22">
            <a:extLst>
              <a:ext uri="{FF2B5EF4-FFF2-40B4-BE49-F238E27FC236}">
                <a16:creationId xmlns:a16="http://schemas.microsoft.com/office/drawing/2014/main" id="{8D4332B8-139A-76FE-A908-E504C95C4EC3}"/>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0B64E7D2-65A4-26A2-7B8C-82067D27C3FA}"/>
              </a:ext>
            </a:extLst>
          </p:cNvPr>
          <p:cNvPicPr>
            <a:picLocks noChangeAspect="1"/>
          </p:cNvPicPr>
          <p:nvPr/>
        </p:nvPicPr>
        <p:blipFill>
          <a:blip r:embed="rId2"/>
          <a:srcRect t="4968"/>
          <a:stretch>
            <a:fillRect/>
          </a:stretch>
        </p:blipFill>
        <p:spPr>
          <a:xfrm>
            <a:off x="7475" y="531628"/>
            <a:ext cx="7552200" cy="10170776"/>
          </a:xfrm>
          <a:prstGeom prst="rect">
            <a:avLst/>
          </a:prstGeom>
        </p:spPr>
      </p:pic>
      <p:sp>
        <p:nvSpPr>
          <p:cNvPr id="2" name="object 5">
            <a:extLst>
              <a:ext uri="{FF2B5EF4-FFF2-40B4-BE49-F238E27FC236}">
                <a16:creationId xmlns:a16="http://schemas.microsoft.com/office/drawing/2014/main" id="{E70C6D7E-9521-3096-099B-C1D3C7CD0A62}"/>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3" name="object 6">
            <a:extLst>
              <a:ext uri="{FF2B5EF4-FFF2-40B4-BE49-F238E27FC236}">
                <a16:creationId xmlns:a16="http://schemas.microsoft.com/office/drawing/2014/main" id="{57A51E20-C5E8-91BC-CE80-67697FFDCDD0}"/>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p>
        </p:txBody>
      </p:sp>
      <p:pic>
        <p:nvPicPr>
          <p:cNvPr id="4" name="object 3">
            <a:extLst>
              <a:ext uri="{FF2B5EF4-FFF2-40B4-BE49-F238E27FC236}">
                <a16:creationId xmlns:a16="http://schemas.microsoft.com/office/drawing/2014/main" id="{D1447EB8-E4B8-D04E-E2F9-70DB5BBD6D57}"/>
              </a:ext>
            </a:extLst>
          </p:cNvPr>
          <p:cNvPicPr/>
          <p:nvPr/>
        </p:nvPicPr>
        <p:blipFill>
          <a:blip r:embed="rId3" cstate="print"/>
          <a:stretch>
            <a:fillRect/>
          </a:stretch>
        </p:blipFill>
        <p:spPr>
          <a:xfrm>
            <a:off x="6286040" y="10185564"/>
            <a:ext cx="788774" cy="271025"/>
          </a:xfrm>
          <a:prstGeom prst="rect">
            <a:avLst/>
          </a:prstGeom>
        </p:spPr>
      </p:pic>
      <p:sp>
        <p:nvSpPr>
          <p:cNvPr id="5" name="object 36">
            <a:extLst>
              <a:ext uri="{FF2B5EF4-FFF2-40B4-BE49-F238E27FC236}">
                <a16:creationId xmlns:a16="http://schemas.microsoft.com/office/drawing/2014/main" id="{3C910747-FDD8-3C2E-A95F-803BF44A6FAB}"/>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sz="653">
                <a:solidFill>
                  <a:srgbClr val="FF0000"/>
                </a:solidFill>
                <a:latin typeface="Suisse Intl" panose="020B0504000000000000" pitchFamily="34" charset="-78"/>
                <a:cs typeface="Suisse Intl" panose="020B0504000000000000" pitchFamily="34" charset="-78"/>
              </a:rPr>
              <a:t>1</a:t>
            </a:r>
            <a:r>
              <a:rPr lang="en-AU" sz="653">
                <a:solidFill>
                  <a:srgbClr val="FF0000"/>
                </a:solidFill>
                <a:latin typeface="Suisse Intl" panose="020B0504000000000000" pitchFamily="34" charset="-78"/>
                <a:cs typeface="Suisse Intl" panose="020B0504000000000000" pitchFamily="34" charset="-78"/>
              </a:rPr>
              <a:t>5</a:t>
            </a:r>
            <a:endParaRPr sz="653">
              <a:latin typeface="Suisse Intl" panose="020B0504000000000000" pitchFamily="34" charset="-78"/>
              <a:cs typeface="Suisse Intl" panose="020B0504000000000000" pitchFamily="34" charset="-78"/>
            </a:endParaRPr>
          </a:p>
        </p:txBody>
      </p:sp>
      <p:sp>
        <p:nvSpPr>
          <p:cNvPr id="6" name="object 22">
            <a:extLst>
              <a:ext uri="{FF2B5EF4-FFF2-40B4-BE49-F238E27FC236}">
                <a16:creationId xmlns:a16="http://schemas.microsoft.com/office/drawing/2014/main" id="{CA6B8C11-49FC-099F-E14A-A30E36058716}"/>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12F109B-33B3-BB3E-24F3-32AC31AD4163}"/>
              </a:ext>
            </a:extLst>
          </p:cNvPr>
          <p:cNvPicPr>
            <a:picLocks noChangeAspect="1"/>
          </p:cNvPicPr>
          <p:nvPr/>
        </p:nvPicPr>
        <p:blipFill>
          <a:blip r:embed="rId2"/>
          <a:srcRect t="4863"/>
          <a:stretch>
            <a:fillRect/>
          </a:stretch>
        </p:blipFill>
        <p:spPr>
          <a:xfrm>
            <a:off x="0" y="510362"/>
            <a:ext cx="7559674" cy="10192041"/>
          </a:xfrm>
          <a:prstGeom prst="rect">
            <a:avLst/>
          </a:prstGeom>
        </p:spPr>
      </p:pic>
      <p:sp>
        <p:nvSpPr>
          <p:cNvPr id="2" name="object 5">
            <a:extLst>
              <a:ext uri="{FF2B5EF4-FFF2-40B4-BE49-F238E27FC236}">
                <a16:creationId xmlns:a16="http://schemas.microsoft.com/office/drawing/2014/main" id="{37C25632-609D-B21F-9CC4-841C0BC413A2}"/>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3" name="object 6">
            <a:extLst>
              <a:ext uri="{FF2B5EF4-FFF2-40B4-BE49-F238E27FC236}">
                <a16:creationId xmlns:a16="http://schemas.microsoft.com/office/drawing/2014/main" id="{79EF05DB-F6DD-61BC-D2EA-341572F4FB05}"/>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p>
        </p:txBody>
      </p:sp>
      <p:pic>
        <p:nvPicPr>
          <p:cNvPr id="4" name="object 3">
            <a:extLst>
              <a:ext uri="{FF2B5EF4-FFF2-40B4-BE49-F238E27FC236}">
                <a16:creationId xmlns:a16="http://schemas.microsoft.com/office/drawing/2014/main" id="{AAABF3B0-4603-2661-B519-948D45FC5E85}"/>
              </a:ext>
            </a:extLst>
          </p:cNvPr>
          <p:cNvPicPr/>
          <p:nvPr/>
        </p:nvPicPr>
        <p:blipFill>
          <a:blip r:embed="rId3" cstate="print"/>
          <a:stretch>
            <a:fillRect/>
          </a:stretch>
        </p:blipFill>
        <p:spPr>
          <a:xfrm>
            <a:off x="6286040" y="10185564"/>
            <a:ext cx="788774" cy="271025"/>
          </a:xfrm>
          <a:prstGeom prst="rect">
            <a:avLst/>
          </a:prstGeom>
        </p:spPr>
      </p:pic>
      <p:sp>
        <p:nvSpPr>
          <p:cNvPr id="5" name="object 36">
            <a:extLst>
              <a:ext uri="{FF2B5EF4-FFF2-40B4-BE49-F238E27FC236}">
                <a16:creationId xmlns:a16="http://schemas.microsoft.com/office/drawing/2014/main" id="{E3BD547E-E93F-BDF0-1DE0-4AB39786C5A2}"/>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lang="en-AU" sz="653">
                <a:solidFill>
                  <a:srgbClr val="FF0000"/>
                </a:solidFill>
                <a:latin typeface="Suisse Intl" panose="020B0504000000000000" pitchFamily="34" charset="-78"/>
                <a:cs typeface="Suisse Intl" panose="020B0504000000000000" pitchFamily="34" charset="-78"/>
              </a:rPr>
              <a:t>16</a:t>
            </a:r>
            <a:endParaRPr sz="653">
              <a:latin typeface="Suisse Intl" panose="020B0504000000000000" pitchFamily="34" charset="-78"/>
              <a:cs typeface="Suisse Intl" panose="020B0504000000000000" pitchFamily="34" charset="-78"/>
            </a:endParaRPr>
          </a:p>
        </p:txBody>
      </p:sp>
      <p:sp>
        <p:nvSpPr>
          <p:cNvPr id="6" name="object 22">
            <a:extLst>
              <a:ext uri="{FF2B5EF4-FFF2-40B4-BE49-F238E27FC236}">
                <a16:creationId xmlns:a16="http://schemas.microsoft.com/office/drawing/2014/main" id="{2BA5CD19-FFF8-520B-138E-BAEA5C9FB933}"/>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499678" y="2634702"/>
            <a:ext cx="2055127" cy="1667839"/>
          </a:xfrm>
          <a:prstGeom prst="rect">
            <a:avLst/>
          </a:prstGeom>
        </p:spPr>
      </p:pic>
      <p:pic>
        <p:nvPicPr>
          <p:cNvPr id="3" name="object 3"/>
          <p:cNvPicPr/>
          <p:nvPr/>
        </p:nvPicPr>
        <p:blipFill>
          <a:blip r:embed="rId4" cstate="print"/>
          <a:stretch>
            <a:fillRect/>
          </a:stretch>
        </p:blipFill>
        <p:spPr>
          <a:xfrm>
            <a:off x="1090008" y="6543978"/>
            <a:ext cx="1359841" cy="1359844"/>
          </a:xfrm>
          <a:prstGeom prst="rect">
            <a:avLst/>
          </a:prstGeom>
        </p:spPr>
      </p:pic>
      <p:pic>
        <p:nvPicPr>
          <p:cNvPr id="4" name="object 4"/>
          <p:cNvPicPr/>
          <p:nvPr/>
        </p:nvPicPr>
        <p:blipFill>
          <a:blip r:embed="rId5" cstate="print"/>
          <a:stretch>
            <a:fillRect/>
          </a:stretch>
        </p:blipFill>
        <p:spPr>
          <a:xfrm>
            <a:off x="1090009" y="4559833"/>
            <a:ext cx="1365367" cy="1365361"/>
          </a:xfrm>
          <a:prstGeom prst="rect">
            <a:avLst/>
          </a:prstGeom>
        </p:spPr>
      </p:pic>
      <p:pic>
        <p:nvPicPr>
          <p:cNvPr id="5" name="object 5"/>
          <p:cNvPicPr/>
          <p:nvPr/>
        </p:nvPicPr>
        <p:blipFill>
          <a:blip r:embed="rId6" cstate="print"/>
          <a:stretch>
            <a:fillRect/>
          </a:stretch>
        </p:blipFill>
        <p:spPr>
          <a:xfrm>
            <a:off x="5104298" y="4559833"/>
            <a:ext cx="1365367" cy="1365361"/>
          </a:xfrm>
          <a:prstGeom prst="rect">
            <a:avLst/>
          </a:prstGeom>
        </p:spPr>
      </p:pic>
      <p:pic>
        <p:nvPicPr>
          <p:cNvPr id="6" name="object 6"/>
          <p:cNvPicPr/>
          <p:nvPr/>
        </p:nvPicPr>
        <p:blipFill>
          <a:blip r:embed="rId7" cstate="print"/>
          <a:stretch>
            <a:fillRect/>
          </a:stretch>
        </p:blipFill>
        <p:spPr>
          <a:xfrm>
            <a:off x="3093657" y="5631129"/>
            <a:ext cx="1365366" cy="1365361"/>
          </a:xfrm>
          <a:prstGeom prst="rect">
            <a:avLst/>
          </a:prstGeom>
        </p:spPr>
      </p:pic>
      <p:pic>
        <p:nvPicPr>
          <p:cNvPr id="7" name="object 7"/>
          <p:cNvPicPr/>
          <p:nvPr/>
        </p:nvPicPr>
        <p:blipFill>
          <a:blip r:embed="rId8" cstate="print"/>
          <a:stretch>
            <a:fillRect/>
          </a:stretch>
        </p:blipFill>
        <p:spPr>
          <a:xfrm>
            <a:off x="3096420" y="7336241"/>
            <a:ext cx="1359844" cy="1359838"/>
          </a:xfrm>
          <a:prstGeom prst="rect">
            <a:avLst/>
          </a:prstGeom>
        </p:spPr>
      </p:pic>
      <p:pic>
        <p:nvPicPr>
          <p:cNvPr id="8" name="object 8"/>
          <p:cNvPicPr/>
          <p:nvPr/>
        </p:nvPicPr>
        <p:blipFill>
          <a:blip r:embed="rId9" cstate="print"/>
          <a:stretch>
            <a:fillRect/>
          </a:stretch>
        </p:blipFill>
        <p:spPr>
          <a:xfrm>
            <a:off x="3093657" y="3905561"/>
            <a:ext cx="1365366" cy="1365365"/>
          </a:xfrm>
          <a:prstGeom prst="rect">
            <a:avLst/>
          </a:prstGeom>
        </p:spPr>
      </p:pic>
      <p:pic>
        <p:nvPicPr>
          <p:cNvPr id="9" name="object 9"/>
          <p:cNvPicPr/>
          <p:nvPr/>
        </p:nvPicPr>
        <p:blipFill>
          <a:blip r:embed="rId10" cstate="print"/>
          <a:stretch>
            <a:fillRect/>
          </a:stretch>
        </p:blipFill>
        <p:spPr>
          <a:xfrm>
            <a:off x="5109823" y="6543978"/>
            <a:ext cx="1359841" cy="1359844"/>
          </a:xfrm>
          <a:prstGeom prst="rect">
            <a:avLst/>
          </a:prstGeom>
        </p:spPr>
      </p:pic>
      <p:pic>
        <p:nvPicPr>
          <p:cNvPr id="10" name="object 10"/>
          <p:cNvPicPr/>
          <p:nvPr/>
        </p:nvPicPr>
        <p:blipFill>
          <a:blip r:embed="rId11" cstate="print"/>
          <a:stretch>
            <a:fillRect/>
          </a:stretch>
        </p:blipFill>
        <p:spPr>
          <a:xfrm>
            <a:off x="1004868" y="2611670"/>
            <a:ext cx="2061368" cy="1649793"/>
          </a:xfrm>
          <a:prstGeom prst="rect">
            <a:avLst/>
          </a:prstGeom>
        </p:spPr>
      </p:pic>
      <p:grpSp>
        <p:nvGrpSpPr>
          <p:cNvPr id="11" name="object 11"/>
          <p:cNvGrpSpPr/>
          <p:nvPr/>
        </p:nvGrpSpPr>
        <p:grpSpPr>
          <a:xfrm>
            <a:off x="5133419" y="8522609"/>
            <a:ext cx="1312855" cy="1401954"/>
            <a:chOff x="7852586" y="13059143"/>
            <a:chExt cx="2011680" cy="2148205"/>
          </a:xfrm>
        </p:grpSpPr>
        <p:sp>
          <p:nvSpPr>
            <p:cNvPr id="12" name="object 12"/>
            <p:cNvSpPr/>
            <p:nvPr/>
          </p:nvSpPr>
          <p:spPr>
            <a:xfrm>
              <a:off x="7859127" y="13196060"/>
              <a:ext cx="1998345" cy="1874520"/>
            </a:xfrm>
            <a:custGeom>
              <a:avLst/>
              <a:gdLst/>
              <a:ahLst/>
              <a:cxnLst/>
              <a:rect l="l" t="t" r="r" b="b"/>
              <a:pathLst>
                <a:path w="1998345" h="1874519">
                  <a:moveTo>
                    <a:pt x="1998281" y="0"/>
                  </a:moveTo>
                  <a:lnTo>
                    <a:pt x="1998281" y="1874367"/>
                  </a:lnTo>
                  <a:lnTo>
                    <a:pt x="0" y="1874367"/>
                  </a:lnTo>
                  <a:lnTo>
                    <a:pt x="0" y="0"/>
                  </a:lnTo>
                  <a:lnTo>
                    <a:pt x="1998281" y="0"/>
                  </a:lnTo>
                  <a:close/>
                </a:path>
              </a:pathLst>
            </a:custGeom>
            <a:ln w="13081">
              <a:solidFill>
                <a:srgbClr val="2D358E"/>
              </a:solidFill>
            </a:ln>
          </p:spPr>
          <p:txBody>
            <a:bodyPr wrap="square" lIns="0" tIns="0" rIns="0" bIns="0" rtlCol="0"/>
            <a:lstStyle/>
            <a:p>
              <a:endParaRPr/>
            </a:p>
          </p:txBody>
        </p:sp>
        <p:pic>
          <p:nvPicPr>
            <p:cNvPr id="13" name="object 13"/>
            <p:cNvPicPr/>
            <p:nvPr/>
          </p:nvPicPr>
          <p:blipFill>
            <a:blip r:embed="rId12" cstate="print"/>
            <a:stretch>
              <a:fillRect/>
            </a:stretch>
          </p:blipFill>
          <p:spPr>
            <a:xfrm>
              <a:off x="8234591" y="13059143"/>
              <a:ext cx="1247342" cy="2148205"/>
            </a:xfrm>
            <a:prstGeom prst="rect">
              <a:avLst/>
            </a:prstGeom>
          </p:spPr>
        </p:pic>
      </p:grpSp>
      <p:grpSp>
        <p:nvGrpSpPr>
          <p:cNvPr id="14" name="object 14"/>
          <p:cNvGrpSpPr/>
          <p:nvPr/>
        </p:nvGrpSpPr>
        <p:grpSpPr>
          <a:xfrm>
            <a:off x="1116367" y="8522609"/>
            <a:ext cx="1312855" cy="1401954"/>
            <a:chOff x="1697281" y="13059143"/>
            <a:chExt cx="2011680" cy="2148205"/>
          </a:xfrm>
        </p:grpSpPr>
        <p:sp>
          <p:nvSpPr>
            <p:cNvPr id="15" name="object 15"/>
            <p:cNvSpPr/>
            <p:nvPr/>
          </p:nvSpPr>
          <p:spPr>
            <a:xfrm>
              <a:off x="1703821" y="13196060"/>
              <a:ext cx="1998345" cy="1874520"/>
            </a:xfrm>
            <a:custGeom>
              <a:avLst/>
              <a:gdLst/>
              <a:ahLst/>
              <a:cxnLst/>
              <a:rect l="l" t="t" r="r" b="b"/>
              <a:pathLst>
                <a:path w="1998345" h="1874519">
                  <a:moveTo>
                    <a:pt x="1998281" y="0"/>
                  </a:moveTo>
                  <a:lnTo>
                    <a:pt x="1998281" y="1874367"/>
                  </a:lnTo>
                  <a:lnTo>
                    <a:pt x="0" y="1874367"/>
                  </a:lnTo>
                  <a:lnTo>
                    <a:pt x="0" y="0"/>
                  </a:lnTo>
                  <a:lnTo>
                    <a:pt x="1998281" y="0"/>
                  </a:lnTo>
                  <a:close/>
                </a:path>
              </a:pathLst>
            </a:custGeom>
            <a:ln w="13081">
              <a:solidFill>
                <a:srgbClr val="2D358E"/>
              </a:solidFill>
            </a:ln>
          </p:spPr>
          <p:txBody>
            <a:bodyPr wrap="square" lIns="0" tIns="0" rIns="0" bIns="0" rtlCol="0"/>
            <a:lstStyle/>
            <a:p>
              <a:endParaRPr/>
            </a:p>
          </p:txBody>
        </p:sp>
        <p:pic>
          <p:nvPicPr>
            <p:cNvPr id="16" name="object 16"/>
            <p:cNvPicPr/>
            <p:nvPr/>
          </p:nvPicPr>
          <p:blipFill>
            <a:blip r:embed="rId13" cstate="print"/>
            <a:stretch>
              <a:fillRect/>
            </a:stretch>
          </p:blipFill>
          <p:spPr>
            <a:xfrm>
              <a:off x="2079294" y="13059143"/>
              <a:ext cx="1247344" cy="2148205"/>
            </a:xfrm>
            <a:prstGeom prst="rect">
              <a:avLst/>
            </a:prstGeom>
          </p:spPr>
        </p:pic>
      </p:grpSp>
      <p:pic>
        <p:nvPicPr>
          <p:cNvPr id="17" name="object 17"/>
          <p:cNvPicPr/>
          <p:nvPr/>
        </p:nvPicPr>
        <p:blipFill>
          <a:blip r:embed="rId14" cstate="print"/>
          <a:stretch>
            <a:fillRect/>
          </a:stretch>
        </p:blipFill>
        <p:spPr>
          <a:xfrm>
            <a:off x="2759366" y="1202153"/>
            <a:ext cx="2061371" cy="1685718"/>
          </a:xfrm>
          <a:prstGeom prst="rect">
            <a:avLst/>
          </a:prstGeom>
        </p:spPr>
      </p:pic>
      <p:sp>
        <p:nvSpPr>
          <p:cNvPr id="21" name="object 21"/>
          <p:cNvSpPr txBox="1"/>
          <p:nvPr/>
        </p:nvSpPr>
        <p:spPr>
          <a:xfrm>
            <a:off x="478570" y="607535"/>
            <a:ext cx="4165248" cy="395020"/>
          </a:xfrm>
          <a:prstGeom prst="rect">
            <a:avLst/>
          </a:prstGeom>
          <a:solidFill>
            <a:srgbClr val="FF0000"/>
          </a:solidFill>
        </p:spPr>
        <p:txBody>
          <a:bodyPr vert="horz" wrap="square" lIns="0" tIns="43200" rIns="0" bIns="43200" rtlCol="0" anchor="ctr">
            <a:spAutoFit/>
          </a:bodyPr>
          <a:lstStyle/>
          <a:p>
            <a:pPr marL="138824">
              <a:spcBef>
                <a:spcPts val="330"/>
              </a:spcBef>
            </a:pPr>
            <a:r>
              <a:rPr sz="2000" b="1">
                <a:solidFill>
                  <a:srgbClr val="FFFFFF"/>
                </a:solidFill>
                <a:latin typeface="Suisse Intl" panose="020B0504000000000000" pitchFamily="34" charset="-78"/>
                <a:cs typeface="Suisse Intl" panose="020B0504000000000000" pitchFamily="34" charset="-78"/>
              </a:rPr>
              <a:t>KUGA ENERGY AWARDS</a:t>
            </a:r>
            <a:endParaRPr sz="2000">
              <a:latin typeface="Suisse Intl" panose="020B0504000000000000" pitchFamily="34" charset="-78"/>
              <a:cs typeface="Suisse Intl" panose="020B0504000000000000" pitchFamily="34" charset="-78"/>
            </a:endParaRPr>
          </a:p>
        </p:txBody>
      </p:sp>
      <p:sp>
        <p:nvSpPr>
          <p:cNvPr id="24" name="object 5">
            <a:extLst>
              <a:ext uri="{FF2B5EF4-FFF2-40B4-BE49-F238E27FC236}">
                <a16:creationId xmlns:a16="http://schemas.microsoft.com/office/drawing/2014/main" id="{5F3D226A-A740-0F22-C854-3ABD86EA52C4}"/>
              </a:ext>
            </a:extLst>
          </p:cNvPr>
          <p:cNvSpPr txBox="1"/>
          <p:nvPr/>
        </p:nvSpPr>
        <p:spPr>
          <a:xfrm>
            <a:off x="5505096" y="378471"/>
            <a:ext cx="1627541" cy="116091"/>
          </a:xfrm>
          <a:prstGeom prst="rect">
            <a:avLst/>
          </a:prstGeom>
        </p:spPr>
        <p:txBody>
          <a:bodyPr vert="horz" wrap="square" lIns="0" tIns="8288" rIns="0" bIns="0" rtlCol="0">
            <a:spAutoFit/>
          </a:bodyPr>
          <a:lstStyle/>
          <a:p>
            <a:pPr marL="8288">
              <a:spcBef>
                <a:spcPts val="65"/>
              </a:spcBef>
            </a:pPr>
            <a:r>
              <a:rPr sz="700" b="1">
                <a:solidFill>
                  <a:srgbClr val="FF0000"/>
                </a:solidFill>
                <a:latin typeface="Suisse Intl" panose="020B0504000000000000" pitchFamily="34" charset="-78"/>
                <a:cs typeface="Suisse Intl" panose="020B0504000000000000" pitchFamily="34" charset="-78"/>
              </a:rPr>
              <a:t>SOLAR PROPOSAL </a:t>
            </a:r>
            <a:r>
              <a:rPr sz="700" b="1">
                <a:solidFill>
                  <a:srgbClr val="191919"/>
                </a:solidFill>
                <a:latin typeface="Suisse Intl" panose="020B0504000000000000" pitchFamily="34" charset="-78"/>
                <a:cs typeface="Suisse Intl" panose="020B0504000000000000" pitchFamily="34" charset="-78"/>
              </a:rPr>
              <a:t>| </a:t>
            </a:r>
            <a:r>
              <a:rPr lang="en-AU" sz="700" b="1">
                <a:solidFill>
                  <a:srgbClr val="191919"/>
                </a:solidFill>
                <a:latin typeface="Suisse Intl" panose="020B0504000000000000" pitchFamily="34" charset="-78"/>
                <a:cs typeface="Suisse Intl" panose="020B0504000000000000" pitchFamily="34" charset="-78"/>
              </a:rPr>
              <a:t> </a:t>
            </a:r>
            <a:r>
              <a:rPr sz="700" b="1">
                <a:solidFill>
                  <a:srgbClr val="191919"/>
                </a:solidFill>
                <a:latin typeface="Suisse Intl" panose="020B0504000000000000" pitchFamily="34" charset="-78"/>
                <a:cs typeface="Suisse Intl" panose="020B0504000000000000" pitchFamily="34" charset="-78"/>
              </a:rPr>
              <a:t>KUGA ENERGY</a:t>
            </a:r>
            <a:endParaRPr sz="700">
              <a:latin typeface="Suisse Intl" panose="020B0504000000000000" pitchFamily="34" charset="-78"/>
              <a:cs typeface="Suisse Intl" panose="020B0504000000000000" pitchFamily="34" charset="-78"/>
            </a:endParaRPr>
          </a:p>
        </p:txBody>
      </p:sp>
      <p:sp>
        <p:nvSpPr>
          <p:cNvPr id="25" name="object 6">
            <a:extLst>
              <a:ext uri="{FF2B5EF4-FFF2-40B4-BE49-F238E27FC236}">
                <a16:creationId xmlns:a16="http://schemas.microsoft.com/office/drawing/2014/main" id="{5F034FA7-FBFB-09C3-B902-6D9B6C908148}"/>
              </a:ext>
            </a:extLst>
          </p:cNvPr>
          <p:cNvSpPr/>
          <p:nvPr/>
        </p:nvSpPr>
        <p:spPr>
          <a:xfrm>
            <a:off x="478577" y="445082"/>
            <a:ext cx="4876378" cy="0"/>
          </a:xfrm>
          <a:custGeom>
            <a:avLst/>
            <a:gdLst/>
            <a:ahLst/>
            <a:cxnLst/>
            <a:rect l="l" t="t" r="r" b="b"/>
            <a:pathLst>
              <a:path w="7472045">
                <a:moveTo>
                  <a:pt x="0" y="0"/>
                </a:moveTo>
                <a:lnTo>
                  <a:pt x="7471600" y="0"/>
                </a:lnTo>
              </a:path>
            </a:pathLst>
          </a:custGeom>
          <a:ln w="25400">
            <a:solidFill>
              <a:srgbClr val="FF0000"/>
            </a:solidFill>
          </a:ln>
        </p:spPr>
        <p:txBody>
          <a:bodyPr wrap="square" lIns="0" tIns="0" rIns="0" bIns="0" rtlCol="0"/>
          <a:lstStyle/>
          <a:p>
            <a:endParaRPr/>
          </a:p>
        </p:txBody>
      </p:sp>
      <p:pic>
        <p:nvPicPr>
          <p:cNvPr id="27" name="object 3">
            <a:extLst>
              <a:ext uri="{FF2B5EF4-FFF2-40B4-BE49-F238E27FC236}">
                <a16:creationId xmlns:a16="http://schemas.microsoft.com/office/drawing/2014/main" id="{21444215-DF1C-5010-FD38-588BDADFD965}"/>
              </a:ext>
            </a:extLst>
          </p:cNvPr>
          <p:cNvPicPr/>
          <p:nvPr/>
        </p:nvPicPr>
        <p:blipFill>
          <a:blip r:embed="rId15" cstate="print"/>
          <a:stretch>
            <a:fillRect/>
          </a:stretch>
        </p:blipFill>
        <p:spPr>
          <a:xfrm>
            <a:off x="6286040" y="10185564"/>
            <a:ext cx="788774" cy="271025"/>
          </a:xfrm>
          <a:prstGeom prst="rect">
            <a:avLst/>
          </a:prstGeom>
        </p:spPr>
      </p:pic>
      <p:sp>
        <p:nvSpPr>
          <p:cNvPr id="28" name="object 36">
            <a:extLst>
              <a:ext uri="{FF2B5EF4-FFF2-40B4-BE49-F238E27FC236}">
                <a16:creationId xmlns:a16="http://schemas.microsoft.com/office/drawing/2014/main" id="{2E470DCD-DE03-693A-EE32-43FB01675541}"/>
              </a:ext>
            </a:extLst>
          </p:cNvPr>
          <p:cNvSpPr txBox="1"/>
          <p:nvPr/>
        </p:nvSpPr>
        <p:spPr>
          <a:xfrm>
            <a:off x="3728890" y="10261420"/>
            <a:ext cx="203347" cy="103406"/>
          </a:xfrm>
          <a:prstGeom prst="rect">
            <a:avLst/>
          </a:prstGeom>
        </p:spPr>
        <p:txBody>
          <a:bodyPr vert="horz" wrap="square" lIns="0" tIns="2901" rIns="0" bIns="0" rtlCol="0">
            <a:spAutoFit/>
          </a:bodyPr>
          <a:lstStyle/>
          <a:p>
            <a:pPr marL="8288">
              <a:spcBef>
                <a:spcPts val="23"/>
              </a:spcBef>
            </a:pPr>
            <a:r>
              <a:rPr lang="en-AU" sz="653">
                <a:solidFill>
                  <a:srgbClr val="FF0000"/>
                </a:solidFill>
                <a:latin typeface="Suisse Intl" panose="020B0504000000000000" pitchFamily="34" charset="-78"/>
                <a:cs typeface="Suisse Intl" panose="020B0504000000000000" pitchFamily="34" charset="-78"/>
              </a:rPr>
              <a:t>17</a:t>
            </a:r>
            <a:endParaRPr sz="653">
              <a:latin typeface="Suisse Intl" panose="020B0504000000000000" pitchFamily="34" charset="-78"/>
              <a:cs typeface="Suisse Intl" panose="020B0504000000000000" pitchFamily="34" charset="-78"/>
            </a:endParaRPr>
          </a:p>
        </p:txBody>
      </p:sp>
      <p:sp>
        <p:nvSpPr>
          <p:cNvPr id="29" name="object 22">
            <a:extLst>
              <a:ext uri="{FF2B5EF4-FFF2-40B4-BE49-F238E27FC236}">
                <a16:creationId xmlns:a16="http://schemas.microsoft.com/office/drawing/2014/main" id="{86ABF6D0-BE26-7966-998F-663E0D625838}"/>
              </a:ext>
            </a:extLst>
          </p:cNvPr>
          <p:cNvSpPr txBox="1">
            <a:spLocks noGrp="1"/>
          </p:cNvSpPr>
          <p:nvPr>
            <p:ph type="ftr" sz="quarter" idx="5"/>
          </p:nvPr>
        </p:nvSpPr>
        <p:spPr>
          <a:xfrm>
            <a:off x="470285" y="10244448"/>
            <a:ext cx="702147" cy="103359"/>
          </a:xfrm>
          <a:prstGeom prst="rect">
            <a:avLst/>
          </a:prstGeom>
        </p:spPr>
        <p:txBody>
          <a:bodyPr vert="horz" wrap="square" lIns="0" tIns="2901" rIns="0" bIns="0" rtlCol="0">
            <a:spAutoFit/>
          </a:bodyPr>
          <a:lstStyle/>
          <a:p>
            <a:pPr marL="8288">
              <a:spcBef>
                <a:spcPts val="23"/>
              </a:spcBef>
            </a:pPr>
            <a:r>
              <a:rPr>
                <a:latin typeface="Suisse Intl" panose="020B0504000000000000" pitchFamily="34" charset="-78"/>
                <a:cs typeface="Suisse Intl" panose="020B0504000000000000" pitchFamily="34" charset="-78"/>
              </a:rPr>
              <a:t>13KUGA.COM.AU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3061" y="9673634"/>
            <a:ext cx="1613553" cy="235939"/>
          </a:xfrm>
          <a:prstGeom prst="rect">
            <a:avLst/>
          </a:prstGeom>
        </p:spPr>
        <p:txBody>
          <a:bodyPr vert="horz" wrap="square" lIns="0" tIns="9946" rIns="0" bIns="0" rtlCol="0">
            <a:spAutoFit/>
          </a:bodyPr>
          <a:lstStyle/>
          <a:p>
            <a:pPr marL="8288">
              <a:spcBef>
                <a:spcPts val="78"/>
              </a:spcBef>
            </a:pPr>
            <a:r>
              <a:rPr sz="1468" spc="59">
                <a:solidFill>
                  <a:srgbClr val="FFFFFF"/>
                </a:solidFill>
                <a:latin typeface="Suisse Intl" panose="020B0504000000000000" pitchFamily="34" charset="-78"/>
                <a:cs typeface="Suisse Intl" panose="020B0504000000000000" pitchFamily="34" charset="-78"/>
              </a:rPr>
              <a:t>13KUGA.COM.AU</a:t>
            </a:r>
            <a:endParaRPr sz="1468">
              <a:latin typeface="Suisse Intl" panose="020B0504000000000000" pitchFamily="34" charset="-78"/>
              <a:cs typeface="Suisse Intl" panose="020B0504000000000000" pitchFamily="34" charset="-78"/>
            </a:endParaRPr>
          </a:p>
        </p:txBody>
      </p:sp>
      <p:sp>
        <p:nvSpPr>
          <p:cNvPr id="3" name="object 3"/>
          <p:cNvSpPr/>
          <p:nvPr/>
        </p:nvSpPr>
        <p:spPr>
          <a:xfrm>
            <a:off x="2507025" y="9100390"/>
            <a:ext cx="399907" cy="430573"/>
          </a:xfrm>
          <a:custGeom>
            <a:avLst/>
            <a:gdLst/>
            <a:ahLst/>
            <a:cxnLst/>
            <a:rect l="l" t="t" r="r" b="b"/>
            <a:pathLst>
              <a:path w="612775" h="659765">
                <a:moveTo>
                  <a:pt x="135543" y="0"/>
                </a:moveTo>
                <a:lnTo>
                  <a:pt x="89060" y="7176"/>
                </a:lnTo>
                <a:lnTo>
                  <a:pt x="51929" y="26909"/>
                </a:lnTo>
                <a:lnTo>
                  <a:pt x="24261" y="59109"/>
                </a:lnTo>
                <a:lnTo>
                  <a:pt x="6168" y="103682"/>
                </a:lnTo>
                <a:lnTo>
                  <a:pt x="0" y="143281"/>
                </a:lnTo>
                <a:lnTo>
                  <a:pt x="836" y="187036"/>
                </a:lnTo>
                <a:lnTo>
                  <a:pt x="8570" y="233852"/>
                </a:lnTo>
                <a:lnTo>
                  <a:pt x="23097" y="282638"/>
                </a:lnTo>
                <a:lnTo>
                  <a:pt x="40978" y="325569"/>
                </a:lnTo>
                <a:lnTo>
                  <a:pt x="63387" y="368309"/>
                </a:lnTo>
                <a:lnTo>
                  <a:pt x="90085" y="410481"/>
                </a:lnTo>
                <a:lnTo>
                  <a:pt x="120833" y="451709"/>
                </a:lnTo>
                <a:lnTo>
                  <a:pt x="155393" y="491616"/>
                </a:lnTo>
                <a:lnTo>
                  <a:pt x="198229" y="533964"/>
                </a:lnTo>
                <a:lnTo>
                  <a:pt x="242577" y="570776"/>
                </a:lnTo>
                <a:lnTo>
                  <a:pt x="287782" y="601695"/>
                </a:lnTo>
                <a:lnTo>
                  <a:pt x="333189" y="626365"/>
                </a:lnTo>
                <a:lnTo>
                  <a:pt x="378142" y="644428"/>
                </a:lnTo>
                <a:lnTo>
                  <a:pt x="421987" y="655528"/>
                </a:lnTo>
                <a:lnTo>
                  <a:pt x="464066" y="659307"/>
                </a:lnTo>
                <a:lnTo>
                  <a:pt x="477858" y="658849"/>
                </a:lnTo>
                <a:lnTo>
                  <a:pt x="516213" y="652056"/>
                </a:lnTo>
                <a:lnTo>
                  <a:pt x="557678" y="632612"/>
                </a:lnTo>
                <a:lnTo>
                  <a:pt x="587628" y="602865"/>
                </a:lnTo>
                <a:lnTo>
                  <a:pt x="605981" y="562941"/>
                </a:lnTo>
                <a:lnTo>
                  <a:pt x="612656" y="512965"/>
                </a:lnTo>
                <a:lnTo>
                  <a:pt x="603292" y="493156"/>
                </a:lnTo>
                <a:lnTo>
                  <a:pt x="546511" y="471146"/>
                </a:lnTo>
                <a:lnTo>
                  <a:pt x="494077" y="464037"/>
                </a:lnTo>
                <a:lnTo>
                  <a:pt x="452072" y="464679"/>
                </a:lnTo>
                <a:lnTo>
                  <a:pt x="419261" y="489064"/>
                </a:lnTo>
                <a:lnTo>
                  <a:pt x="407666" y="536117"/>
                </a:lnTo>
                <a:lnTo>
                  <a:pt x="404948" y="536359"/>
                </a:lnTo>
                <a:lnTo>
                  <a:pt x="345660" y="507015"/>
                </a:lnTo>
                <a:lnTo>
                  <a:pt x="297090" y="466428"/>
                </a:lnTo>
                <a:lnTo>
                  <a:pt x="235898" y="405091"/>
                </a:lnTo>
                <a:lnTo>
                  <a:pt x="181805" y="343032"/>
                </a:lnTo>
                <a:lnTo>
                  <a:pt x="145953" y="294526"/>
                </a:lnTo>
                <a:lnTo>
                  <a:pt x="124956" y="258581"/>
                </a:lnTo>
                <a:lnTo>
                  <a:pt x="113978" y="220408"/>
                </a:lnTo>
                <a:lnTo>
                  <a:pt x="157781" y="207937"/>
                </a:lnTo>
                <a:lnTo>
                  <a:pt x="174630" y="192983"/>
                </a:lnTo>
                <a:lnTo>
                  <a:pt x="181309" y="166273"/>
                </a:lnTo>
                <a:lnTo>
                  <a:pt x="181617" y="135683"/>
                </a:lnTo>
                <a:lnTo>
                  <a:pt x="179205" y="107581"/>
                </a:lnTo>
                <a:lnTo>
                  <a:pt x="174476" y="71285"/>
                </a:lnTo>
                <a:lnTo>
                  <a:pt x="166537" y="36469"/>
                </a:lnTo>
                <a:lnTo>
                  <a:pt x="154017" y="10314"/>
                </a:lnTo>
                <a:lnTo>
                  <a:pt x="135543" y="0"/>
                </a:lnTo>
                <a:close/>
              </a:path>
            </a:pathLst>
          </a:custGeom>
          <a:solidFill>
            <a:srgbClr val="FFFFFF"/>
          </a:solidFill>
        </p:spPr>
        <p:txBody>
          <a:bodyPr wrap="square" lIns="0" tIns="0" rIns="0" bIns="0" rtlCol="0"/>
          <a:lstStyle/>
          <a:p>
            <a:endParaRPr/>
          </a:p>
        </p:txBody>
      </p:sp>
      <p:sp>
        <p:nvSpPr>
          <p:cNvPr id="4" name="object 4"/>
          <p:cNvSpPr txBox="1">
            <a:spLocks noGrp="1"/>
          </p:cNvSpPr>
          <p:nvPr>
            <p:ph type="title"/>
          </p:nvPr>
        </p:nvSpPr>
        <p:spPr>
          <a:xfrm>
            <a:off x="3017837" y="9003506"/>
            <a:ext cx="2133600" cy="624341"/>
          </a:xfrm>
          <a:prstGeom prst="rect">
            <a:avLst/>
          </a:prstGeom>
        </p:spPr>
        <p:txBody>
          <a:bodyPr vert="horz" wrap="square" lIns="0" tIns="8703" rIns="0" bIns="0" rtlCol="0">
            <a:spAutoFit/>
          </a:bodyPr>
          <a:lstStyle/>
          <a:p>
            <a:pPr marL="8288">
              <a:spcBef>
                <a:spcPts val="69"/>
              </a:spcBef>
            </a:pPr>
            <a:r>
              <a:rPr sz="4000">
                <a:latin typeface="Suisse Intl" panose="020B0504000000000000" pitchFamily="34" charset="-78"/>
                <a:cs typeface="Suisse Intl" panose="020B0504000000000000" pitchFamily="34" charset="-78"/>
              </a:rPr>
              <a:t>13 58 42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f5b02a-8598-42eb-a590-5923d1ea62dc" xsi:nil="true"/>
    <lcf76f155ced4ddcb4097134ff3c332f xmlns="6da2fa5b-8f59-4ba0-b35a-4881e1905a5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3FDF2D0B949645A2DBF671A6C36255" ma:contentTypeVersion="13" ma:contentTypeDescription="Create a new document." ma:contentTypeScope="" ma:versionID="2426e992b6f80fd4fca22579e9a94875">
  <xsd:schema xmlns:xsd="http://www.w3.org/2001/XMLSchema" xmlns:xs="http://www.w3.org/2001/XMLSchema" xmlns:p="http://schemas.microsoft.com/office/2006/metadata/properties" xmlns:ns2="6da2fa5b-8f59-4ba0-b35a-4881e1905a50" xmlns:ns3="91f5b02a-8598-42eb-a590-5923d1ea62dc" targetNamespace="http://schemas.microsoft.com/office/2006/metadata/properties" ma:root="true" ma:fieldsID="1da91a37c734ba525b94b0ebeeca3b9f" ns2:_="" ns3:_="">
    <xsd:import namespace="6da2fa5b-8f59-4ba0-b35a-4881e1905a50"/>
    <xsd:import namespace="91f5b02a-8598-42eb-a590-5923d1ea62d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2fa5b-8f59-4ba0-b35a-4881e1905a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86d9f50-074f-48a7-8aba-a31904badf7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f5b02a-8598-42eb-a590-5923d1ea62d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15e24f-e5dc-4ced-9eb3-3783293537d7}" ma:internalName="TaxCatchAll" ma:showField="CatchAllData" ma:web="91f5b02a-8598-42eb-a590-5923d1ea62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913CC9-CD15-4C09-BBEC-55A51B4CA434}">
  <ds:schemaRefs>
    <ds:schemaRef ds:uri="6da2fa5b-8f59-4ba0-b35a-4881e1905a50"/>
    <ds:schemaRef ds:uri="91f5b02a-8598-42eb-a590-5923d1ea62dc"/>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FB8ED69-EE2A-4BE8-A842-1F710ED779BC}">
  <ds:schemaRefs>
    <ds:schemaRef ds:uri="http://schemas.microsoft.com/sharepoint/v3/contenttype/forms"/>
  </ds:schemaRefs>
</ds:datastoreItem>
</file>

<file path=customXml/itemProps3.xml><?xml version="1.0" encoding="utf-8"?>
<ds:datastoreItem xmlns:ds="http://schemas.openxmlformats.org/officeDocument/2006/customXml" ds:itemID="{DD5FC607-501E-4956-9EE0-1CE009443D5A}">
  <ds:schemaRefs>
    <ds:schemaRef ds:uri="6da2fa5b-8f59-4ba0-b35a-4881e1905a50"/>
    <ds:schemaRef ds:uri="91f5b02a-8598-42eb-a590-5923d1ea62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703</TotalTime>
  <Words>1056</Words>
  <Application>Microsoft Office PowerPoint</Application>
  <PresentationFormat>Custom</PresentationFormat>
  <Paragraphs>157</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Suisse Intl</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13 58 42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Site Proposal 2025 copy</dc:title>
  <cp:lastModifiedBy>Clement Doudet</cp:lastModifiedBy>
  <cp:revision>22</cp:revision>
  <dcterms:created xsi:type="dcterms:W3CDTF">2025-06-13T04:23:03Z</dcterms:created>
  <dcterms:modified xsi:type="dcterms:W3CDTF">2025-08-26T02:05:02Z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2025-06-11T00:00:00Z</vt:filetime>
  </property>
  <property fmtid="{D5CDD505-2E9C-101B-9397-08002B2CF9AE}" pid="3" name="Creator">
    <vt:lpwstr>Adobe Illustrator 29.5 (Macintosh)</vt:lpwstr>
  </property>
  <property fmtid="{D5CDD505-2E9C-101B-9397-08002B2CF9AE}" pid="4" name="CreatorVersion">
    <vt:lpwstr>21.0.0</vt:lpwstr>
  </property>
  <property fmtid="{D5CDD505-2E9C-101B-9397-08002B2CF9AE}" pid="5" name="LastSaved">
    <vt:filetime>2025-06-13T00:00:00Z</vt:filetime>
  </property>
  <property fmtid="{D5CDD505-2E9C-101B-9397-08002B2CF9AE}" pid="6" name="Producer">
    <vt:lpwstr>Adobe PDF library 17.00</vt:lpwstr>
  </property>
  <property fmtid="{D5CDD505-2E9C-101B-9397-08002B2CF9AE}" pid="7" name="ContentTypeId">
    <vt:lpwstr>0x010100DA3FDF2D0B949645A2DBF671A6C36255</vt:lpwstr>
  </property>
  <property fmtid="{D5CDD505-2E9C-101B-9397-08002B2CF9AE}" pid="8" name="MediaServiceImageTags">
    <vt:lpwstr/>
  </property>
</Properties>
</file>